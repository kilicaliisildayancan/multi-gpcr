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640D-DA5D-41CE-A280-512D22A6B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87D26-3BE9-4E5A-BCF0-7F5303C34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74BAF-277C-4111-BC79-BD936922F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95BB0-571E-4CDB-BB61-946E9B537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0D167-11CA-4CA3-B3F4-EAE5BE644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49615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F260-EC47-4CC4-A9D8-25F9570AF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AEAF7-EB7F-4617-AC1C-D292FD10E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33FDC-4930-4C6E-BC3F-09762B99C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7A650-B63F-4424-A1F3-87BF3B8B2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82129-9840-479B-8C30-EF793A0F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031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09CA-82CF-42CA-8E71-5B63E86F7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768D5-3445-44F6-B9D2-C92E11A9E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DFA6D-4D8E-4E37-BB44-0C78DF5A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3942E-ECD1-461B-9572-8C5EE83C4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8E8B6-FD24-4A79-AB97-E46B5349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9542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07731-2242-4408-BE6A-93F25D86E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EF938-8B7F-40C4-B0CF-011620D6E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C5CBA-3CB5-4BFF-8AAF-5AA854620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6C44E-207C-4F69-A20C-51AD48B0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AD7DC-91DF-41B9-8F82-A542779B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66BA6-0C61-4F20-B38F-F8C9E00C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5389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40D1-575C-47DE-B5A8-B0975058D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88650-ACC8-4A1B-8C77-C012F0690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5C89E-C72A-4722-9DB4-55E0FCA38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B32A4E-5C77-452A-8883-57130F14A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D6508-C909-449C-8BDE-385D8B829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5AA032-09CF-43B0-B3AD-70814578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49450-09A1-45B0-B43C-D237C07AA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136E9-662E-4763-9F3B-6ED48484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088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F03F-7DF2-4F18-822A-DCFC7AFC0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BF65A7-1838-4188-93D0-F49CD844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FD35C-7063-429D-9899-A8EAD72A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60858-236C-4714-B323-607A4D34E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249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DE29BF-D96B-46C2-AE42-B26F20CCA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EE7DB9-C6AC-4E0C-A751-1A61BEA08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F5C90-5379-495B-8EAD-AE4B5BE7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10496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91CF7-816C-4738-9662-9904F5EA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A23DD-2453-4819-9542-13AE666E8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CEB00-E7BC-4230-A2AC-1537E3C27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230DA-12E0-474B-B8AD-F0DC8AD6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38EAE-E8DD-41B2-8578-294BBF9D9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5D05C-DA83-4101-B548-ACB4E2D3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3832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1BAB-98B7-48BA-A4C1-B7C1C633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1292D5-5733-4EFB-BC92-63BE83212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E792E-8D8B-4479-8980-1E988E3D2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B05E6-3CD8-4EA2-B5F2-44A1B136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19C77-E70B-48C0-B476-944D6D3F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FC480-A76E-4F09-89EE-6DEE5E7A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720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7F123-252B-457B-B0E7-35049335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93C94-65DC-4BA6-836C-AB4F8B2A2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CD6D-A659-4201-8ECF-F24C0D62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CCF79-C43C-49C4-B466-984F8B9AD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E11DC-3D11-44DC-A3B9-7F5EBF1F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1833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FF362-4D0E-4E9B-8091-9816B479B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88113-EE35-43D7-AE65-2D2AE9EAE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AC808-F1C7-4919-9CA1-A8FDB3646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B371B-2B28-4BCA-A4C5-20AE17C1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577C0-DC35-4132-A76D-77D57D1DD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438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E6AA27-7DF2-4FD8-AE1D-2933F32FA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C2336-082C-4E65-9B04-50A70C6AA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4F3AC-2B8C-4A79-B5B0-991310746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EBF4C-2D4F-4916-A041-E6D02204E821}" type="datetimeFigureOut">
              <a:rPr lang="en-IL" smtClean="0"/>
              <a:t>20/07/2022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B9072-D7FF-4B02-AC91-684BE77E4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5A57C-45A3-4F84-83E4-0761ACD22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D76A7-A62B-4C1C-88C1-78AB2F346A6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7147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t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tif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tif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DAF83F4C-8940-4D25-9E4C-24EDAF06DA70}"/>
              </a:ext>
            </a:extLst>
          </p:cNvPr>
          <p:cNvGrpSpPr/>
          <p:nvPr/>
        </p:nvGrpSpPr>
        <p:grpSpPr>
          <a:xfrm>
            <a:off x="131193" y="4662895"/>
            <a:ext cx="3800480" cy="2099535"/>
            <a:chOff x="8716766" y="286422"/>
            <a:chExt cx="3800480" cy="2099535"/>
          </a:xfrm>
        </p:grpSpPr>
        <p:pic>
          <p:nvPicPr>
            <p:cNvPr id="5" name="Picture 4" descr="Chart, histogram&#10;&#10;Description automatically generated">
              <a:extLst>
                <a:ext uri="{FF2B5EF4-FFF2-40B4-BE49-F238E27FC236}">
                  <a16:creationId xmlns:a16="http://schemas.microsoft.com/office/drawing/2014/main" id="{101EEFBC-2025-4EE5-ADD7-38244BE973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24" b="63414"/>
            <a:stretch/>
          </p:blipFill>
          <p:spPr>
            <a:xfrm>
              <a:off x="9154160" y="605992"/>
              <a:ext cx="1717039" cy="1661653"/>
            </a:xfrm>
            <a:prstGeom prst="rect">
              <a:avLst/>
            </a:prstGeom>
          </p:spPr>
        </p:pic>
        <p:pic>
          <p:nvPicPr>
            <p:cNvPr id="6" name="Picture 5" descr="Chart, histogram&#10;&#10;Description automatically generated">
              <a:extLst>
                <a:ext uri="{FF2B5EF4-FFF2-40B4-BE49-F238E27FC236}">
                  <a16:creationId xmlns:a16="http://schemas.microsoft.com/office/drawing/2014/main" id="{441B96CA-17D1-45B4-A9DC-091EC14542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18" t="44131" r="-2537" b="11967"/>
            <a:stretch/>
          </p:blipFill>
          <p:spPr>
            <a:xfrm>
              <a:off x="10871199" y="568960"/>
              <a:ext cx="489311" cy="168656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68032E-6F7C-452B-BBCD-2BBC71FFC42E}"/>
                </a:ext>
              </a:extLst>
            </p:cNvPr>
            <p:cNvSpPr txBox="1"/>
            <p:nvPr/>
          </p:nvSpPr>
          <p:spPr>
            <a:xfrm>
              <a:off x="11335932" y="575094"/>
              <a:ext cx="118131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AF2 </a:t>
              </a:r>
              <a:r>
                <a:rPr lang="en-IL" dirty="0"/>
                <a:t>predicted</a:t>
              </a:r>
              <a:r>
                <a:rPr lang="en-US" dirty="0"/>
                <a:t> a</a:t>
              </a:r>
              <a:r>
                <a:rPr lang="en-IL" dirty="0" err="1"/>
                <a:t>ligned</a:t>
              </a:r>
              <a:r>
                <a:rPr lang="en-US" dirty="0"/>
                <a:t> </a:t>
              </a:r>
              <a:r>
                <a:rPr lang="en-IL" dirty="0"/>
                <a:t>error</a:t>
              </a:r>
              <a:r>
                <a:rPr lang="en-US" dirty="0"/>
                <a:t> values</a:t>
              </a:r>
              <a:endParaRPr lang="en-IL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6AE4C1-CB84-4386-8AD0-9135B5195787}"/>
                </a:ext>
              </a:extLst>
            </p:cNvPr>
            <p:cNvSpPr txBox="1"/>
            <p:nvPr/>
          </p:nvSpPr>
          <p:spPr>
            <a:xfrm>
              <a:off x="8950804" y="41876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en-IL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6E41EB-23ED-456C-99C7-E2CD87C70438}"/>
                </a:ext>
              </a:extLst>
            </p:cNvPr>
            <p:cNvSpPr txBox="1"/>
            <p:nvPr/>
          </p:nvSpPr>
          <p:spPr>
            <a:xfrm>
              <a:off x="8716766" y="2016625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650</a:t>
              </a:r>
              <a:endParaRPr lang="en-IL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28F2F3-A8F6-4729-B38C-D1B260F84AAB}"/>
                </a:ext>
              </a:extLst>
            </p:cNvPr>
            <p:cNvSpPr txBox="1"/>
            <p:nvPr/>
          </p:nvSpPr>
          <p:spPr>
            <a:xfrm>
              <a:off x="9038974" y="28642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en-IL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7C0A75-CE3A-4072-8680-39AEF3F8C7ED}"/>
                </a:ext>
              </a:extLst>
            </p:cNvPr>
            <p:cNvSpPr txBox="1"/>
            <p:nvPr/>
          </p:nvSpPr>
          <p:spPr>
            <a:xfrm>
              <a:off x="10565885" y="318811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650</a:t>
              </a:r>
              <a:endParaRPr lang="en-IL" dirty="0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93817C6B-F2FB-4BFB-BDE1-5BD3EA0B8D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26" t="-18" r="32772" b="12853"/>
          <a:stretch/>
        </p:blipFill>
        <p:spPr>
          <a:xfrm>
            <a:off x="3890612" y="109463"/>
            <a:ext cx="3513445" cy="42773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AC77091-F66C-4E61-B995-BF72742E04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957" t="886" r="28784" b="14456"/>
          <a:stretch/>
        </p:blipFill>
        <p:spPr>
          <a:xfrm>
            <a:off x="43798" y="142149"/>
            <a:ext cx="4014663" cy="410765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E41C14F-8939-438B-9E56-AD7546BB42F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096" t="565" r="31758" b="17920"/>
          <a:stretch/>
        </p:blipFill>
        <p:spPr>
          <a:xfrm>
            <a:off x="7472032" y="117258"/>
            <a:ext cx="3593735" cy="4041326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D127AD62-5A30-472F-A53D-1847D3F3A37D}"/>
              </a:ext>
            </a:extLst>
          </p:cNvPr>
          <p:cNvGrpSpPr/>
          <p:nvPr/>
        </p:nvGrpSpPr>
        <p:grpSpPr>
          <a:xfrm>
            <a:off x="4150098" y="4513399"/>
            <a:ext cx="7343626" cy="2199487"/>
            <a:chOff x="3994314" y="4391479"/>
            <a:chExt cx="7343626" cy="2199487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B22AF87-0125-4B34-8445-9D1A5358803F}"/>
                </a:ext>
              </a:extLst>
            </p:cNvPr>
            <p:cNvGrpSpPr/>
            <p:nvPr/>
          </p:nvGrpSpPr>
          <p:grpSpPr>
            <a:xfrm>
              <a:off x="3994314" y="4391479"/>
              <a:ext cx="7343626" cy="2199487"/>
              <a:chOff x="3994314" y="4391479"/>
              <a:chExt cx="7343626" cy="2199487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6AC6CF3-59EA-44ED-B8C3-8F10CC58E3BD}"/>
                  </a:ext>
                </a:extLst>
              </p:cNvPr>
              <p:cNvSpPr txBox="1"/>
              <p:nvPr/>
            </p:nvSpPr>
            <p:spPr>
              <a:xfrm>
                <a:off x="3994314" y="4391479"/>
                <a:ext cx="61674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Kessel&amp;Ben-Tal</a:t>
                </a:r>
                <a:r>
                  <a:rPr lang="en-US" dirty="0"/>
                  <a:t> scale most hydrophobic [20,15]-residue window</a:t>
                </a:r>
                <a:endParaRPr lang="en-IL" dirty="0"/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EF6D3C78-D774-4C91-BE28-FCA3E1756EA8}"/>
                  </a:ext>
                </a:extLst>
              </p:cNvPr>
              <p:cNvGrpSpPr/>
              <p:nvPr/>
            </p:nvGrpSpPr>
            <p:grpSpPr>
              <a:xfrm>
                <a:off x="4351562" y="4865392"/>
                <a:ext cx="6986378" cy="1725574"/>
                <a:chOff x="4351562" y="4865392"/>
                <a:chExt cx="6986378" cy="1725574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03E41B1C-8915-4477-8359-4F2B9A6507B7}"/>
                    </a:ext>
                  </a:extLst>
                </p:cNvPr>
                <p:cNvGrpSpPr/>
                <p:nvPr/>
              </p:nvGrpSpPr>
              <p:grpSpPr>
                <a:xfrm>
                  <a:off x="4351562" y="4865392"/>
                  <a:ext cx="6986378" cy="1173768"/>
                  <a:chOff x="3783433" y="4359364"/>
                  <a:chExt cx="6986378" cy="1173768"/>
                </a:xfrm>
              </p:grpSpPr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BFB3DB72-35D6-40E7-823A-22B7D60E4034}"/>
                      </a:ext>
                    </a:extLst>
                  </p:cNvPr>
                  <p:cNvGrpSpPr/>
                  <p:nvPr/>
                </p:nvGrpSpPr>
                <p:grpSpPr>
                  <a:xfrm>
                    <a:off x="3783433" y="4713801"/>
                    <a:ext cx="6986378" cy="646331"/>
                    <a:chOff x="5739024" y="4587121"/>
                    <a:chExt cx="6986378" cy="646331"/>
                  </a:xfrm>
                </p:grpSpPr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4F20B223-36A6-436A-8FD1-870046FECA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739024" y="4587121"/>
                      <a:ext cx="6526146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LLFSSYEAEVEERMPLHISAELTMLMFNGSVFMPSMLTLVGIPGLK</a:t>
                      </a:r>
                    </a:p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312       322       332       342       352</a:t>
                      </a:r>
                      <a:endParaRPr lang="en-IL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  <p:pic>
                  <p:nvPicPr>
                    <p:cNvPr id="32" name="Picture 31">
                      <a:extLst>
                        <a:ext uri="{FF2B5EF4-FFF2-40B4-BE49-F238E27FC236}">
                          <a16:creationId xmlns:a16="http://schemas.microsoft.com/office/drawing/2014/main" id="{4760721E-D960-4391-925F-077FF41CEF0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6"/>
                    <a:srcRect l="1" r="-9658" b="13360"/>
                    <a:stretch/>
                  </p:blipFill>
                  <p:spPr>
                    <a:xfrm>
                      <a:off x="5788260" y="4609420"/>
                      <a:ext cx="6937142" cy="236694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36" name="Left Bracket 35">
                    <a:extLst>
                      <a:ext uri="{FF2B5EF4-FFF2-40B4-BE49-F238E27FC236}">
                        <a16:creationId xmlns:a16="http://schemas.microsoft.com/office/drawing/2014/main" id="{A8E53D68-1AA5-40CD-97BD-965A7191769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011258" y="3082425"/>
                    <a:ext cx="195168" cy="2749046"/>
                  </a:xfrm>
                  <a:prstGeom prst="leftBracket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 dirty="0"/>
                  </a:p>
                </p:txBody>
              </p:sp>
              <p:sp>
                <p:nvSpPr>
                  <p:cNvPr id="37" name="Left Bracket 36">
                    <a:extLst>
                      <a:ext uri="{FF2B5EF4-FFF2-40B4-BE49-F238E27FC236}">
                        <a16:creationId xmlns:a16="http://schemas.microsoft.com/office/drawing/2014/main" id="{4783511E-D57D-473E-8DAB-7F930EFA68D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914797" y="3545690"/>
                    <a:ext cx="168634" cy="1991514"/>
                  </a:xfrm>
                  <a:prstGeom prst="leftBracket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38" name="Left Bracket 37">
                    <a:extLst>
                      <a:ext uri="{FF2B5EF4-FFF2-40B4-BE49-F238E27FC236}">
                        <a16:creationId xmlns:a16="http://schemas.microsoft.com/office/drawing/2014/main" id="{FA8A1449-6BB0-476F-AF54-65D6654C18E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8096099" y="4061025"/>
                    <a:ext cx="195168" cy="2749046"/>
                  </a:xfrm>
                  <a:prstGeom prst="leftBracket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  <p:sp>
                <p:nvSpPr>
                  <p:cNvPr id="39" name="Left Bracket 38">
                    <a:extLst>
                      <a:ext uri="{FF2B5EF4-FFF2-40B4-BE49-F238E27FC236}">
                        <a16:creationId xmlns:a16="http://schemas.microsoft.com/office/drawing/2014/main" id="{E52DE399-61BD-4878-9C29-C1C8F2DA065F}"/>
                      </a:ext>
                    </a:extLst>
                  </p:cNvPr>
                  <p:cNvSpPr/>
                  <p:nvPr/>
                </p:nvSpPr>
                <p:spPr>
                  <a:xfrm rot="5400000" flipH="1" flipV="1">
                    <a:off x="8914797" y="4348443"/>
                    <a:ext cx="168634" cy="1991514"/>
                  </a:xfrm>
                  <a:prstGeom prst="leftBracket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L"/>
                  </a:p>
                </p:txBody>
              </p:sp>
            </p:grp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11D15A7-5002-450F-A680-FAAB86E01964}"/>
                    </a:ext>
                  </a:extLst>
                </p:cNvPr>
                <p:cNvSpPr txBox="1"/>
                <p:nvPr/>
              </p:nvSpPr>
              <p:spPr>
                <a:xfrm>
                  <a:off x="4371386" y="6221634"/>
                  <a:ext cx="57908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err="1"/>
                    <a:t>Hessa</a:t>
                  </a:r>
                  <a:r>
                    <a:rPr lang="en-US" dirty="0"/>
                    <a:t> et al. scale most hydrophobic [20,15] residue window</a:t>
                  </a:r>
                  <a:endParaRPr lang="en-IL" dirty="0"/>
                </a:p>
              </p:txBody>
            </p: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DC970697-31F6-41FC-8CF9-0C78CB3475F8}"/>
                    </a:ext>
                  </a:extLst>
                </p:cNvPr>
                <p:cNvCxnSpPr/>
                <p:nvPr/>
              </p:nvCxnSpPr>
              <p:spPr>
                <a:xfrm>
                  <a:off x="7991683" y="6052033"/>
                  <a:ext cx="0" cy="15926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B51B1276-9F36-4A9C-9379-C26C27CF93BA}"/>
                    </a:ext>
                  </a:extLst>
                </p:cNvPr>
                <p:cNvCxnSpPr>
                  <a:cxnSpLocks/>
                  <a:endCxn id="39" idx="1"/>
                </p:cNvCxnSpPr>
                <p:nvPr/>
              </p:nvCxnSpPr>
              <p:spPr>
                <a:xfrm flipV="1">
                  <a:off x="8163612" y="5934545"/>
                  <a:ext cx="1403631" cy="27121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766A4C7-799C-4097-A50F-808041F34985}"/>
                </a:ext>
              </a:extLst>
            </p:cNvPr>
            <p:cNvCxnSpPr/>
            <p:nvPr/>
          </p:nvCxnSpPr>
          <p:spPr>
            <a:xfrm>
              <a:off x="7869369" y="4706123"/>
              <a:ext cx="0" cy="1592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466C8F2-F66C-4664-BBD0-DF63713F9CA7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>
              <a:off x="8163612" y="4706123"/>
              <a:ext cx="1403631" cy="2570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E012098-E371-49F3-9AE3-345206D3A5B3}"/>
              </a:ext>
            </a:extLst>
          </p:cNvPr>
          <p:cNvSpPr txBox="1"/>
          <p:nvPr/>
        </p:nvSpPr>
        <p:spPr>
          <a:xfrm>
            <a:off x="43798" y="223429"/>
            <a:ext cx="31771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A4D09F-E546-4C63-BD00-9CBF6925149B}"/>
              </a:ext>
            </a:extLst>
          </p:cNvPr>
          <p:cNvSpPr/>
          <p:nvPr/>
        </p:nvSpPr>
        <p:spPr>
          <a:xfrm>
            <a:off x="43798" y="215571"/>
            <a:ext cx="3772829" cy="424422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E325613-463A-46C2-AB41-EFDB22E1A1C6}"/>
              </a:ext>
            </a:extLst>
          </p:cNvPr>
          <p:cNvSpPr/>
          <p:nvPr/>
        </p:nvSpPr>
        <p:spPr>
          <a:xfrm>
            <a:off x="3813099" y="4459795"/>
            <a:ext cx="7249763" cy="22613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EE131F-91A2-469A-9620-52C2F0078890}"/>
              </a:ext>
            </a:extLst>
          </p:cNvPr>
          <p:cNvSpPr/>
          <p:nvPr/>
        </p:nvSpPr>
        <p:spPr>
          <a:xfrm>
            <a:off x="7469127" y="215571"/>
            <a:ext cx="3593735" cy="424422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7BC1423-0418-439B-B9CF-45EB4C2AF300}"/>
              </a:ext>
            </a:extLst>
          </p:cNvPr>
          <p:cNvSpPr/>
          <p:nvPr/>
        </p:nvSpPr>
        <p:spPr>
          <a:xfrm>
            <a:off x="3813100" y="215571"/>
            <a:ext cx="3656027" cy="42444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A3763E2-2426-4A43-BE28-BC428AA778AB}"/>
              </a:ext>
            </a:extLst>
          </p:cNvPr>
          <p:cNvSpPr/>
          <p:nvPr/>
        </p:nvSpPr>
        <p:spPr>
          <a:xfrm>
            <a:off x="43798" y="4462599"/>
            <a:ext cx="3761832" cy="225856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0AAC95-D2F0-4B6F-82C2-02A3074F5452}"/>
              </a:ext>
            </a:extLst>
          </p:cNvPr>
          <p:cNvSpPr txBox="1"/>
          <p:nvPr/>
        </p:nvSpPr>
        <p:spPr>
          <a:xfrm>
            <a:off x="3805630" y="223429"/>
            <a:ext cx="308098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FFD2CE-7D64-4F4A-94DC-E8B32EFF707D}"/>
              </a:ext>
            </a:extLst>
          </p:cNvPr>
          <p:cNvSpPr txBox="1"/>
          <p:nvPr/>
        </p:nvSpPr>
        <p:spPr>
          <a:xfrm>
            <a:off x="7463007" y="223429"/>
            <a:ext cx="32733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B35266-FA2A-4A39-9571-7B71CFF7B433}"/>
              </a:ext>
            </a:extLst>
          </p:cNvPr>
          <p:cNvSpPr txBox="1"/>
          <p:nvPr/>
        </p:nvSpPr>
        <p:spPr>
          <a:xfrm>
            <a:off x="47806" y="4462599"/>
            <a:ext cx="30970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53A255-D6C8-42A5-8BFE-A618D2EDB7E2}"/>
              </a:ext>
            </a:extLst>
          </p:cNvPr>
          <p:cNvSpPr txBox="1"/>
          <p:nvPr/>
        </p:nvSpPr>
        <p:spPr>
          <a:xfrm>
            <a:off x="3797640" y="4492293"/>
            <a:ext cx="29687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</a:t>
            </a:r>
            <a:endParaRPr lang="en-IL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86186A-6230-4705-BD0F-07EC564AA4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197" y="4083300"/>
            <a:ext cx="3416808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885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4CA3C772-3404-046F-F75D-19026D2198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9"/>
          <a:stretch/>
        </p:blipFill>
        <p:spPr>
          <a:xfrm>
            <a:off x="211894" y="2495231"/>
            <a:ext cx="3829061" cy="4191618"/>
          </a:xfrm>
          <a:prstGeom prst="rect">
            <a:avLst/>
          </a:prstGeom>
        </p:spPr>
      </p:pic>
      <p:pic>
        <p:nvPicPr>
          <p:cNvPr id="13" name="Picture 12" descr="A close-up of a bracelet&#10;&#10;Description automatically generated with low confidence">
            <a:extLst>
              <a:ext uri="{FF2B5EF4-FFF2-40B4-BE49-F238E27FC236}">
                <a16:creationId xmlns:a16="http://schemas.microsoft.com/office/drawing/2014/main" id="{B62D468D-E601-3A7D-A3C4-178428056B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4" r="9217"/>
          <a:stretch/>
        </p:blipFill>
        <p:spPr>
          <a:xfrm>
            <a:off x="3869272" y="2495232"/>
            <a:ext cx="3430854" cy="4191618"/>
          </a:xfrm>
          <a:prstGeom prst="rect">
            <a:avLst/>
          </a:prstGeom>
        </p:spPr>
      </p:pic>
      <p:pic>
        <p:nvPicPr>
          <p:cNvPr id="15" name="Picture 14" descr="A picture containing diagram&#10;&#10;Description automatically generated">
            <a:extLst>
              <a:ext uri="{FF2B5EF4-FFF2-40B4-BE49-F238E27FC236}">
                <a16:creationId xmlns:a16="http://schemas.microsoft.com/office/drawing/2014/main" id="{7246FC0D-1C32-57EA-8D02-DC8B7790AE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4"/>
          <a:stretch/>
        </p:blipFill>
        <p:spPr>
          <a:xfrm>
            <a:off x="7557844" y="2495232"/>
            <a:ext cx="3815042" cy="4191618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E012098-E371-49F3-9AE3-345206D3A5B3}"/>
              </a:ext>
            </a:extLst>
          </p:cNvPr>
          <p:cNvSpPr txBox="1"/>
          <p:nvPr/>
        </p:nvSpPr>
        <p:spPr>
          <a:xfrm>
            <a:off x="43798" y="2478949"/>
            <a:ext cx="308098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A4D09F-E546-4C63-BD00-9CBF6925149B}"/>
              </a:ext>
            </a:extLst>
          </p:cNvPr>
          <p:cNvSpPr/>
          <p:nvPr/>
        </p:nvSpPr>
        <p:spPr>
          <a:xfrm>
            <a:off x="43798" y="2471091"/>
            <a:ext cx="3772829" cy="424422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EE131F-91A2-469A-9620-52C2F0078890}"/>
              </a:ext>
            </a:extLst>
          </p:cNvPr>
          <p:cNvSpPr/>
          <p:nvPr/>
        </p:nvSpPr>
        <p:spPr>
          <a:xfrm>
            <a:off x="7469127" y="2471091"/>
            <a:ext cx="3593735" cy="424422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7BC1423-0418-439B-B9CF-45EB4C2AF300}"/>
              </a:ext>
            </a:extLst>
          </p:cNvPr>
          <p:cNvSpPr/>
          <p:nvPr/>
        </p:nvSpPr>
        <p:spPr>
          <a:xfrm>
            <a:off x="3813100" y="2471091"/>
            <a:ext cx="3656027" cy="42444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0AAC95-D2F0-4B6F-82C2-02A3074F5452}"/>
              </a:ext>
            </a:extLst>
          </p:cNvPr>
          <p:cNvSpPr txBox="1"/>
          <p:nvPr/>
        </p:nvSpPr>
        <p:spPr>
          <a:xfrm>
            <a:off x="3805630" y="2478949"/>
            <a:ext cx="32733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FFD2CE-7D64-4F4A-94DC-E8B32EFF707D}"/>
              </a:ext>
            </a:extLst>
          </p:cNvPr>
          <p:cNvSpPr txBox="1"/>
          <p:nvPr/>
        </p:nvSpPr>
        <p:spPr>
          <a:xfrm>
            <a:off x="7463007" y="2478949"/>
            <a:ext cx="29687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</a:t>
            </a:r>
            <a:endParaRPr lang="en-IL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86186A-6230-4705-BD0F-07EC564AA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197" y="6338820"/>
            <a:ext cx="3416808" cy="33528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6A088A78-7050-515E-BE81-544CBA500145}"/>
              </a:ext>
            </a:extLst>
          </p:cNvPr>
          <p:cNvGrpSpPr/>
          <p:nvPr/>
        </p:nvGrpSpPr>
        <p:grpSpPr>
          <a:xfrm>
            <a:off x="131193" y="405855"/>
            <a:ext cx="3800480" cy="2099535"/>
            <a:chOff x="8716766" y="286422"/>
            <a:chExt cx="3800480" cy="2099535"/>
          </a:xfrm>
        </p:grpSpPr>
        <p:pic>
          <p:nvPicPr>
            <p:cNvPr id="72" name="Picture 71" descr="Chart, histogram&#10;&#10;Description automatically generated">
              <a:extLst>
                <a:ext uri="{FF2B5EF4-FFF2-40B4-BE49-F238E27FC236}">
                  <a16:creationId xmlns:a16="http://schemas.microsoft.com/office/drawing/2014/main" id="{21F8AE2D-DBF1-D9A1-A1C2-D614E1A2F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24" b="63414"/>
            <a:stretch/>
          </p:blipFill>
          <p:spPr>
            <a:xfrm>
              <a:off x="9154160" y="605992"/>
              <a:ext cx="1717039" cy="1661653"/>
            </a:xfrm>
            <a:prstGeom prst="rect">
              <a:avLst/>
            </a:prstGeom>
          </p:spPr>
        </p:pic>
        <p:pic>
          <p:nvPicPr>
            <p:cNvPr id="73" name="Picture 72" descr="Chart, histogram&#10;&#10;Description automatically generated">
              <a:extLst>
                <a:ext uri="{FF2B5EF4-FFF2-40B4-BE49-F238E27FC236}">
                  <a16:creationId xmlns:a16="http://schemas.microsoft.com/office/drawing/2014/main" id="{36A44333-DCE7-2D74-AC3B-0B0F400B47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18" t="44131" r="-2537" b="11967"/>
            <a:stretch/>
          </p:blipFill>
          <p:spPr>
            <a:xfrm>
              <a:off x="10871199" y="568960"/>
              <a:ext cx="489311" cy="1686561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D13DE90-23B6-B7D4-BCD8-F81DBC1AEFA5}"/>
                </a:ext>
              </a:extLst>
            </p:cNvPr>
            <p:cNvSpPr txBox="1"/>
            <p:nvPr/>
          </p:nvSpPr>
          <p:spPr>
            <a:xfrm>
              <a:off x="11335932" y="575094"/>
              <a:ext cx="118131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AF2 </a:t>
              </a:r>
              <a:r>
                <a:rPr lang="en-IL" dirty="0"/>
                <a:t>predicted</a:t>
              </a:r>
              <a:r>
                <a:rPr lang="en-US" dirty="0"/>
                <a:t> a</a:t>
              </a:r>
              <a:r>
                <a:rPr lang="en-IL" dirty="0" err="1"/>
                <a:t>ligned</a:t>
              </a:r>
              <a:r>
                <a:rPr lang="en-US" dirty="0"/>
                <a:t> </a:t>
              </a:r>
              <a:r>
                <a:rPr lang="en-IL" dirty="0"/>
                <a:t>error</a:t>
              </a:r>
              <a:r>
                <a:rPr lang="en-US" dirty="0"/>
                <a:t> values</a:t>
              </a:r>
              <a:endParaRPr lang="en-IL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803913C-7F47-AEC0-A2E0-068914382D34}"/>
                </a:ext>
              </a:extLst>
            </p:cNvPr>
            <p:cNvSpPr txBox="1"/>
            <p:nvPr/>
          </p:nvSpPr>
          <p:spPr>
            <a:xfrm>
              <a:off x="8950804" y="41876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en-IL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D9FFA4A-59A1-41DE-07F9-B8B78EBDFB4A}"/>
                </a:ext>
              </a:extLst>
            </p:cNvPr>
            <p:cNvSpPr txBox="1"/>
            <p:nvPr/>
          </p:nvSpPr>
          <p:spPr>
            <a:xfrm>
              <a:off x="8716766" y="2016625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650</a:t>
              </a:r>
              <a:endParaRPr lang="en-IL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F4189C3-23BF-8F63-94FF-EA11ADB15041}"/>
                </a:ext>
              </a:extLst>
            </p:cNvPr>
            <p:cNvSpPr txBox="1"/>
            <p:nvPr/>
          </p:nvSpPr>
          <p:spPr>
            <a:xfrm>
              <a:off x="9038974" y="28642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en-IL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BEAF80A-096F-E98A-663E-6D535C4204CF}"/>
                </a:ext>
              </a:extLst>
            </p:cNvPr>
            <p:cNvSpPr txBox="1"/>
            <p:nvPr/>
          </p:nvSpPr>
          <p:spPr>
            <a:xfrm>
              <a:off x="10565885" y="318811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650</a:t>
              </a:r>
              <a:endParaRPr lang="en-IL" dirty="0"/>
            </a:p>
          </p:txBody>
        </p: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C0EC191B-6214-D231-CCCE-48BA287EC872}"/>
              </a:ext>
            </a:extLst>
          </p:cNvPr>
          <p:cNvSpPr/>
          <p:nvPr/>
        </p:nvSpPr>
        <p:spPr>
          <a:xfrm>
            <a:off x="3813099" y="202755"/>
            <a:ext cx="7249763" cy="22613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AAE870B-DF2F-A547-D2EE-5859E6F980E5}"/>
              </a:ext>
            </a:extLst>
          </p:cNvPr>
          <p:cNvGrpSpPr/>
          <p:nvPr/>
        </p:nvGrpSpPr>
        <p:grpSpPr>
          <a:xfrm>
            <a:off x="4507346" y="401398"/>
            <a:ext cx="6986378" cy="1583593"/>
            <a:chOff x="4351562" y="4391479"/>
            <a:chExt cx="6986378" cy="1583593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2456AE7-0CD0-1C64-8D3C-0A151F816FFA}"/>
                </a:ext>
              </a:extLst>
            </p:cNvPr>
            <p:cNvSpPr txBox="1"/>
            <p:nvPr/>
          </p:nvSpPr>
          <p:spPr>
            <a:xfrm>
              <a:off x="6026314" y="4391479"/>
              <a:ext cx="32141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hydrophobic 20-residue window</a:t>
              </a:r>
              <a:endParaRPr lang="en-IL" dirty="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FD84176-34DD-24D7-9C4F-2EF09B3326A2}"/>
                </a:ext>
              </a:extLst>
            </p:cNvPr>
            <p:cNvGrpSpPr/>
            <p:nvPr/>
          </p:nvGrpSpPr>
          <p:grpSpPr>
            <a:xfrm>
              <a:off x="4351562" y="4865392"/>
              <a:ext cx="6986378" cy="1109680"/>
              <a:chOff x="3783433" y="4359364"/>
              <a:chExt cx="6986378" cy="1109680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EF79A13F-1985-369D-5830-3D776662C602}"/>
                  </a:ext>
                </a:extLst>
              </p:cNvPr>
              <p:cNvGrpSpPr/>
              <p:nvPr/>
            </p:nvGrpSpPr>
            <p:grpSpPr>
              <a:xfrm>
                <a:off x="3783433" y="4713801"/>
                <a:ext cx="6986378" cy="646331"/>
                <a:chOff x="5739024" y="4587121"/>
                <a:chExt cx="6986378" cy="646331"/>
              </a:xfrm>
            </p:grpSpPr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F1599EE9-D048-9A9C-669F-C7F12FE60D0F}"/>
                    </a:ext>
                  </a:extLst>
                </p:cNvPr>
                <p:cNvSpPr txBox="1"/>
                <p:nvPr/>
              </p:nvSpPr>
              <p:spPr>
                <a:xfrm>
                  <a:off x="5739024" y="4587121"/>
                  <a:ext cx="65261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LLFSSYEAEVEERMPLHISAELTMLMFNGSVFMPSMLTLVGIPGLK</a:t>
                  </a:r>
                </a:p>
                <a:p>
                  <a:r>
                    <a:rPr lang="en-US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312       322       332       342       352</a:t>
                  </a:r>
                  <a:endParaRPr lang="en-IL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8AD0F03F-C266-68D5-F1CB-8A17CFE06F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l="1" r="-9658" b="13360"/>
                <a:stretch/>
              </p:blipFill>
              <p:spPr>
                <a:xfrm>
                  <a:off x="5788260" y="4609420"/>
                  <a:ext cx="6937142" cy="236694"/>
                </a:xfrm>
                <a:prstGeom prst="rect">
                  <a:avLst/>
                </a:prstGeom>
              </p:spPr>
            </p:pic>
          </p:grpSp>
          <p:sp>
            <p:nvSpPr>
              <p:cNvPr id="68" name="Left Bracket 67">
                <a:extLst>
                  <a:ext uri="{FF2B5EF4-FFF2-40B4-BE49-F238E27FC236}">
                    <a16:creationId xmlns:a16="http://schemas.microsoft.com/office/drawing/2014/main" id="{E292EDA4-5825-B9B5-CDA3-AF52F9AD3C1E}"/>
                  </a:ext>
                </a:extLst>
              </p:cNvPr>
              <p:cNvSpPr/>
              <p:nvPr/>
            </p:nvSpPr>
            <p:spPr>
              <a:xfrm rot="5400000">
                <a:off x="8011258" y="3082425"/>
                <a:ext cx="195168" cy="2749046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L" dirty="0"/>
              </a:p>
            </p:txBody>
          </p:sp>
          <p:sp>
            <p:nvSpPr>
              <p:cNvPr id="69" name="Left Bracket 68">
                <a:extLst>
                  <a:ext uri="{FF2B5EF4-FFF2-40B4-BE49-F238E27FC236}">
                    <a16:creationId xmlns:a16="http://schemas.microsoft.com/office/drawing/2014/main" id="{EF43F864-3E96-874D-D46A-D7BD1985D929}"/>
                  </a:ext>
                </a:extLst>
              </p:cNvPr>
              <p:cNvSpPr/>
              <p:nvPr/>
            </p:nvSpPr>
            <p:spPr>
              <a:xfrm rot="16200000" flipV="1">
                <a:off x="8914797" y="4388970"/>
                <a:ext cx="168634" cy="1991514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88052A9E-9407-9FF3-FC54-CFA98A49C729}"/>
              </a:ext>
            </a:extLst>
          </p:cNvPr>
          <p:cNvSpPr/>
          <p:nvPr/>
        </p:nvSpPr>
        <p:spPr>
          <a:xfrm>
            <a:off x="43798" y="205559"/>
            <a:ext cx="3761832" cy="225856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0A6716-64AD-D6EE-91D0-5ECFFE9193A1}"/>
              </a:ext>
            </a:extLst>
          </p:cNvPr>
          <p:cNvSpPr txBox="1"/>
          <p:nvPr/>
        </p:nvSpPr>
        <p:spPr>
          <a:xfrm>
            <a:off x="47806" y="205559"/>
            <a:ext cx="31771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D915E-63C5-513F-5EBA-7A192D2E5710}"/>
              </a:ext>
            </a:extLst>
          </p:cNvPr>
          <p:cNvSpPr txBox="1"/>
          <p:nvPr/>
        </p:nvSpPr>
        <p:spPr>
          <a:xfrm>
            <a:off x="3797640" y="235253"/>
            <a:ext cx="30970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EB3AD2C-4CF7-0337-C1A4-F8A1131E882C}"/>
              </a:ext>
            </a:extLst>
          </p:cNvPr>
          <p:cNvSpPr txBox="1"/>
          <p:nvPr/>
        </p:nvSpPr>
        <p:spPr>
          <a:xfrm>
            <a:off x="7858290" y="1974044"/>
            <a:ext cx="3214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hydrophobic 15-residue window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1587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4CA3C772-3404-046F-F75D-19026D2198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9"/>
          <a:stretch/>
        </p:blipFill>
        <p:spPr>
          <a:xfrm>
            <a:off x="211894" y="2495231"/>
            <a:ext cx="3829061" cy="4191618"/>
          </a:xfrm>
          <a:prstGeom prst="rect">
            <a:avLst/>
          </a:prstGeom>
        </p:spPr>
      </p:pic>
      <p:pic>
        <p:nvPicPr>
          <p:cNvPr id="13" name="Picture 12" descr="A close-up of a bracelet&#10;&#10;Description automatically generated with low confidence">
            <a:extLst>
              <a:ext uri="{FF2B5EF4-FFF2-40B4-BE49-F238E27FC236}">
                <a16:creationId xmlns:a16="http://schemas.microsoft.com/office/drawing/2014/main" id="{B62D468D-E601-3A7D-A3C4-178428056B1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4" r="9217"/>
          <a:stretch/>
        </p:blipFill>
        <p:spPr>
          <a:xfrm>
            <a:off x="3869272" y="2495232"/>
            <a:ext cx="3430854" cy="4191618"/>
          </a:xfrm>
          <a:prstGeom prst="rect">
            <a:avLst/>
          </a:prstGeom>
        </p:spPr>
      </p:pic>
      <p:pic>
        <p:nvPicPr>
          <p:cNvPr id="15" name="Picture 14" descr="A picture containing diagram&#10;&#10;Description automatically generated">
            <a:extLst>
              <a:ext uri="{FF2B5EF4-FFF2-40B4-BE49-F238E27FC236}">
                <a16:creationId xmlns:a16="http://schemas.microsoft.com/office/drawing/2014/main" id="{7246FC0D-1C32-57EA-8D02-DC8B7790AE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84"/>
          <a:stretch/>
        </p:blipFill>
        <p:spPr>
          <a:xfrm>
            <a:off x="7557844" y="2495232"/>
            <a:ext cx="3815042" cy="4191618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E012098-E371-49F3-9AE3-345206D3A5B3}"/>
              </a:ext>
            </a:extLst>
          </p:cNvPr>
          <p:cNvSpPr txBox="1"/>
          <p:nvPr/>
        </p:nvSpPr>
        <p:spPr>
          <a:xfrm>
            <a:off x="43798" y="2478949"/>
            <a:ext cx="308098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A4D09F-E546-4C63-BD00-9CBF6925149B}"/>
              </a:ext>
            </a:extLst>
          </p:cNvPr>
          <p:cNvSpPr/>
          <p:nvPr/>
        </p:nvSpPr>
        <p:spPr>
          <a:xfrm>
            <a:off x="43798" y="2471091"/>
            <a:ext cx="3772829" cy="424422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AEE131F-91A2-469A-9620-52C2F0078890}"/>
              </a:ext>
            </a:extLst>
          </p:cNvPr>
          <p:cNvSpPr/>
          <p:nvPr/>
        </p:nvSpPr>
        <p:spPr>
          <a:xfrm>
            <a:off x="7469127" y="2471091"/>
            <a:ext cx="3593735" cy="424422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7BC1423-0418-439B-B9CF-45EB4C2AF300}"/>
              </a:ext>
            </a:extLst>
          </p:cNvPr>
          <p:cNvSpPr/>
          <p:nvPr/>
        </p:nvSpPr>
        <p:spPr>
          <a:xfrm>
            <a:off x="3813100" y="2471091"/>
            <a:ext cx="3656027" cy="424440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0AAC95-D2F0-4B6F-82C2-02A3074F5452}"/>
              </a:ext>
            </a:extLst>
          </p:cNvPr>
          <p:cNvSpPr txBox="1"/>
          <p:nvPr/>
        </p:nvSpPr>
        <p:spPr>
          <a:xfrm>
            <a:off x="3805630" y="2478949"/>
            <a:ext cx="327334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FFD2CE-7D64-4F4A-94DC-E8B32EFF707D}"/>
              </a:ext>
            </a:extLst>
          </p:cNvPr>
          <p:cNvSpPr txBox="1"/>
          <p:nvPr/>
        </p:nvSpPr>
        <p:spPr>
          <a:xfrm>
            <a:off x="7494537" y="2478949"/>
            <a:ext cx="29687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</a:t>
            </a:r>
            <a:endParaRPr lang="en-IL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86186A-6230-4705-BD0F-07EC564AA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197" y="6338820"/>
            <a:ext cx="3416808" cy="33528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6A088A78-7050-515E-BE81-544CBA500145}"/>
              </a:ext>
            </a:extLst>
          </p:cNvPr>
          <p:cNvGrpSpPr/>
          <p:nvPr/>
        </p:nvGrpSpPr>
        <p:grpSpPr>
          <a:xfrm>
            <a:off x="7435853" y="405855"/>
            <a:ext cx="3800480" cy="2099535"/>
            <a:chOff x="8716766" y="286422"/>
            <a:chExt cx="3800480" cy="2099535"/>
          </a:xfrm>
        </p:grpSpPr>
        <p:pic>
          <p:nvPicPr>
            <p:cNvPr id="72" name="Picture 71" descr="Chart, histogram&#10;&#10;Description automatically generated">
              <a:extLst>
                <a:ext uri="{FF2B5EF4-FFF2-40B4-BE49-F238E27FC236}">
                  <a16:creationId xmlns:a16="http://schemas.microsoft.com/office/drawing/2014/main" id="{21F8AE2D-DBF1-D9A1-A1C2-D614E1A2F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24" b="63414"/>
            <a:stretch/>
          </p:blipFill>
          <p:spPr>
            <a:xfrm>
              <a:off x="9154160" y="605992"/>
              <a:ext cx="1717039" cy="1661653"/>
            </a:xfrm>
            <a:prstGeom prst="rect">
              <a:avLst/>
            </a:prstGeom>
          </p:spPr>
        </p:pic>
        <p:pic>
          <p:nvPicPr>
            <p:cNvPr id="73" name="Picture 72" descr="Chart, histogram&#10;&#10;Description automatically generated">
              <a:extLst>
                <a:ext uri="{FF2B5EF4-FFF2-40B4-BE49-F238E27FC236}">
                  <a16:creationId xmlns:a16="http://schemas.microsoft.com/office/drawing/2014/main" id="{36A44333-DCE7-2D74-AC3B-0B0F400B47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18" t="44131" r="-2537" b="11967"/>
            <a:stretch/>
          </p:blipFill>
          <p:spPr>
            <a:xfrm>
              <a:off x="10871199" y="568960"/>
              <a:ext cx="489311" cy="1686561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D13DE90-23B6-B7D4-BCD8-F81DBC1AEFA5}"/>
                </a:ext>
              </a:extLst>
            </p:cNvPr>
            <p:cNvSpPr txBox="1"/>
            <p:nvPr/>
          </p:nvSpPr>
          <p:spPr>
            <a:xfrm>
              <a:off x="11335932" y="575094"/>
              <a:ext cx="118131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AF2 </a:t>
              </a:r>
              <a:r>
                <a:rPr lang="en-IL" dirty="0"/>
                <a:t>predicted</a:t>
              </a:r>
              <a:r>
                <a:rPr lang="en-US" dirty="0"/>
                <a:t> a</a:t>
              </a:r>
              <a:r>
                <a:rPr lang="en-IL" dirty="0" err="1"/>
                <a:t>ligned</a:t>
              </a:r>
              <a:r>
                <a:rPr lang="en-US" dirty="0"/>
                <a:t> </a:t>
              </a:r>
              <a:r>
                <a:rPr lang="en-IL" dirty="0"/>
                <a:t>error</a:t>
              </a:r>
              <a:r>
                <a:rPr lang="en-US" dirty="0"/>
                <a:t> values</a:t>
              </a:r>
              <a:endParaRPr lang="en-IL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803913C-7F47-AEC0-A2E0-068914382D34}"/>
                </a:ext>
              </a:extLst>
            </p:cNvPr>
            <p:cNvSpPr txBox="1"/>
            <p:nvPr/>
          </p:nvSpPr>
          <p:spPr>
            <a:xfrm>
              <a:off x="8950804" y="41876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en-IL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D9FFA4A-59A1-41DE-07F9-B8B78EBDFB4A}"/>
                </a:ext>
              </a:extLst>
            </p:cNvPr>
            <p:cNvSpPr txBox="1"/>
            <p:nvPr/>
          </p:nvSpPr>
          <p:spPr>
            <a:xfrm>
              <a:off x="8716766" y="2016625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650</a:t>
              </a:r>
              <a:endParaRPr lang="en-IL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F4189C3-23BF-8F63-94FF-EA11ADB15041}"/>
                </a:ext>
              </a:extLst>
            </p:cNvPr>
            <p:cNvSpPr txBox="1"/>
            <p:nvPr/>
          </p:nvSpPr>
          <p:spPr>
            <a:xfrm>
              <a:off x="9038974" y="28642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en-IL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BEAF80A-096F-E98A-663E-6D535C4204CF}"/>
                </a:ext>
              </a:extLst>
            </p:cNvPr>
            <p:cNvSpPr txBox="1"/>
            <p:nvPr/>
          </p:nvSpPr>
          <p:spPr>
            <a:xfrm>
              <a:off x="10565885" y="318811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650</a:t>
              </a:r>
              <a:endParaRPr lang="en-IL" dirty="0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88052A9E-9407-9FF3-FC54-CFA98A49C729}"/>
              </a:ext>
            </a:extLst>
          </p:cNvPr>
          <p:cNvSpPr/>
          <p:nvPr/>
        </p:nvSpPr>
        <p:spPr>
          <a:xfrm>
            <a:off x="7495604" y="205559"/>
            <a:ext cx="3567258" cy="225856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0A6716-64AD-D6EE-91D0-5ECFFE9193A1}"/>
              </a:ext>
            </a:extLst>
          </p:cNvPr>
          <p:cNvSpPr txBox="1"/>
          <p:nvPr/>
        </p:nvSpPr>
        <p:spPr>
          <a:xfrm>
            <a:off x="7510124" y="205559"/>
            <a:ext cx="30970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</a:t>
            </a:r>
            <a:endParaRPr lang="en-IL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233EDE-0773-6E5C-9083-DEC95421CD32}"/>
              </a:ext>
            </a:extLst>
          </p:cNvPr>
          <p:cNvGrpSpPr/>
          <p:nvPr/>
        </p:nvGrpSpPr>
        <p:grpSpPr>
          <a:xfrm>
            <a:off x="32862" y="213265"/>
            <a:ext cx="7696085" cy="2261365"/>
            <a:chOff x="3797639" y="202755"/>
            <a:chExt cx="7696085" cy="226136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0EC191B-6214-D231-CCCE-48BA287EC872}"/>
                </a:ext>
              </a:extLst>
            </p:cNvPr>
            <p:cNvSpPr/>
            <p:nvPr/>
          </p:nvSpPr>
          <p:spPr>
            <a:xfrm>
              <a:off x="3797639" y="202755"/>
              <a:ext cx="7461015" cy="226136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AAE870B-DF2F-A547-D2EE-5859E6F980E5}"/>
                </a:ext>
              </a:extLst>
            </p:cNvPr>
            <p:cNvGrpSpPr/>
            <p:nvPr/>
          </p:nvGrpSpPr>
          <p:grpSpPr>
            <a:xfrm>
              <a:off x="4507346" y="401398"/>
              <a:ext cx="6986378" cy="1583593"/>
              <a:chOff x="4351562" y="4391479"/>
              <a:chExt cx="6986378" cy="1583593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2456AE7-0CD0-1C64-8D3C-0A151F816FFA}"/>
                  </a:ext>
                </a:extLst>
              </p:cNvPr>
              <p:cNvSpPr txBox="1"/>
              <p:nvPr/>
            </p:nvSpPr>
            <p:spPr>
              <a:xfrm>
                <a:off x="6026314" y="4391479"/>
                <a:ext cx="32141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hydrophobic 20-residue window</a:t>
                </a:r>
                <a:endParaRPr lang="en-IL" dirty="0"/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BFD84176-34DD-24D7-9C4F-2EF09B3326A2}"/>
                  </a:ext>
                </a:extLst>
              </p:cNvPr>
              <p:cNvGrpSpPr/>
              <p:nvPr/>
            </p:nvGrpSpPr>
            <p:grpSpPr>
              <a:xfrm>
                <a:off x="4351562" y="4865392"/>
                <a:ext cx="6986378" cy="1109680"/>
                <a:chOff x="3783433" y="4359364"/>
                <a:chExt cx="6986378" cy="1109680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F79A13F-1985-369D-5830-3D776662C602}"/>
                    </a:ext>
                  </a:extLst>
                </p:cNvPr>
                <p:cNvGrpSpPr/>
                <p:nvPr/>
              </p:nvGrpSpPr>
              <p:grpSpPr>
                <a:xfrm>
                  <a:off x="3783433" y="4713801"/>
                  <a:ext cx="6986378" cy="646331"/>
                  <a:chOff x="5739024" y="4587121"/>
                  <a:chExt cx="6986378" cy="646331"/>
                </a:xfrm>
              </p:grpSpPr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F1599EE9-D048-9A9C-669F-C7F12FE60D0F}"/>
                      </a:ext>
                    </a:extLst>
                  </p:cNvPr>
                  <p:cNvSpPr txBox="1"/>
                  <p:nvPr/>
                </p:nvSpPr>
                <p:spPr>
                  <a:xfrm>
                    <a:off x="5739024" y="4587121"/>
                    <a:ext cx="6526146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LLFSSYEAEVEERMPLHISAELTMLMFNGSVFMPSMLTLVGIPGLK</a:t>
                    </a:r>
                  </a:p>
                  <a:p>
                    <a:r>
                      <a: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312       322       332       342       352</a:t>
                    </a:r>
                    <a:endParaRPr lang="en-IL" dirty="0"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  <p:pic>
                <p:nvPicPr>
                  <p:cNvPr id="71" name="Picture 70">
                    <a:extLst>
                      <a:ext uri="{FF2B5EF4-FFF2-40B4-BE49-F238E27FC236}">
                        <a16:creationId xmlns:a16="http://schemas.microsoft.com/office/drawing/2014/main" id="{8AD0F03F-C266-68D5-F1CB-8A17CFE06F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/>
                  <a:srcRect l="1" r="-9658" b="13360"/>
                  <a:stretch/>
                </p:blipFill>
                <p:spPr>
                  <a:xfrm>
                    <a:off x="5788260" y="4609420"/>
                    <a:ext cx="6937142" cy="236694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8" name="Left Bracket 67">
                  <a:extLst>
                    <a:ext uri="{FF2B5EF4-FFF2-40B4-BE49-F238E27FC236}">
                      <a16:creationId xmlns:a16="http://schemas.microsoft.com/office/drawing/2014/main" id="{E292EDA4-5825-B9B5-CDA3-AF52F9AD3C1E}"/>
                    </a:ext>
                  </a:extLst>
                </p:cNvPr>
                <p:cNvSpPr/>
                <p:nvPr/>
              </p:nvSpPr>
              <p:spPr>
                <a:xfrm rot="5400000">
                  <a:off x="8011258" y="3082425"/>
                  <a:ext cx="195168" cy="2749046"/>
                </a:xfrm>
                <a:prstGeom prst="leftBracket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L" dirty="0"/>
                </a:p>
              </p:txBody>
            </p:sp>
            <p:sp>
              <p:nvSpPr>
                <p:cNvPr id="69" name="Left Bracket 68">
                  <a:extLst>
                    <a:ext uri="{FF2B5EF4-FFF2-40B4-BE49-F238E27FC236}">
                      <a16:creationId xmlns:a16="http://schemas.microsoft.com/office/drawing/2014/main" id="{EF43F864-3E96-874D-D46A-D7BD1985D929}"/>
                    </a:ext>
                  </a:extLst>
                </p:cNvPr>
                <p:cNvSpPr/>
                <p:nvPr/>
              </p:nvSpPr>
              <p:spPr>
                <a:xfrm rot="16200000" flipV="1">
                  <a:off x="8914797" y="4388970"/>
                  <a:ext cx="168634" cy="1991514"/>
                </a:xfrm>
                <a:prstGeom prst="leftBracket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L"/>
                </a:p>
              </p:txBody>
            </p:sp>
          </p:grp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D4D915E-63C5-513F-5EBA-7A192D2E5710}"/>
                </a:ext>
              </a:extLst>
            </p:cNvPr>
            <p:cNvSpPr txBox="1"/>
            <p:nvPr/>
          </p:nvSpPr>
          <p:spPr>
            <a:xfrm>
              <a:off x="3797640" y="205559"/>
              <a:ext cx="31771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</a:t>
              </a:r>
              <a:endParaRPr lang="en-IL" dirty="0">
                <a:solidFill>
                  <a:schemeClr val="bg1"/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EB3AD2C-4CF7-0337-C1A4-F8A1131E882C}"/>
                </a:ext>
              </a:extLst>
            </p:cNvPr>
            <p:cNvSpPr txBox="1"/>
            <p:nvPr/>
          </p:nvSpPr>
          <p:spPr>
            <a:xfrm>
              <a:off x="7858290" y="1974044"/>
              <a:ext cx="32141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hydrophobic 15-residue window</a:t>
              </a:r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1125452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98</Words>
  <Application>Microsoft Office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Kolodny</dc:creator>
  <cp:lastModifiedBy>Rachel Kolodny</cp:lastModifiedBy>
  <cp:revision>14</cp:revision>
  <dcterms:created xsi:type="dcterms:W3CDTF">2022-02-24T18:31:32Z</dcterms:created>
  <dcterms:modified xsi:type="dcterms:W3CDTF">2022-07-20T10:32:59Z</dcterms:modified>
</cp:coreProperties>
</file>