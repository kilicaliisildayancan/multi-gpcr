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324" r:id="rId3"/>
    <p:sldId id="325" r:id="rId4"/>
    <p:sldId id="330" r:id="rId5"/>
    <p:sldId id="321" r:id="rId6"/>
    <p:sldId id="349" r:id="rId7"/>
    <p:sldId id="350" r:id="rId8"/>
    <p:sldId id="355" r:id="rId9"/>
    <p:sldId id="344" r:id="rId10"/>
    <p:sldId id="346" r:id="rId11"/>
    <p:sldId id="360" r:id="rId12"/>
    <p:sldId id="257" r:id="rId13"/>
    <p:sldId id="258" r:id="rId14"/>
    <p:sldId id="259" r:id="rId15"/>
    <p:sldId id="362" r:id="rId16"/>
    <p:sldId id="348" r:id="rId17"/>
    <p:sldId id="361" r:id="rId18"/>
    <p:sldId id="284" r:id="rId19"/>
    <p:sldId id="339" r:id="rId20"/>
    <p:sldId id="345" r:id="rId21"/>
    <p:sldId id="335" r:id="rId22"/>
    <p:sldId id="315" r:id="rId23"/>
    <p:sldId id="356" r:id="rId24"/>
    <p:sldId id="347" r:id="rId25"/>
    <p:sldId id="353" r:id="rId26"/>
    <p:sldId id="352" r:id="rId27"/>
    <p:sldId id="35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320"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0066CC"/>
    <a:srgbClr val="A12F89"/>
    <a:srgbClr val="0000CC"/>
    <a:srgbClr val="003399"/>
    <a:srgbClr val="02D7DC"/>
    <a:srgbClr val="00FFCC"/>
    <a:srgbClr val="3399FF"/>
    <a:srgbClr val="FD55D9"/>
    <a:srgbClr val="CD03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40" autoAdjust="0"/>
    <p:restoredTop sz="78205" autoAdjust="0"/>
  </p:normalViewPr>
  <p:slideViewPr>
    <p:cSldViewPr snapToGrid="0" showGuides="1">
      <p:cViewPr varScale="1">
        <p:scale>
          <a:sx n="40" d="100"/>
          <a:sy n="40" d="100"/>
        </p:scale>
        <p:origin x="676" y="36"/>
      </p:cViewPr>
      <p:guideLst>
        <p:guide pos="2320"/>
        <p:guide orient="horz" pos="216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584730-AA5B-4C20-B778-0985BC96D3A9}" type="datetimeFigureOut">
              <a:rPr lang="en-US" smtClean="0"/>
              <a:t>6/13/2023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A313F1-89A2-4F65-BE9F-B34717DEE816}" type="slidenum">
              <a:rPr lang="en-US" smtClean="0"/>
              <a:t>‹#›</a:t>
            </a:fld>
            <a:endParaRPr lang="en-US"/>
          </a:p>
        </p:txBody>
      </p:sp>
    </p:spTree>
    <p:extLst>
      <p:ext uri="{BB962C8B-B14F-4D97-AF65-F5344CB8AC3E}">
        <p14:creationId xmlns:p14="http://schemas.microsoft.com/office/powerpoint/2010/main" val="2278531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_ENREF_36"/><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_ENREF_29"/></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immgen.org/"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_ENREF_36"/><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_ENREF_29"/></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8" Type="http://schemas.openxmlformats.org/officeDocument/2006/relationships/hyperlink" Target="https://en.wikipedia.org/wiki/GAIN_domain" TargetMode="External"/><Relationship Id="rId13" Type="http://schemas.openxmlformats.org/officeDocument/2006/relationships/hyperlink" Target="https://en.wikipedia.org/wiki/Adhesion_G_protein-coupled_receptor#cite_note-6" TargetMode="External"/><Relationship Id="rId3" Type="http://schemas.openxmlformats.org/officeDocument/2006/relationships/hyperlink" Target="https://en.wikipedia.org/wiki/G_protein-coupled_receptor" TargetMode="External"/><Relationship Id="rId7" Type="http://schemas.openxmlformats.org/officeDocument/2006/relationships/hyperlink" Target="https://en.wikipedia.org/wiki/Choanoflagellates" TargetMode="External"/><Relationship Id="rId12" Type="http://schemas.openxmlformats.org/officeDocument/2006/relationships/hyperlink" Target="https://en.wikipedia.org/wiki/Adhesion_G_protein-coupled_receptor#cite_note-5" TargetMode="External"/><Relationship Id="rId2" Type="http://schemas.openxmlformats.org/officeDocument/2006/relationships/slide" Target="../slides/slide24.xml"/><Relationship Id="rId16" Type="http://schemas.openxmlformats.org/officeDocument/2006/relationships/hyperlink" Target="http://www.adhesiongpcr.org/" TargetMode="External"/><Relationship Id="rId1" Type="http://schemas.openxmlformats.org/officeDocument/2006/relationships/notesMaster" Target="../notesMasters/notesMaster1.xml"/><Relationship Id="rId6" Type="http://schemas.openxmlformats.org/officeDocument/2006/relationships/hyperlink" Target="https://en.wikipedia.org/wiki/Metazoans" TargetMode="External"/><Relationship Id="rId11" Type="http://schemas.openxmlformats.org/officeDocument/2006/relationships/hyperlink" Target="https://en.wikipedia.org/wiki/Adhesion_G_protein-coupled_receptor#cite_note-Langenhan_r3-4" TargetMode="External"/><Relationship Id="rId5" Type="http://schemas.openxmlformats.org/officeDocument/2006/relationships/hyperlink" Target="https://en.wikipedia.org/wiki/Adhesion_G_protein-coupled_receptor#cite_note-1" TargetMode="External"/><Relationship Id="rId15" Type="http://schemas.openxmlformats.org/officeDocument/2006/relationships/hyperlink" Target="https://en.wikipedia.org/wiki/Orphan_receptor" TargetMode="External"/><Relationship Id="rId10" Type="http://schemas.openxmlformats.org/officeDocument/2006/relationships/hyperlink" Target="https://en.wikipedia.org/wiki/Adhesion_G_protein-coupled_receptor#cite_note-3" TargetMode="External"/><Relationship Id="rId4" Type="http://schemas.openxmlformats.org/officeDocument/2006/relationships/hyperlink" Target="https://en.wikipedia.org/wiki/Receptor_(biochemistry)" TargetMode="External"/><Relationship Id="rId9" Type="http://schemas.openxmlformats.org/officeDocument/2006/relationships/hyperlink" Target="https://en.wikipedia.org/wiki/Adhesion_G_protein-coupled_receptor#cite_note-Ara%C3%A7_1364%E2%80%9378-2" TargetMode="External"/><Relationship Id="rId14" Type="http://schemas.openxmlformats.org/officeDocument/2006/relationships/hyperlink" Target="https://en.wikipedia.org/wiki/Adhesion_G_protein-coupled_receptor#cite_note-7"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dirty="0"/>
          </a:p>
        </p:txBody>
      </p:sp>
      <p:sp>
        <p:nvSpPr>
          <p:cNvPr id="4" name="מציין מיקום של מספר שקופית 3"/>
          <p:cNvSpPr>
            <a:spLocks noGrp="1"/>
          </p:cNvSpPr>
          <p:nvPr>
            <p:ph type="sldNum" sz="quarter" idx="10"/>
          </p:nvPr>
        </p:nvSpPr>
        <p:spPr/>
        <p:txBody>
          <a:bodyPr/>
          <a:lstStyle/>
          <a:p>
            <a:fld id="{94A313F1-89A2-4F65-BE9F-B34717DEE816}" type="slidenum">
              <a:rPr lang="en-US" smtClean="0"/>
              <a:t>1</a:t>
            </a:fld>
            <a:endParaRPr lang="en-US"/>
          </a:p>
        </p:txBody>
      </p:sp>
    </p:spTree>
    <p:extLst>
      <p:ext uri="{BB962C8B-B14F-4D97-AF65-F5344CB8AC3E}">
        <p14:creationId xmlns:p14="http://schemas.microsoft.com/office/powerpoint/2010/main" val="3696908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l">
              <a:spcBef>
                <a:spcPct val="0"/>
              </a:spcBef>
            </a:pPr>
            <a:fld id="{1B652CB3-11DF-44C2-B6BD-A10DF44A1931}" type="slidenum">
              <a:rPr lang="en-US" altLang="en-US" smtClean="0">
                <a:solidFill>
                  <a:srgbClr val="000000"/>
                </a:solidFill>
                <a:ea typeface="Times New Roman (Hebrew)" panose="02020603050405020304" pitchFamily="18" charset="0"/>
                <a:cs typeface="Arial" panose="020B0604020202020204" pitchFamily="34" charset="0"/>
              </a:rPr>
              <a:pPr algn="l">
                <a:spcBef>
                  <a:spcPct val="0"/>
                </a:spcBef>
              </a:pPr>
              <a:t>2</a:t>
            </a:fld>
            <a:endParaRPr lang="en-US" altLang="en-US">
              <a:solidFill>
                <a:srgbClr val="000000"/>
              </a:solidFill>
              <a:ea typeface="Times New Roman (Hebrew)" panose="02020603050405020304" pitchFamily="18" charset="0"/>
              <a:cs typeface="Arial" panose="020B0604020202020204" pitchFamily="34" charset="0"/>
            </a:endParaRPr>
          </a:p>
        </p:txBody>
      </p:sp>
      <p:sp>
        <p:nvSpPr>
          <p:cNvPr id="214019" name="Rectangle 2"/>
          <p:cNvSpPr>
            <a:spLocks noGrp="1" noRot="1" noChangeAspect="1" noChangeArrowheads="1" noTextEdit="1"/>
          </p:cNvSpPr>
          <p:nvPr>
            <p:ph type="sldImg"/>
          </p:nvPr>
        </p:nvSpPr>
        <p:spPr>
          <a:ln/>
        </p:spPr>
      </p:sp>
      <p:sp>
        <p:nvSpPr>
          <p:cNvPr id="214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r>
              <a:rPr lang="en-US" altLang="en-US" b="1" dirty="0"/>
              <a:t>Figure 7.31. The main players in a typical signal transduction cascade.</a:t>
            </a:r>
            <a:r>
              <a:rPr lang="en-US" altLang="en-US" dirty="0"/>
              <a:t> </a:t>
            </a:r>
            <a:r>
              <a:rPr lang="en-US" sz="1200" kern="1200" dirty="0">
                <a:solidFill>
                  <a:schemeClr val="tx1"/>
                </a:solidFill>
                <a:effectLst/>
                <a:latin typeface="Times New Roman" pitchFamily="18" charset="0"/>
                <a:ea typeface="+mn-ea"/>
                <a:cs typeface="Times New Roman" pitchFamily="18" charset="0"/>
              </a:rPr>
              <a:t>(b) The </a:t>
            </a:r>
            <a:r>
              <a:rPr lang="en-US" sz="1200" kern="1200" dirty="0" err="1">
                <a:solidFill>
                  <a:schemeClr val="tx1"/>
                </a:solidFill>
                <a:effectLst/>
                <a:latin typeface="Times New Roman" pitchFamily="18" charset="0"/>
                <a:ea typeface="+mn-ea"/>
                <a:cs typeface="Times New Roman" pitchFamily="18" charset="0"/>
              </a:rPr>
              <a:t>cAMP</a:t>
            </a:r>
            <a:r>
              <a:rPr lang="en-US" sz="1200" kern="1200" dirty="0">
                <a:solidFill>
                  <a:schemeClr val="tx1"/>
                </a:solidFill>
                <a:effectLst/>
                <a:latin typeface="Times New Roman" pitchFamily="18" charset="0"/>
                <a:ea typeface="+mn-ea"/>
                <a:cs typeface="Times New Roman" pitchFamily="18" charset="0"/>
              </a:rPr>
              <a:t>-PKA cascade. Binding of an external chemical messenger (hormone, neurotransmitter, etc.) to a membrane-bound protein receptor induces the activation</a:t>
            </a:r>
            <a:r>
              <a:rPr lang="en-US" sz="1200" b="1" kern="1200" dirty="0">
                <a:solidFill>
                  <a:schemeClr val="tx1"/>
                </a:solidFill>
                <a:effectLst/>
                <a:latin typeface="Times New Roman" pitchFamily="18" charset="0"/>
                <a:ea typeface="+mn-ea"/>
                <a:cs typeface="Times New Roman" pitchFamily="18" charset="0"/>
              </a:rPr>
              <a:t> </a:t>
            </a:r>
            <a:r>
              <a:rPr lang="en-US" sz="1200" kern="1200" dirty="0">
                <a:solidFill>
                  <a:schemeClr val="tx1"/>
                </a:solidFill>
                <a:effectLst/>
                <a:latin typeface="Times New Roman" pitchFamily="18" charset="0"/>
                <a:ea typeface="+mn-ea"/>
                <a:cs typeface="Times New Roman" pitchFamily="18" charset="0"/>
              </a:rPr>
              <a:t>of an enzyme called a G-protein, which acts as a transducer. The activation of the G-protein leads to the activation of adenylyl cyclase (AC), which catalyzes the conversion of ATP into cyclic AMP. The latter acts as an intracellular messenger. It binds to and activates the enzyme amplifier PKA, which, in turn, phosphorylates a large set of cytoplasmic proteins. The phosphorylated proteins may activate other cellular components, or perform a certain function (that is, they may act as sensors and/or effectors). In any case, this signal transduction eventually leads to changes in the cell's behavior, i.e., to a biological response.</a:t>
            </a:r>
            <a:endParaRPr lang="en-US" altLang="en-US" dirty="0"/>
          </a:p>
        </p:txBody>
      </p:sp>
    </p:spTree>
    <p:extLst>
      <p:ext uri="{BB962C8B-B14F-4D97-AF65-F5344CB8AC3E}">
        <p14:creationId xmlns:p14="http://schemas.microsoft.com/office/powerpoint/2010/main" val="2375388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l">
              <a:spcBef>
                <a:spcPct val="0"/>
              </a:spcBef>
            </a:pPr>
            <a:fld id="{E8F96F7F-27F6-4326-A63C-CA33B75E4CC4}" type="slidenum">
              <a:rPr lang="en-US" altLang="en-US" smtClean="0">
                <a:solidFill>
                  <a:srgbClr val="000000"/>
                </a:solidFill>
                <a:ea typeface="Times New Roman (Hebrew)" panose="02020603050405020304" pitchFamily="18" charset="0"/>
                <a:cs typeface="Arial" panose="020B0604020202020204" pitchFamily="34" charset="0"/>
              </a:rPr>
              <a:pPr algn="l">
                <a:spcBef>
                  <a:spcPct val="0"/>
                </a:spcBef>
              </a:pPr>
              <a:t>3</a:t>
            </a:fld>
            <a:endParaRPr lang="en-US" altLang="en-US">
              <a:solidFill>
                <a:srgbClr val="000000"/>
              </a:solidFill>
              <a:ea typeface="Times New Roman (Hebrew)" panose="02020603050405020304" pitchFamily="18" charset="0"/>
              <a:cs typeface="Arial" panose="020B0604020202020204" pitchFamily="34" charset="0"/>
            </a:endParaRPr>
          </a:p>
        </p:txBody>
      </p:sp>
      <p:sp>
        <p:nvSpPr>
          <p:cNvPr id="250883" name="Rectangle 1026"/>
          <p:cNvSpPr>
            <a:spLocks noGrp="1" noRot="1" noChangeAspect="1" noChangeArrowheads="1" noTextEdit="1"/>
          </p:cNvSpPr>
          <p:nvPr>
            <p:ph type="sldImg"/>
          </p:nvPr>
        </p:nvSpPr>
        <p:spPr>
          <a:ln/>
        </p:spPr>
      </p:sp>
      <p:sp>
        <p:nvSpPr>
          <p:cNvPr id="23556" name="Rectangle 1027"/>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l" rtl="0" eaLnBrk="1" hangingPunct="1">
              <a:buFont typeface="Arial" panose="020B0604020202020204" pitchFamily="34" charset="0"/>
              <a:buChar char="•"/>
              <a:defRPr/>
            </a:pPr>
            <a:r>
              <a:rPr lang="en-US" altLang="en-US" dirty="0"/>
              <a:t>Another feature that may</a:t>
            </a:r>
            <a:r>
              <a:rPr lang="en-US" altLang="en-US" baseline="0" dirty="0"/>
              <a:t> be different between the classes is the effect of dimerization/oligomerization: i</a:t>
            </a:r>
            <a:r>
              <a:rPr lang="en-US" altLang="en-US" dirty="0"/>
              <a:t>n class A GPCRs both monomeric and homo-dimeric (or oligomeric) forms are active, and the role of dimerization/oligomerization is mostly regulatory (cooperativity, crosstalk). </a:t>
            </a:r>
          </a:p>
          <a:p>
            <a:pPr marL="171450" indent="-171450" algn="l" rtl="0" eaLnBrk="1" hangingPunct="1">
              <a:buFont typeface="Arial" panose="020B0604020202020204" pitchFamily="34" charset="0"/>
              <a:buChar char="•"/>
              <a:defRPr/>
            </a:pPr>
            <a:r>
              <a:rPr lang="en-US" altLang="en-US" dirty="0"/>
              <a:t>In class C GPCRs only the hetero-dimer is active, and each chain may have a different role. For example, in the </a:t>
            </a:r>
            <a:r>
              <a:rPr lang="en-US" dirty="0"/>
              <a:t>GABA</a:t>
            </a:r>
            <a:r>
              <a:rPr lang="en-US" baseline="-25000" dirty="0"/>
              <a:t>B</a:t>
            </a:r>
            <a:r>
              <a:rPr lang="en-US" dirty="0"/>
              <a:t> receptor one polypeptide chain binds the ligand whereas the other binds the G-protein </a:t>
            </a:r>
            <a:r>
              <a:rPr lang="en-US" baseline="30000" dirty="0"/>
              <a:t>[393]</a:t>
            </a:r>
            <a:r>
              <a:rPr lang="en-US" dirty="0"/>
              <a:t>, and is also needed for bringing the entire receptor to the cell surface.</a:t>
            </a:r>
          </a:p>
          <a:p>
            <a:pPr algn="l" rtl="0" eaLnBrk="1" hangingPunct="1">
              <a:defRPr/>
            </a:pPr>
            <a:endParaRPr lang="en-US" altLang="en-US" b="1" dirty="0"/>
          </a:p>
          <a:p>
            <a:pPr algn="l" rtl="0" eaLnBrk="1" hangingPunct="1">
              <a:defRPr/>
            </a:pPr>
            <a:r>
              <a:rPr lang="en-US" altLang="en-US" b="1" dirty="0"/>
              <a:t>Figure 7.35. A two-fold symmetric dimer formed by the μ-opioid receptor. </a:t>
            </a:r>
            <a:r>
              <a:rPr lang="en-US" altLang="en-US" dirty="0"/>
              <a:t>The receptor (PDB entry 4dkl) is shown in a surface representation from the side (a) and top (extracellular) (b). Each monomer is colored differently. The two bound ligands (one in each monomer) are shown as spheres. The red and blue lines mark the predicted boundaries of the membrane (the OPM database [135]). The dimerization is mediated by a four-helix bundle motif, formed by TM5 and TM6 (shown as cylinders). On their opposite side TMs 5 and 6 line the ligand-binding sites, which may be related to the role of dimerization in regulating receptor activity. </a:t>
            </a:r>
          </a:p>
        </p:txBody>
      </p:sp>
    </p:spTree>
    <p:extLst>
      <p:ext uri="{BB962C8B-B14F-4D97-AF65-F5344CB8AC3E}">
        <p14:creationId xmlns:p14="http://schemas.microsoft.com/office/powerpoint/2010/main" val="1607969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l">
              <a:spcBef>
                <a:spcPct val="0"/>
              </a:spcBef>
            </a:pPr>
            <a:fld id="{E8F96F7F-27F6-4326-A63C-CA33B75E4CC4}" type="slidenum">
              <a:rPr lang="en-US" altLang="en-US" smtClean="0">
                <a:solidFill>
                  <a:srgbClr val="000000"/>
                </a:solidFill>
                <a:ea typeface="Times New Roman (Hebrew)" panose="02020603050405020304" pitchFamily="18" charset="0"/>
                <a:cs typeface="Arial" panose="020B0604020202020204" pitchFamily="34" charset="0"/>
              </a:rPr>
              <a:pPr algn="l">
                <a:spcBef>
                  <a:spcPct val="0"/>
                </a:spcBef>
              </a:pPr>
              <a:t>4</a:t>
            </a:fld>
            <a:endParaRPr lang="en-US" altLang="en-US">
              <a:solidFill>
                <a:srgbClr val="000000"/>
              </a:solidFill>
              <a:ea typeface="Times New Roman (Hebrew)" panose="02020603050405020304" pitchFamily="18" charset="0"/>
              <a:cs typeface="Arial" panose="020B0604020202020204" pitchFamily="34" charset="0"/>
            </a:endParaRPr>
          </a:p>
        </p:txBody>
      </p:sp>
      <p:sp>
        <p:nvSpPr>
          <p:cNvPr id="250883" name="Rectangle 1026"/>
          <p:cNvSpPr>
            <a:spLocks noGrp="1" noRot="1" noChangeAspect="1" noChangeArrowheads="1" noTextEdit="1"/>
          </p:cNvSpPr>
          <p:nvPr>
            <p:ph type="sldImg"/>
          </p:nvPr>
        </p:nvSpPr>
        <p:spPr>
          <a:ln/>
        </p:spPr>
      </p:sp>
      <p:sp>
        <p:nvSpPr>
          <p:cNvPr id="23556" name="Rectangle 1027"/>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l" rtl="0" eaLnBrk="1" hangingPunct="1">
              <a:buFont typeface="Arial" panose="020B0604020202020204" pitchFamily="34" charset="0"/>
              <a:buChar char="•"/>
              <a:defRPr/>
            </a:pPr>
            <a:r>
              <a:rPr lang="en-US" altLang="en-US" dirty="0"/>
              <a:t>Another feature that may</a:t>
            </a:r>
            <a:r>
              <a:rPr lang="en-US" altLang="en-US" baseline="0" dirty="0"/>
              <a:t> be different between the classes is the effect of dimerization/oligomerization: i</a:t>
            </a:r>
            <a:r>
              <a:rPr lang="en-US" altLang="en-US" dirty="0"/>
              <a:t>n class A GPCRs both monomeric and homo-dimeric (or oligomeric) forms are active, and the role of dimerization/oligomerization is mostly regulatory (cooperativity, crosstalk). </a:t>
            </a:r>
          </a:p>
          <a:p>
            <a:pPr marL="171450" indent="-171450" algn="l" rtl="0" eaLnBrk="1" hangingPunct="1">
              <a:buFont typeface="Arial" panose="020B0604020202020204" pitchFamily="34" charset="0"/>
              <a:buChar char="•"/>
              <a:defRPr/>
            </a:pPr>
            <a:r>
              <a:rPr lang="en-US" altLang="en-US" dirty="0"/>
              <a:t>In class C GPCRs only the hetero-dimer is active, and each chain may have a different role. For example, in the </a:t>
            </a:r>
            <a:r>
              <a:rPr lang="en-US" dirty="0"/>
              <a:t>GABA</a:t>
            </a:r>
            <a:r>
              <a:rPr lang="en-US" baseline="-25000" dirty="0"/>
              <a:t>B</a:t>
            </a:r>
            <a:r>
              <a:rPr lang="en-US" dirty="0"/>
              <a:t> receptor one polypeptide chain binds the ligand whereas the other binds the G-protein </a:t>
            </a:r>
            <a:r>
              <a:rPr lang="en-US" baseline="30000" dirty="0"/>
              <a:t>[393]</a:t>
            </a:r>
            <a:r>
              <a:rPr lang="en-US" dirty="0"/>
              <a:t>, and is also needed for bringing the entire receptor to the cell surface.</a:t>
            </a:r>
          </a:p>
          <a:p>
            <a:pPr algn="l" rtl="0" eaLnBrk="1" hangingPunct="1">
              <a:defRPr/>
            </a:pPr>
            <a:endParaRPr lang="en-US" altLang="en-US" b="1" dirty="0"/>
          </a:p>
          <a:p>
            <a:pPr algn="l" rtl="0" eaLnBrk="1" hangingPunct="1">
              <a:defRPr/>
            </a:pPr>
            <a:r>
              <a:rPr lang="en-US" altLang="en-US" b="1" dirty="0"/>
              <a:t>Figure 7.35. A two-fold symmetric dimer formed by the μ-opioid receptor. </a:t>
            </a:r>
            <a:r>
              <a:rPr lang="en-US" altLang="en-US" dirty="0"/>
              <a:t>The receptor (PDB entry 4dkl) is shown in a surface representation from the side (a) and top (extracellular) (b). Each monomer is colored differently. The two bound ligands (one in each monomer) are shown as spheres. The red and blue lines mark the predicted boundaries of the membrane (the OPM database [135]). The dimerization is mediated by a four-helix bundle motif, formed by TM5 and TM6 (shown as cylinders). On their opposite side TMs 5 and 6 line the ligand-binding sites, which may be related to the role of dimerization in regulating receptor activity. </a:t>
            </a:r>
          </a:p>
        </p:txBody>
      </p:sp>
    </p:spTree>
    <p:extLst>
      <p:ext uri="{BB962C8B-B14F-4D97-AF65-F5344CB8AC3E}">
        <p14:creationId xmlns:p14="http://schemas.microsoft.com/office/powerpoint/2010/main" val="2057806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A313F1-89A2-4F65-BE9F-B34717DEE816}" type="slidenum">
              <a:rPr lang="en-US" smtClean="0"/>
              <a:t>5</a:t>
            </a:fld>
            <a:endParaRPr lang="en-US"/>
          </a:p>
        </p:txBody>
      </p:sp>
    </p:spTree>
    <p:extLst>
      <p:ext uri="{BB962C8B-B14F-4D97-AF65-F5344CB8AC3E}">
        <p14:creationId xmlns:p14="http://schemas.microsoft.com/office/powerpoint/2010/main" val="3814138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Figure S1: </a:t>
            </a:r>
            <a:r>
              <a:rPr lang="en-US" sz="1200" i="0" kern="1200" dirty="0">
                <a:solidFill>
                  <a:schemeClr val="tx1"/>
                </a:solidFill>
                <a:effectLst/>
                <a:latin typeface="+mn-lt"/>
                <a:ea typeface="+mn-ea"/>
                <a:cs typeface="+mn-cs"/>
              </a:rPr>
              <a:t>The number of ECOD GPCR HMMs aligned to each position in sixteen representatives of clusters with multi-GPCRs.  In each one, we can see stretches that are longer than 200 residues with multiple matches. For each panel, the number of cluster and the representative protein is listed. In each one we see multiple stretches that are candidates for GPCR segments. Notice that in some of these proteins there are long stretches that are shorter than a full GPCR (e.g., in cluster #5), as described in the text.</a:t>
            </a:r>
            <a:endParaRPr lang="en-US"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A313F1-89A2-4F65-BE9F-B34717DEE816}" type="slidenum">
              <a:rPr lang="en-US" smtClean="0"/>
              <a:t>6</a:t>
            </a:fld>
            <a:endParaRPr lang="en-US"/>
          </a:p>
        </p:txBody>
      </p:sp>
    </p:spTree>
    <p:extLst>
      <p:ext uri="{BB962C8B-B14F-4D97-AF65-F5344CB8AC3E}">
        <p14:creationId xmlns:p14="http://schemas.microsoft.com/office/powerpoint/2010/main" val="4222602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Figure S2: </a:t>
            </a:r>
            <a:r>
              <a:rPr lang="en-US" sz="1200" i="0" kern="1200" dirty="0">
                <a:solidFill>
                  <a:schemeClr val="tx1"/>
                </a:solidFill>
                <a:effectLst/>
                <a:latin typeface="+mn-lt"/>
                <a:ea typeface="+mn-ea"/>
                <a:cs typeface="+mn-cs"/>
              </a:rPr>
              <a:t>The sequence UPI0010FAD569 was filtered out because there was only a single sufficiently-long segment along the sequence that matches to the ECOD GPCR HMMs (between residues 610-837). The stretch between residues 1086-1184 is not long enough.  Thus, we removed this sequence, and 33 additional (shorter) sequences that were in its CD-HIT cluster.</a:t>
            </a:r>
            <a:endParaRPr lang="en-US"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A313F1-89A2-4F65-BE9F-B34717DEE816}" type="slidenum">
              <a:rPr lang="en-US" smtClean="0"/>
              <a:t>7</a:t>
            </a:fld>
            <a:endParaRPr lang="en-US"/>
          </a:p>
        </p:txBody>
      </p:sp>
    </p:spTree>
    <p:extLst>
      <p:ext uri="{BB962C8B-B14F-4D97-AF65-F5344CB8AC3E}">
        <p14:creationId xmlns:p14="http://schemas.microsoft.com/office/powerpoint/2010/main" val="3133167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 </a:t>
            </a:r>
            <a:r>
              <a:rPr lang="en-US" sz="1200" b="1" kern="1200" dirty="0" err="1">
                <a:solidFill>
                  <a:schemeClr val="tx1"/>
                </a:solidFill>
                <a:effectLst/>
                <a:latin typeface="+mn-lt"/>
                <a:ea typeface="+mn-ea"/>
                <a:cs typeface="+mn-cs"/>
              </a:rPr>
              <a:t>AlphaFold</a:t>
            </a:r>
            <a:r>
              <a:rPr lang="en-US" sz="1200" b="1" kern="1200" dirty="0">
                <a:solidFill>
                  <a:schemeClr val="tx1"/>
                </a:solidFill>
                <a:effectLst/>
                <a:latin typeface="+mn-lt"/>
                <a:ea typeface="+mn-ea"/>
                <a:cs typeface="+mn-cs"/>
              </a:rPr>
              <a:t> predicted aligned errors for the 57 multi-GPCR proteins.</a:t>
            </a:r>
            <a:r>
              <a:rPr lang="en-US" sz="1200" kern="1200" dirty="0">
                <a:solidFill>
                  <a:schemeClr val="tx1"/>
                </a:solidFill>
                <a:effectLst/>
                <a:latin typeface="+mn-lt"/>
                <a:ea typeface="+mn-ea"/>
                <a:cs typeface="+mn-cs"/>
              </a:rPr>
              <a:t> The estimated accuracy of the relative positions of the predicted structures are shown as </a:t>
            </a:r>
            <a:r>
              <a:rPr lang="en-US" sz="1200" kern="1200" dirty="0" err="1">
                <a:solidFill>
                  <a:schemeClr val="tx1"/>
                </a:solidFill>
                <a:effectLst/>
                <a:latin typeface="+mn-lt"/>
                <a:ea typeface="+mn-ea"/>
                <a:cs typeface="+mn-cs"/>
              </a:rPr>
              <a:t>colormaps</a:t>
            </a:r>
            <a:r>
              <a:rPr lang="en-US" sz="1200" kern="1200" dirty="0">
                <a:solidFill>
                  <a:schemeClr val="tx1"/>
                </a:solidFill>
                <a:effectLst/>
                <a:latin typeface="+mn-lt"/>
                <a:ea typeface="+mn-ea"/>
                <a:cs typeface="+mn-cs"/>
              </a:rPr>
              <a:t> of the </a:t>
            </a:r>
            <a:r>
              <a:rPr lang="en-US" sz="1200" i="1" kern="1200" dirty="0" err="1">
                <a:solidFill>
                  <a:schemeClr val="tx1"/>
                </a:solidFill>
                <a:effectLst/>
                <a:latin typeface="+mn-lt"/>
                <a:ea typeface="+mn-ea"/>
                <a:cs typeface="+mn-cs"/>
              </a:rPr>
              <a:t>n</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n</a:t>
            </a:r>
            <a:r>
              <a:rPr lang="en-US" sz="1200" kern="1200" dirty="0">
                <a:solidFill>
                  <a:schemeClr val="tx1"/>
                </a:solidFill>
                <a:effectLst/>
                <a:latin typeface="+mn-lt"/>
                <a:ea typeface="+mn-ea"/>
                <a:cs typeface="+mn-cs"/>
              </a:rPr>
              <a:t> matrix of predicted aligned errors. For each protein of </a:t>
            </a:r>
            <a:r>
              <a:rPr lang="en-US" sz="1200" i="1" kern="1200" dirty="0">
                <a:solidFill>
                  <a:schemeClr val="tx1"/>
                </a:solidFill>
                <a:effectLst/>
                <a:latin typeface="+mn-lt"/>
                <a:ea typeface="+mn-ea"/>
                <a:cs typeface="+mn-cs"/>
              </a:rPr>
              <a:t>n</a:t>
            </a:r>
            <a:r>
              <a:rPr lang="en-US" sz="1200" kern="1200" dirty="0">
                <a:solidFill>
                  <a:schemeClr val="tx1"/>
                </a:solidFill>
                <a:effectLst/>
                <a:latin typeface="+mn-lt"/>
                <a:ea typeface="+mn-ea"/>
                <a:cs typeface="+mn-cs"/>
              </a:rPr>
              <a:t> residues, the color at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 indicates </a:t>
            </a:r>
            <a:r>
              <a:rPr lang="en-US" sz="1200" kern="1200" dirty="0" err="1">
                <a:solidFill>
                  <a:schemeClr val="tx1"/>
                </a:solidFill>
                <a:effectLst/>
                <a:latin typeface="+mn-lt"/>
                <a:ea typeface="+mn-ea"/>
                <a:cs typeface="+mn-cs"/>
              </a:rPr>
              <a:t>AlphaFold’s</a:t>
            </a:r>
            <a:r>
              <a:rPr lang="en-US" sz="1200" kern="1200" dirty="0">
                <a:solidFill>
                  <a:schemeClr val="tx1"/>
                </a:solidFill>
                <a:effectLst/>
                <a:latin typeface="+mn-lt"/>
                <a:ea typeface="+mn-ea"/>
                <a:cs typeface="+mn-cs"/>
              </a:rPr>
              <a:t> expected position error at residue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 if the predicted and true structures were aligned on residue </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AlphaFold</a:t>
            </a:r>
            <a:r>
              <a:rPr lang="en-US" sz="1200" kern="1200" dirty="0">
                <a:solidFill>
                  <a:schemeClr val="tx1"/>
                </a:solidFill>
                <a:effectLst/>
                <a:latin typeface="+mn-lt"/>
                <a:ea typeface="+mn-ea"/>
                <a:cs typeface="+mn-cs"/>
              </a:rPr>
              <a:t> assigns high confidence to relative amino acid positions within the individual GPCR domains (blue shades), and low confidence to the relative orientation of the domains with respect to each other (yellow shades). The </a:t>
            </a:r>
            <a:r>
              <a:rPr lang="en-US" sz="1200" kern="1200" dirty="0" err="1">
                <a:solidFill>
                  <a:schemeClr val="tx1"/>
                </a:solidFill>
                <a:effectLst/>
                <a:latin typeface="+mn-lt"/>
                <a:ea typeface="+mn-ea"/>
                <a:cs typeface="+mn-cs"/>
              </a:rPr>
              <a:t>colormaps</a:t>
            </a:r>
            <a:r>
              <a:rPr lang="en-US" sz="1200" kern="1200" dirty="0">
                <a:solidFill>
                  <a:schemeClr val="tx1"/>
                </a:solidFill>
                <a:effectLst/>
                <a:latin typeface="+mn-lt"/>
                <a:ea typeface="+mn-ea"/>
                <a:cs typeface="+mn-cs"/>
              </a:rPr>
              <a:t> are grouped by their clusters. The pink rectangles mark the four cases (first two multi-GPCRs in cluster #5, first multi-GPCR in cluster #7, and first multi-GPCR in cluster #10) with segments that have fewer than seven helices.</a:t>
            </a:r>
            <a:endParaRPr lang="en-US"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A313F1-89A2-4F65-BE9F-B34717DEE816}" type="slidenum">
              <a:rPr lang="en-US" smtClean="0"/>
              <a:t>8</a:t>
            </a:fld>
            <a:endParaRPr lang="en-US"/>
          </a:p>
        </p:txBody>
      </p:sp>
    </p:spTree>
    <p:extLst>
      <p:ext uri="{BB962C8B-B14F-4D97-AF65-F5344CB8AC3E}">
        <p14:creationId xmlns:p14="http://schemas.microsoft.com/office/powerpoint/2010/main" val="3530914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 Tree of life distribution of homologues of the 57 multi-GPCR proteins.</a:t>
            </a:r>
            <a:r>
              <a:rPr lang="en-US" sz="1200" kern="1200" dirty="0">
                <a:solidFill>
                  <a:schemeClr val="tx1"/>
                </a:solidFill>
                <a:effectLst/>
                <a:latin typeface="+mn-lt"/>
                <a:ea typeface="+mn-ea"/>
                <a:cs typeface="+mn-cs"/>
              </a:rPr>
              <a:t> The proteins are plotted along the x-axis (first two-GPCR domains, then three-GPCR domains, then the four-GPCR domains), ordered as in Table 1. Vertical lines indicate cluster boundaries. Homologues were identified in 106 species, and are shown as leaves of a phylogenetic tree along the y-axis. Colored dots mark the species found with a homologue of a protein: cyan for mammals, green for birds, pink for reptiles, orange for amphibians, and light green for fish.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Cluster 1: Based on these, almost all the multi-GPCR proteins for which we found a functional annotation are olfactory receptors. The only exceptions are the chemokine receptors of cluster #1, which are almost entirely restricted to fish. </a:t>
            </a:r>
          </a:p>
        </p:txBody>
      </p:sp>
      <p:sp>
        <p:nvSpPr>
          <p:cNvPr id="4" name="Slide Number Placeholder 3"/>
          <p:cNvSpPr>
            <a:spLocks noGrp="1"/>
          </p:cNvSpPr>
          <p:nvPr>
            <p:ph type="sldNum" sz="quarter" idx="10"/>
          </p:nvPr>
        </p:nvSpPr>
        <p:spPr/>
        <p:txBody>
          <a:bodyPr/>
          <a:lstStyle/>
          <a:p>
            <a:fld id="{94A313F1-89A2-4F65-BE9F-B34717DEE816}" type="slidenum">
              <a:rPr lang="en-US" smtClean="0"/>
              <a:t>9</a:t>
            </a:fld>
            <a:endParaRPr lang="en-US"/>
          </a:p>
        </p:txBody>
      </p:sp>
    </p:spTree>
    <p:extLst>
      <p:ext uri="{BB962C8B-B14F-4D97-AF65-F5344CB8AC3E}">
        <p14:creationId xmlns:p14="http://schemas.microsoft.com/office/powerpoint/2010/main" val="2209262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molecular switches and locks motifs </a:t>
            </a:r>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Figure 4:</a:t>
            </a:r>
            <a:r>
              <a:rPr lang="en-US" sz="1200" i="1"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Predicted structure of three-GPCR-domain S7QBY2 (from bat). </a:t>
            </a:r>
            <a:r>
              <a:rPr lang="en-US" sz="1200" kern="1200" dirty="0">
                <a:solidFill>
                  <a:schemeClr val="tx1"/>
                </a:solidFill>
                <a:effectLst/>
                <a:latin typeface="+mn-lt"/>
                <a:ea typeface="+mn-ea"/>
                <a:cs typeface="+mn-cs"/>
              </a:rPr>
              <a:t>(A) Predicted model with the first, second, and third successive GPCR domains of the protein colored orange, green, and wheat, respectively. The inferred extracellular and intracellular membrane boundaries are also shown (calculated by the OPM web server[</a:t>
            </a:r>
            <a:r>
              <a:rPr lang="en-US" sz="1200" u="none" strike="noStrike" kern="1200" dirty="0">
                <a:solidFill>
                  <a:schemeClr val="tx1"/>
                </a:solidFill>
                <a:effectLst/>
                <a:latin typeface="+mn-lt"/>
                <a:ea typeface="+mn-ea"/>
                <a:cs typeface="+mn-cs"/>
                <a:hlinkClick r:id="rId3" action="ppaction://hlinkfile" tooltip="Lomize, 2012 #1883"/>
              </a:rPr>
              <a:t>36</a:t>
            </a:r>
            <a:r>
              <a:rPr lang="en-US" sz="1200" kern="1200" dirty="0">
                <a:solidFill>
                  <a:schemeClr val="tx1"/>
                </a:solidFill>
                <a:effectLst/>
                <a:latin typeface="+mn-lt"/>
                <a:ea typeface="+mn-ea"/>
                <a:cs typeface="+mn-cs"/>
              </a:rPr>
              <a:t>]), as blue and red spheres, respectively. The membrane topologies of the domains are shown by noting their </a:t>
            </a:r>
            <a:r>
              <a:rPr lang="en-US" sz="1200" i="1" kern="1200" dirty="0">
                <a:solidFill>
                  <a:schemeClr val="tx1"/>
                </a:solidFill>
                <a:effectLst/>
                <a:latin typeface="+mn-lt"/>
                <a:ea typeface="+mn-ea"/>
                <a:cs typeface="+mn-cs"/>
              </a:rPr>
              <a:t>N</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-termini and the intracellular (IC) and extracellular (CE) loops. The arginine and lysine residues (cyan spheres) are asymmetrically distributed in keeping with the positive-inside rule [</a:t>
            </a:r>
            <a:r>
              <a:rPr lang="en-US" sz="1200" u="none" strike="noStrike" kern="1200" dirty="0">
                <a:solidFill>
                  <a:schemeClr val="tx1"/>
                </a:solidFill>
                <a:effectLst/>
                <a:latin typeface="+mn-lt"/>
                <a:ea typeface="+mn-ea"/>
                <a:cs typeface="+mn-cs"/>
                <a:hlinkClick r:id="rId4" action="ppaction://hlinkfile" tooltip="Von Heijne, 1992 #1859"/>
              </a:rPr>
              <a:t>29</a:t>
            </a:r>
            <a:r>
              <a:rPr lang="en-US" sz="1200" kern="1200" dirty="0">
                <a:solidFill>
                  <a:schemeClr val="tx1"/>
                </a:solidFill>
                <a:effectLst/>
                <a:latin typeface="+mn-lt"/>
                <a:ea typeface="+mn-ea"/>
                <a:cs typeface="+mn-cs"/>
              </a:rPr>
              <a:t>]. (B) Left: Side view of the structure with the three GPCR domains superimposed onto the structure of the G protein-bound (activated) β2-adrenergic receptor (β</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-AR, PDB ID: 3sn6). The β</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-AR receptor is colored yellow and the α, β, and γ subunits of the G protein are colored blue, cyan, and magenta. Right: An enlarged view of the G protein-binding site. The β</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-AR and superimposed domains of S7QBY2 are rotated 90° to show the binding site. For clarity, only the α5 helix of the G protein is shown; this region directly interacts with the GPCR. The image clearly shows that all three domains of S7QBY2 contain a cavity that corresponds to the G protein-binding site of the β</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-AR. Moreover, all domains contain the </a:t>
            </a:r>
            <a:r>
              <a:rPr lang="en-US" sz="1200" kern="1200" dirty="0" err="1">
                <a:solidFill>
                  <a:schemeClr val="tx1"/>
                </a:solidFill>
                <a:effectLst/>
                <a:latin typeface="+mn-lt"/>
                <a:ea typeface="+mn-ea"/>
                <a:cs typeface="+mn-cs"/>
              </a:rPr>
              <a:t>VAICxPLxY</a:t>
            </a:r>
            <a:r>
              <a:rPr lang="en-US" sz="1200" kern="1200" dirty="0">
                <a:solidFill>
                  <a:schemeClr val="tx1"/>
                </a:solidFill>
                <a:effectLst/>
                <a:latin typeface="+mn-lt"/>
                <a:ea typeface="+mn-ea"/>
                <a:cs typeface="+mn-cs"/>
              </a:rPr>
              <a:t> and KAFSTCASH motifs (pink and red spheres, respectively), which directly interact with the α5 helix of the G protein.     </a:t>
            </a:r>
          </a:p>
        </p:txBody>
      </p:sp>
      <p:sp>
        <p:nvSpPr>
          <p:cNvPr id="4" name="Slide Number Placeholder 3"/>
          <p:cNvSpPr>
            <a:spLocks noGrp="1"/>
          </p:cNvSpPr>
          <p:nvPr>
            <p:ph type="sldNum" sz="quarter" idx="10"/>
          </p:nvPr>
        </p:nvSpPr>
        <p:spPr/>
        <p:txBody>
          <a:bodyPr/>
          <a:lstStyle/>
          <a:p>
            <a:fld id="{ED68FE72-12E1-4135-906B-C01A818907FF}" type="slidenum">
              <a:rPr lang="en-US" smtClean="0"/>
              <a:t>10</a:t>
            </a:fld>
            <a:endParaRPr lang="en-US"/>
          </a:p>
        </p:txBody>
      </p:sp>
    </p:spTree>
    <p:extLst>
      <p:ext uri="{BB962C8B-B14F-4D97-AF65-F5344CB8AC3E}">
        <p14:creationId xmlns:p14="http://schemas.microsoft.com/office/powerpoint/2010/main" val="2183802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44f29dcd8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44f29dcd8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–best homology–</a:t>
            </a:r>
            <a:endParaRPr dirty="0"/>
          </a:p>
          <a:p>
            <a:pPr marL="0" lvl="0" indent="0" algn="l" rtl="0">
              <a:spcBef>
                <a:spcPts val="0"/>
              </a:spcBef>
              <a:spcAft>
                <a:spcPts val="0"/>
              </a:spcAft>
              <a:buNone/>
            </a:pPr>
            <a:r>
              <a:rPr lang="en-CA" dirty="0"/>
              <a:t>Homology was detected using PSI-Blast from NCBI.</a:t>
            </a:r>
            <a:endParaRPr dirty="0"/>
          </a:p>
          <a:p>
            <a:pPr marL="0" lvl="0" indent="0" algn="l" rtl="0">
              <a:spcBef>
                <a:spcPts val="0"/>
              </a:spcBef>
              <a:spcAft>
                <a:spcPts val="0"/>
              </a:spcAft>
              <a:buNone/>
            </a:pPr>
            <a:r>
              <a:rPr lang="en-CA" dirty="0"/>
              <a:t>First domain: CCR2 from Macaca mulatta with 84% identity and 100% coverage.</a:t>
            </a:r>
            <a:endParaRPr dirty="0"/>
          </a:p>
          <a:p>
            <a:pPr marL="0" lvl="0" indent="0" algn="l" rtl="0">
              <a:spcBef>
                <a:spcPts val="0"/>
              </a:spcBef>
              <a:spcAft>
                <a:spcPts val="0"/>
              </a:spcAft>
              <a:buNone/>
            </a:pPr>
            <a:r>
              <a:rPr lang="en-CA" dirty="0"/>
              <a:t>Second domain: CCR5 from Bos taurus with 99.6% identity and 100% coverage.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CA" dirty="0"/>
              <a:t>Note: first domain also has high-scoring homologies with CCR5 receptors, they seem to be relatively similar to each other.</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4b35d518c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4b35d518c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The structure is predicted by AlphaFold2, which is depicted in red. PDB structures with their bound native ligands of the best homologues (CCR2 (7XA3) and CCR5 (5UIW) respectively). The ligands were docked by superimposing the PDB receptor with the </a:t>
            </a:r>
            <a:r>
              <a:rPr lang="en-CA" dirty="0" err="1"/>
              <a:t>mGPCR</a:t>
            </a:r>
            <a:r>
              <a:rPr lang="en-CA" dirty="0"/>
              <a:t> receptor domains. RMSD’s between receptors, and AF2 predicted structures:</a:t>
            </a:r>
            <a:endParaRPr dirty="0"/>
          </a:p>
          <a:p>
            <a:pPr marL="0" lvl="0" indent="0" algn="l" rtl="0">
              <a:spcBef>
                <a:spcPts val="0"/>
              </a:spcBef>
              <a:spcAft>
                <a:spcPts val="0"/>
              </a:spcAft>
              <a:buNone/>
            </a:pPr>
            <a:r>
              <a:rPr lang="en-CA" dirty="0"/>
              <a:t>CCR2 – first domain: 1.391</a:t>
            </a:r>
            <a:endParaRPr dirty="0"/>
          </a:p>
          <a:p>
            <a:pPr marL="0" lvl="0" indent="0" algn="l" rtl="0">
              <a:spcBef>
                <a:spcPts val="0"/>
              </a:spcBef>
              <a:spcAft>
                <a:spcPts val="0"/>
              </a:spcAft>
              <a:buNone/>
            </a:pPr>
            <a:r>
              <a:rPr lang="en-CA" dirty="0"/>
              <a:t>CCR5 – second domain: 0.506</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4b35d518cd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4b35d518cd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CA">
                <a:solidFill>
                  <a:schemeClr val="dk1"/>
                </a:solidFill>
              </a:rPr>
              <a:t>This is the view of the cow genome (chromosome 22) where the two chemokine receptors are located.</a:t>
            </a:r>
            <a:endParaRPr>
              <a:solidFill>
                <a:schemeClr val="dk1"/>
              </a:solidFill>
            </a:endParaRPr>
          </a:p>
          <a:p>
            <a:pPr marL="0" lvl="0" indent="0" algn="l" rtl="0">
              <a:spcBef>
                <a:spcPts val="0"/>
              </a:spcBef>
              <a:spcAft>
                <a:spcPts val="0"/>
              </a:spcAft>
              <a:buClr>
                <a:schemeClr val="dk1"/>
              </a:buClr>
              <a:buSzPts val="1100"/>
              <a:buFont typeface="Arial"/>
              <a:buNone/>
            </a:pPr>
            <a:r>
              <a:rPr lang="en-CA">
                <a:solidFill>
                  <a:schemeClr val="dk1"/>
                </a:solidFill>
              </a:rPr>
              <a:t>This presents a few possibilities:</a:t>
            </a:r>
            <a:endParaRPr>
              <a:solidFill>
                <a:schemeClr val="dk1"/>
              </a:solidFill>
            </a:endParaRPr>
          </a:p>
          <a:p>
            <a:pPr marL="457200" lvl="0" indent="-298450" algn="l" rtl="0">
              <a:spcBef>
                <a:spcPts val="0"/>
              </a:spcBef>
              <a:spcAft>
                <a:spcPts val="0"/>
              </a:spcAft>
              <a:buClr>
                <a:schemeClr val="dk1"/>
              </a:buClr>
              <a:buSzPts val="1100"/>
              <a:buAutoNum type="arabicPeriod"/>
            </a:pPr>
            <a:r>
              <a:rPr lang="en-CA">
                <a:solidFill>
                  <a:schemeClr val="dk1"/>
                </a:solidFill>
              </a:rPr>
              <a:t>There is also alternative splicing that might produce this di-chemokine GPCR in cows as well.</a:t>
            </a:r>
            <a:endParaRPr>
              <a:solidFill>
                <a:schemeClr val="dk1"/>
              </a:solidFill>
            </a:endParaRPr>
          </a:p>
          <a:p>
            <a:pPr marL="457200" lvl="0" indent="-298450" algn="l" rtl="0">
              <a:spcBef>
                <a:spcPts val="0"/>
              </a:spcBef>
              <a:spcAft>
                <a:spcPts val="0"/>
              </a:spcAft>
              <a:buClr>
                <a:schemeClr val="dk1"/>
              </a:buClr>
              <a:buSzPts val="1100"/>
              <a:buAutoNum type="arabicPeriod"/>
            </a:pPr>
            <a:r>
              <a:rPr lang="en-CA">
                <a:solidFill>
                  <a:schemeClr val="dk1"/>
                </a:solidFill>
              </a:rPr>
              <a:t>These two genes somehow evolved  elsewhere to be multi-GPCRs (i.e. not present in cows but in wild yak)</a:t>
            </a:r>
            <a:endParaRPr>
              <a:solidFill>
                <a:schemeClr val="dk1"/>
              </a:solidFill>
            </a:endParaRPr>
          </a:p>
          <a:p>
            <a:pPr marL="457200" lvl="0" indent="-298450" algn="l" rtl="0">
              <a:spcBef>
                <a:spcPts val="0"/>
              </a:spcBef>
              <a:spcAft>
                <a:spcPts val="0"/>
              </a:spcAft>
              <a:buClr>
                <a:schemeClr val="dk1"/>
              </a:buClr>
              <a:buSzPts val="1100"/>
              <a:buAutoNum type="arabicPeriod"/>
            </a:pPr>
            <a:r>
              <a:rPr lang="en-CA">
                <a:solidFill>
                  <a:schemeClr val="dk1"/>
                </a:solidFill>
              </a:rPr>
              <a:t>There is misannotation in the multi-GPCR that we found, probably due to them being this close in the genome.</a:t>
            </a:r>
            <a:endParaRPr>
              <a:solidFill>
                <a:schemeClr val="dk1"/>
              </a:solidFill>
            </a:endParaRPr>
          </a:p>
          <a:p>
            <a:pPr marL="457200" lvl="0" indent="-298450" algn="l" rtl="0">
              <a:spcBef>
                <a:spcPts val="0"/>
              </a:spcBef>
              <a:spcAft>
                <a:spcPts val="0"/>
              </a:spcAft>
              <a:buClr>
                <a:schemeClr val="dk1"/>
              </a:buClr>
              <a:buSzPts val="1100"/>
              <a:buAutoNum type="arabicPeriod"/>
            </a:pPr>
            <a:r>
              <a:rPr lang="en-CA">
                <a:solidFill>
                  <a:schemeClr val="dk1"/>
                </a:solidFill>
              </a:rPr>
              <a:t>There is another unknown reason for them to be together in the genome across multiple species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4b35d518cd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4b35d518cd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a:t>This is the view of the human genome (this time chromosome 3) where the two chemokine receptors are located.</a:t>
            </a:r>
            <a:endParaRPr/>
          </a:p>
          <a:p>
            <a:pPr marL="0" lvl="0" indent="0" algn="l" rtl="0">
              <a:spcBef>
                <a:spcPts val="0"/>
              </a:spcBef>
              <a:spcAft>
                <a:spcPts val="0"/>
              </a:spcAft>
              <a:buNone/>
            </a:pPr>
            <a:r>
              <a:rPr lang="en-CA"/>
              <a:t>This presents the same possibilities mentioned in the slide before.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4b35d518c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4b35d518c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Coming from the argumentation from the genomes: that the two chemokine receptor genes are “too close” to be always separate, these are the tissue expressions of the chemokine receptors. The authors that made the original figure used transcript data from </a:t>
            </a:r>
            <a:r>
              <a:rPr lang="en-CA" u="sng" dirty="0">
                <a:solidFill>
                  <a:schemeClr val="hlink"/>
                </a:solidFill>
                <a:hlinkClick r:id="rId3"/>
              </a:rPr>
              <a:t>https://www.immgen.org/</a:t>
            </a:r>
            <a:r>
              <a:rPr lang="en-CA" dirty="0"/>
              <a:t>, and made this figure. The chemokine receptors that are close together and express in the same tissue are noted in different colors.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CA" dirty="0"/>
              <a:t>On the y-axis, there are different immune-related cell types (e.g. B cell precursors, T cells, etc.). On the x-axis there are the different chemokine receptors. White means not expressed (or not detected in this analysis), and darker blues mean more expression. Some of them are marked with red, green, or magenta. These are the ones where chemokine receptors are simultaneously expressed and are proximal in the genome. I believe that if we are to find bi-chemokine receptors, these tissues are the ones to look at where alternative splicing is a good possibility for the production of multi-GPCRs.</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l">
              <a:spcBef>
                <a:spcPct val="0"/>
              </a:spcBef>
            </a:pPr>
            <a:fld id="{E8F96F7F-27F6-4326-A63C-CA33B75E4CC4}" type="slidenum">
              <a:rPr lang="en-US" altLang="en-US" smtClean="0">
                <a:solidFill>
                  <a:srgbClr val="000000"/>
                </a:solidFill>
                <a:ea typeface="Times New Roman (Hebrew)" panose="02020603050405020304" pitchFamily="18" charset="0"/>
                <a:cs typeface="Arial" panose="020B0604020202020204" pitchFamily="34" charset="0"/>
              </a:rPr>
              <a:pPr algn="l">
                <a:spcBef>
                  <a:spcPct val="0"/>
                </a:spcBef>
              </a:pPr>
              <a:t>16</a:t>
            </a:fld>
            <a:endParaRPr lang="en-US" altLang="en-US">
              <a:solidFill>
                <a:srgbClr val="000000"/>
              </a:solidFill>
              <a:ea typeface="Times New Roman (Hebrew)" panose="02020603050405020304" pitchFamily="18" charset="0"/>
              <a:cs typeface="Arial" panose="020B0604020202020204" pitchFamily="34" charset="0"/>
            </a:endParaRPr>
          </a:p>
        </p:txBody>
      </p:sp>
      <p:sp>
        <p:nvSpPr>
          <p:cNvPr id="250883" name="Rectangle 1026"/>
          <p:cNvSpPr>
            <a:spLocks noGrp="1" noRot="1" noChangeAspect="1" noChangeArrowheads="1" noTextEdit="1"/>
          </p:cNvSpPr>
          <p:nvPr>
            <p:ph type="sldImg"/>
          </p:nvPr>
        </p:nvSpPr>
        <p:spPr>
          <a:ln/>
        </p:spPr>
      </p:sp>
      <p:sp>
        <p:nvSpPr>
          <p:cNvPr id="23556" name="Rectangle 1027"/>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l" rtl="0" eaLnBrk="1" hangingPunct="1">
              <a:buFont typeface="Arial" panose="020B0604020202020204" pitchFamily="34" charset="0"/>
              <a:buChar char="•"/>
              <a:defRPr/>
            </a:pPr>
            <a:r>
              <a:rPr lang="en-US" altLang="en-US" dirty="0"/>
              <a:t>Another feature that may</a:t>
            </a:r>
            <a:r>
              <a:rPr lang="en-US" altLang="en-US" baseline="0" dirty="0"/>
              <a:t> be different between the classes is the effect of dimerization/oligomerization: i</a:t>
            </a:r>
            <a:r>
              <a:rPr lang="en-US" altLang="en-US" dirty="0"/>
              <a:t>n class A GPCRs both monomeric and homo-dimeric (or oligomeric) forms are active, and the role of dimerization/oligomerization is mostly regulatory (cooperativity, crosstalk). </a:t>
            </a:r>
          </a:p>
          <a:p>
            <a:pPr marL="171450" indent="-171450" algn="l" rtl="0" eaLnBrk="1" hangingPunct="1">
              <a:buFont typeface="Arial" panose="020B0604020202020204" pitchFamily="34" charset="0"/>
              <a:buChar char="•"/>
              <a:defRPr/>
            </a:pPr>
            <a:r>
              <a:rPr lang="en-US" altLang="en-US" dirty="0"/>
              <a:t>In class C GPCRs only the hetero-dimer is active, and each chain may have a different role. For example, in the </a:t>
            </a:r>
            <a:r>
              <a:rPr lang="en-US" dirty="0"/>
              <a:t>GABA</a:t>
            </a:r>
            <a:r>
              <a:rPr lang="en-US" baseline="-25000" dirty="0"/>
              <a:t>B</a:t>
            </a:r>
            <a:r>
              <a:rPr lang="en-US" dirty="0"/>
              <a:t> receptor one polypeptide chain binds the ligand whereas the other binds the G-protein </a:t>
            </a:r>
            <a:r>
              <a:rPr lang="en-US" baseline="30000" dirty="0"/>
              <a:t>[393]</a:t>
            </a:r>
            <a:r>
              <a:rPr lang="en-US" dirty="0"/>
              <a:t>, and is also needed for bringing the entire receptor to the cell surface.</a:t>
            </a:r>
          </a:p>
          <a:p>
            <a:pPr algn="l" rtl="0" eaLnBrk="1" hangingPunct="1">
              <a:defRPr/>
            </a:pPr>
            <a:endParaRPr lang="en-US" altLang="en-US" b="1" dirty="0"/>
          </a:p>
          <a:p>
            <a:pPr algn="l" rtl="0" eaLnBrk="1" hangingPunct="1">
              <a:defRPr/>
            </a:pPr>
            <a:r>
              <a:rPr lang="en-US" altLang="en-US" b="1" dirty="0"/>
              <a:t>Figure 7.35. A two-fold symmetric dimer formed by the μ-opioid receptor. </a:t>
            </a:r>
            <a:r>
              <a:rPr lang="en-US" altLang="en-US" dirty="0"/>
              <a:t>The receptor (PDB entry 4dkl) is shown in a surface representation from the side (a) and top (extracellular) (b). Each monomer is colored differently. The two bound ligands (one in each monomer) are shown as spheres. The red and blue lines mark the predicted boundaries of the membrane (the OPM database [135]). The dimerization is mediated by a four-helix bundle motif, formed by TM5 and TM6 (shown as cylinders). On their opposite side TMs 5 and 6 line the ligand-binding sites, which may be related to the role of dimerization in regulating receptor activity. </a:t>
            </a:r>
          </a:p>
        </p:txBody>
      </p:sp>
    </p:spTree>
    <p:extLst>
      <p:ext uri="{BB962C8B-B14F-4D97-AF65-F5344CB8AC3E}">
        <p14:creationId xmlns:p14="http://schemas.microsoft.com/office/powerpoint/2010/main" val="9329428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molecular switches and locks motifs </a:t>
            </a:r>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Figure 4:</a:t>
            </a:r>
            <a:r>
              <a:rPr lang="en-US" sz="1200" i="1"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Predicted structure of three-GPCR-domain S7QBY2 (from bat). </a:t>
            </a:r>
            <a:r>
              <a:rPr lang="en-US" sz="1200" kern="1200" dirty="0">
                <a:solidFill>
                  <a:schemeClr val="tx1"/>
                </a:solidFill>
                <a:effectLst/>
                <a:latin typeface="+mn-lt"/>
                <a:ea typeface="+mn-ea"/>
                <a:cs typeface="+mn-cs"/>
              </a:rPr>
              <a:t>(A) Predicted model with the first, second, and third successive GPCR domains of the protein colored orange, green, and wheat, respectively. The inferred extracellular and intracellular membrane boundaries are also shown (calculated by </a:t>
            </a:r>
            <a:r>
              <a:rPr lang="en-US" sz="1200" kern="1200">
                <a:solidFill>
                  <a:schemeClr val="tx1"/>
                </a:solidFill>
                <a:effectLst/>
                <a:latin typeface="+mn-lt"/>
                <a:ea typeface="+mn-ea"/>
                <a:cs typeface="+mn-cs"/>
              </a:rPr>
              <a:t>the OPM </a:t>
            </a:r>
            <a:r>
              <a:rPr lang="en-US" sz="1200" kern="1200" dirty="0">
                <a:solidFill>
                  <a:schemeClr val="tx1"/>
                </a:solidFill>
                <a:effectLst/>
                <a:latin typeface="+mn-lt"/>
                <a:ea typeface="+mn-ea"/>
                <a:cs typeface="+mn-cs"/>
              </a:rPr>
              <a:t>web server[</a:t>
            </a:r>
            <a:r>
              <a:rPr lang="en-US" sz="1200" u="none" strike="noStrike" kern="1200" dirty="0">
                <a:solidFill>
                  <a:schemeClr val="tx1"/>
                </a:solidFill>
                <a:effectLst/>
                <a:latin typeface="+mn-lt"/>
                <a:ea typeface="+mn-ea"/>
                <a:cs typeface="+mn-cs"/>
                <a:hlinkClick r:id="rId3" action="ppaction://hlinkfile" tooltip="Lomize, 2012 #1883"/>
              </a:rPr>
              <a:t>36</a:t>
            </a:r>
            <a:r>
              <a:rPr lang="en-US" sz="1200" kern="1200" dirty="0">
                <a:solidFill>
                  <a:schemeClr val="tx1"/>
                </a:solidFill>
                <a:effectLst/>
                <a:latin typeface="+mn-lt"/>
                <a:ea typeface="+mn-ea"/>
                <a:cs typeface="+mn-cs"/>
              </a:rPr>
              <a:t>]), as blue and red spheres, respectively. The membrane topologies of the domains are shown by noting their </a:t>
            </a:r>
            <a:r>
              <a:rPr lang="en-US" sz="1200" i="1" kern="1200" dirty="0">
                <a:solidFill>
                  <a:schemeClr val="tx1"/>
                </a:solidFill>
                <a:effectLst/>
                <a:latin typeface="+mn-lt"/>
                <a:ea typeface="+mn-ea"/>
                <a:cs typeface="+mn-cs"/>
              </a:rPr>
              <a:t>N</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-termini and the intracellular (IC) and extracellular (CE) loops. The arginine and lysine residues (cyan spheres) are asymmetrically distributed in keeping with the positive-inside rule [</a:t>
            </a:r>
            <a:r>
              <a:rPr lang="en-US" sz="1200" u="none" strike="noStrike" kern="1200" dirty="0">
                <a:solidFill>
                  <a:schemeClr val="tx1"/>
                </a:solidFill>
                <a:effectLst/>
                <a:latin typeface="+mn-lt"/>
                <a:ea typeface="+mn-ea"/>
                <a:cs typeface="+mn-cs"/>
                <a:hlinkClick r:id="rId4" action="ppaction://hlinkfile" tooltip="Von Heijne, 1992 #1859"/>
              </a:rPr>
              <a:t>29</a:t>
            </a:r>
            <a:r>
              <a:rPr lang="en-US" sz="1200" kern="1200" dirty="0">
                <a:solidFill>
                  <a:schemeClr val="tx1"/>
                </a:solidFill>
                <a:effectLst/>
                <a:latin typeface="+mn-lt"/>
                <a:ea typeface="+mn-ea"/>
                <a:cs typeface="+mn-cs"/>
              </a:rPr>
              <a:t>]. (B) Left: Side view of the structure with the three GPCR domains superimposed onto the structure of the G protein-bound (activated) β2-adrenergic receptor (β</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-AR, PDB ID: 3sn6). The β</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-AR receptor is colored yellow and the α, β, and γ subunits of the G protein are colored blue, cyan, and magenta. Right: An enlarged view of the G protein-binding site. The β</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-AR and superimposed domains of S7QBY2 are rotated 90° to show the binding site. For clarity, only the α5 helix of the G protein is shown; this region directly interacts with the GPCR. The image clearly shows that all three domains of S7QBY2 contain a cavity that corresponds to the G protein-binding site of the β</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-AR. Moreover, all domains contain the </a:t>
            </a:r>
            <a:r>
              <a:rPr lang="en-US" sz="1200" kern="1200" dirty="0" err="1">
                <a:solidFill>
                  <a:schemeClr val="tx1"/>
                </a:solidFill>
                <a:effectLst/>
                <a:latin typeface="+mn-lt"/>
                <a:ea typeface="+mn-ea"/>
                <a:cs typeface="+mn-cs"/>
              </a:rPr>
              <a:t>VAICxPLxY</a:t>
            </a:r>
            <a:r>
              <a:rPr lang="en-US" sz="1200" kern="1200" dirty="0">
                <a:solidFill>
                  <a:schemeClr val="tx1"/>
                </a:solidFill>
                <a:effectLst/>
                <a:latin typeface="+mn-lt"/>
                <a:ea typeface="+mn-ea"/>
                <a:cs typeface="+mn-cs"/>
              </a:rPr>
              <a:t> and KAFSTCASH motifs (pink and red spheres, respectively), which directly interact with the α5 helix of the G protein.     </a:t>
            </a:r>
          </a:p>
        </p:txBody>
      </p:sp>
      <p:sp>
        <p:nvSpPr>
          <p:cNvPr id="4" name="Slide Number Placeholder 3"/>
          <p:cNvSpPr>
            <a:spLocks noGrp="1"/>
          </p:cNvSpPr>
          <p:nvPr>
            <p:ph type="sldNum" sz="quarter" idx="10"/>
          </p:nvPr>
        </p:nvSpPr>
        <p:spPr/>
        <p:txBody>
          <a:bodyPr/>
          <a:lstStyle/>
          <a:p>
            <a:fld id="{ED68FE72-12E1-4135-906B-C01A818907FF}" type="slidenum">
              <a:rPr lang="en-US" smtClean="0"/>
              <a:t>17</a:t>
            </a:fld>
            <a:endParaRPr lang="en-US"/>
          </a:p>
        </p:txBody>
      </p:sp>
    </p:spTree>
    <p:extLst>
      <p:ext uri="{BB962C8B-B14F-4D97-AF65-F5344CB8AC3E}">
        <p14:creationId xmlns:p14="http://schemas.microsoft.com/office/powerpoint/2010/main" val="29325962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A313F1-89A2-4F65-BE9F-B34717DEE816}" type="slidenum">
              <a:rPr lang="en-US" smtClean="0"/>
              <a:t>18</a:t>
            </a:fld>
            <a:endParaRPr lang="en-US"/>
          </a:p>
        </p:txBody>
      </p:sp>
    </p:spTree>
    <p:extLst>
      <p:ext uri="{BB962C8B-B14F-4D97-AF65-F5344CB8AC3E}">
        <p14:creationId xmlns:p14="http://schemas.microsoft.com/office/powerpoint/2010/main" val="32771653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3: Predicted structure of two-GPCR-domain A0A3L7HXX2.</a:t>
            </a:r>
            <a:r>
              <a:rPr lang="en-US" sz="1200" kern="1200" dirty="0">
                <a:solidFill>
                  <a:schemeClr val="tx1"/>
                </a:solidFill>
                <a:effectLst/>
                <a:latin typeface="+mn-lt"/>
                <a:ea typeface="+mn-ea"/>
                <a:cs typeface="+mn-cs"/>
              </a:rPr>
              <a:t> (A) Kessel &amp; Ben-Tal scale hydrophobicity scores of the linker region. The most hydrophobic 20-residue and 15-residue windows within the linker are indicated. (B) </a:t>
            </a:r>
            <a:r>
              <a:rPr lang="en-US" sz="1200" kern="1200" dirty="0" err="1">
                <a:solidFill>
                  <a:schemeClr val="tx1"/>
                </a:solidFill>
                <a:effectLst/>
                <a:latin typeface="+mn-lt"/>
                <a:ea typeface="+mn-ea"/>
                <a:cs typeface="+mn-cs"/>
              </a:rPr>
              <a:t>Heatmap</a:t>
            </a:r>
            <a:r>
              <a:rPr lang="en-US" sz="1200" kern="1200" dirty="0">
                <a:solidFill>
                  <a:schemeClr val="tx1"/>
                </a:solidFill>
                <a:effectLst/>
                <a:latin typeface="+mn-lt"/>
                <a:ea typeface="+mn-ea"/>
                <a:cs typeface="+mn-cs"/>
              </a:rPr>
              <a:t> visualization of the predicted errors in the pairwise positioning of the residues in A0A3L7HXX2 in the structure predicted by </a:t>
            </a:r>
            <a:r>
              <a:rPr lang="en-US" sz="1200" kern="1200" dirty="0" err="1">
                <a:solidFill>
                  <a:schemeClr val="tx1"/>
                </a:solidFill>
                <a:effectLst/>
                <a:latin typeface="+mn-lt"/>
                <a:ea typeface="+mn-ea"/>
                <a:cs typeface="+mn-cs"/>
              </a:rPr>
              <a:t>AlphaFold</a:t>
            </a:r>
            <a:r>
              <a:rPr lang="en-US" sz="1200" kern="1200" dirty="0">
                <a:solidFill>
                  <a:schemeClr val="tx1"/>
                </a:solidFill>
                <a:effectLst/>
                <a:latin typeface="+mn-lt"/>
                <a:ea typeface="+mn-ea"/>
                <a:cs typeface="+mn-cs"/>
              </a:rPr>
              <a:t>. The positioning of residues within each of the GPCR domains is predicted to be accurate, whereas the relative positioning of the two domains and the linker structure are not. (C) The most confident model (</a:t>
            </a:r>
            <a:r>
              <a:rPr lang="en-US" sz="1200" kern="1200" dirty="0" err="1">
                <a:solidFill>
                  <a:schemeClr val="tx1"/>
                </a:solidFill>
                <a:effectLst/>
                <a:latin typeface="+mn-lt"/>
                <a:ea typeface="+mn-ea"/>
                <a:cs typeface="+mn-cs"/>
              </a:rPr>
              <a:t>pTM</a:t>
            </a:r>
            <a:r>
              <a:rPr lang="en-US" sz="1200" kern="1200" dirty="0">
                <a:solidFill>
                  <a:schemeClr val="tx1"/>
                </a:solidFill>
                <a:effectLst/>
                <a:latin typeface="+mn-lt"/>
                <a:ea typeface="+mn-ea"/>
                <a:cs typeface="+mn-cs"/>
              </a:rPr>
              <a:t> 81.5) from </a:t>
            </a:r>
            <a:r>
              <a:rPr lang="en-US" sz="1200" kern="1200" dirty="0" err="1">
                <a:solidFill>
                  <a:schemeClr val="tx1"/>
                </a:solidFill>
                <a:effectLst/>
                <a:latin typeface="+mn-lt"/>
                <a:ea typeface="+mn-ea"/>
                <a:cs typeface="+mn-cs"/>
              </a:rPr>
              <a:t>AlphaFold</a:t>
            </a:r>
            <a:r>
              <a:rPr lang="en-US" sz="1200" kern="1200" dirty="0">
                <a:solidFill>
                  <a:schemeClr val="tx1"/>
                </a:solidFill>
                <a:effectLst/>
                <a:latin typeface="+mn-lt"/>
                <a:ea typeface="+mn-ea"/>
                <a:cs typeface="+mn-cs"/>
              </a:rPr>
              <a:t>, colored by the </a:t>
            </a:r>
            <a:r>
              <a:rPr lang="en-US" sz="1200" kern="1200" dirty="0" err="1">
                <a:solidFill>
                  <a:schemeClr val="tx1"/>
                </a:solidFill>
                <a:effectLst/>
                <a:latin typeface="+mn-lt"/>
                <a:ea typeface="+mn-ea"/>
                <a:cs typeface="+mn-cs"/>
              </a:rPr>
              <a:t>pLDDT</a:t>
            </a:r>
            <a:r>
              <a:rPr lang="en-US" sz="1200" kern="1200" dirty="0">
                <a:solidFill>
                  <a:schemeClr val="tx1"/>
                </a:solidFill>
                <a:effectLst/>
                <a:latin typeface="+mn-lt"/>
                <a:ea typeface="+mn-ea"/>
                <a:cs typeface="+mn-cs"/>
              </a:rPr>
              <a:t> confidence measure with the linker, residues 312-358 (red), modeled manually. The first 20 positions of the linker, which contain many polar and charged amino acids, are organized as a random coil mostly outside the membrane, and the remaining mostly hydrophobic 25 amino acids form an alpha-helix that crosses the membrane, placing both GPCRs in the same orientation. The extracellular (small blue spheres) and intracellular (small red spheres) boundaries of the membrane are also shown (predicted by the OPM web server). (D) Model as in panel C with the two GPCR domains colored wheat and pale green and the linker region colored red with atoms shown as spheres. (E) Model as in panel C with the structure colored by the Kessel &amp; Ben-Tal hydrophobicity scale scores. </a:t>
            </a:r>
          </a:p>
        </p:txBody>
      </p:sp>
      <p:sp>
        <p:nvSpPr>
          <p:cNvPr id="4" name="Slide Number Placeholder 3"/>
          <p:cNvSpPr>
            <a:spLocks noGrp="1"/>
          </p:cNvSpPr>
          <p:nvPr>
            <p:ph type="sldNum" sz="quarter" idx="10"/>
          </p:nvPr>
        </p:nvSpPr>
        <p:spPr/>
        <p:txBody>
          <a:bodyPr/>
          <a:lstStyle/>
          <a:p>
            <a:fld id="{ED68FE72-12E1-4135-906B-C01A818907FF}" type="slidenum">
              <a:rPr lang="en-US" smtClean="0"/>
              <a:t>19</a:t>
            </a:fld>
            <a:endParaRPr lang="en-US"/>
          </a:p>
        </p:txBody>
      </p:sp>
    </p:spTree>
    <p:extLst>
      <p:ext uri="{BB962C8B-B14F-4D97-AF65-F5344CB8AC3E}">
        <p14:creationId xmlns:p14="http://schemas.microsoft.com/office/powerpoint/2010/main" val="34371723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Figure 5: Speculative scenarios for a two-GPCR protein with a linker that is too polar to cross the membrane. (A, top) The first 7TM GPCR domain has its N terminus on the outer side, in the conventional membrane topology. We indicated the correct orientation with the color gradient. The second 7TM GPCR domain, on the other hand, is oriented in the opposite direction. Here, only the first domain is functional, and if the orientation of the protein in the membrane is reversed (A, bottom), only the second domain would be functional. (B) A (yet to be discovered) enzyme may cleave the chain. (C) The first 7TM GPCR domain may be oriented properly in the membrane, while the second is in the membrane of a nearby internal organelle. </a:t>
            </a:r>
          </a:p>
        </p:txBody>
      </p:sp>
      <p:sp>
        <p:nvSpPr>
          <p:cNvPr id="4" name="Slide Number Placeholder 3"/>
          <p:cNvSpPr>
            <a:spLocks noGrp="1"/>
          </p:cNvSpPr>
          <p:nvPr>
            <p:ph type="sldNum" sz="quarter" idx="10"/>
          </p:nvPr>
        </p:nvSpPr>
        <p:spPr/>
        <p:txBody>
          <a:bodyPr/>
          <a:lstStyle/>
          <a:p>
            <a:fld id="{ED68FE72-12E1-4135-906B-C01A818907FF}" type="slidenum">
              <a:rPr lang="en-US" smtClean="0"/>
              <a:t>20</a:t>
            </a:fld>
            <a:endParaRPr lang="en-US"/>
          </a:p>
        </p:txBody>
      </p:sp>
    </p:spTree>
    <p:extLst>
      <p:ext uri="{BB962C8B-B14F-4D97-AF65-F5344CB8AC3E}">
        <p14:creationId xmlns:p14="http://schemas.microsoft.com/office/powerpoint/2010/main" val="21307943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l">
              <a:spcBef>
                <a:spcPct val="0"/>
              </a:spcBef>
            </a:pPr>
            <a:fld id="{527BD3AE-5478-405D-B5D1-1B6A908FEC2D}" type="slidenum">
              <a:rPr lang="en-US" altLang="en-US" smtClean="0">
                <a:solidFill>
                  <a:srgbClr val="000000"/>
                </a:solidFill>
                <a:ea typeface="Times New Roman (Hebrew)" panose="02020603050405020304" pitchFamily="18" charset="0"/>
                <a:cs typeface="Arial" panose="020B0604020202020204" pitchFamily="34" charset="0"/>
              </a:rPr>
              <a:pPr algn="l">
                <a:spcBef>
                  <a:spcPct val="0"/>
                </a:spcBef>
              </a:pPr>
              <a:t>21</a:t>
            </a:fld>
            <a:endParaRPr lang="en-US" altLang="en-US">
              <a:solidFill>
                <a:srgbClr val="000000"/>
              </a:solidFill>
              <a:ea typeface="Times New Roman (Hebrew)" panose="02020603050405020304" pitchFamily="18" charset="0"/>
              <a:cs typeface="Arial" panose="020B0604020202020204" pitchFamily="34" charset="0"/>
            </a:endParaRPr>
          </a:p>
        </p:txBody>
      </p:sp>
      <p:sp>
        <p:nvSpPr>
          <p:cNvPr id="252931" name="Rectangle 1026"/>
          <p:cNvSpPr>
            <a:spLocks noGrp="1" noRot="1" noChangeAspect="1" noChangeArrowheads="1" noTextEdit="1"/>
          </p:cNvSpPr>
          <p:nvPr>
            <p:ph type="sldImg"/>
          </p:nvPr>
        </p:nvSpPr>
        <p:spPr>
          <a:ln/>
        </p:spPr>
      </p:sp>
      <p:sp>
        <p:nvSpPr>
          <p:cNvPr id="252932"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l" rtl="0" eaLnBrk="1" hangingPunct="1">
              <a:buFontTx/>
              <a:buChar char="•"/>
            </a:pPr>
            <a:endParaRPr lang="en-US" altLang="en-US"/>
          </a:p>
        </p:txBody>
      </p:sp>
    </p:spTree>
    <p:extLst>
      <p:ext uri="{BB962C8B-B14F-4D97-AF65-F5344CB8AC3E}">
        <p14:creationId xmlns:p14="http://schemas.microsoft.com/office/powerpoint/2010/main" val="12109699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7EF73BE-DDE6-4A86-8638-26CB49967D3D}" type="slidenum">
              <a:rPr lang="he-IL" smtClean="0"/>
              <a:t>22</a:t>
            </a:fld>
            <a:endParaRPr lang="he-IL"/>
          </a:p>
        </p:txBody>
      </p:sp>
    </p:spTree>
    <p:extLst>
      <p:ext uri="{BB962C8B-B14F-4D97-AF65-F5344CB8AC3E}">
        <p14:creationId xmlns:p14="http://schemas.microsoft.com/office/powerpoint/2010/main" val="37783448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dirty="0">
                <a:solidFill>
                  <a:schemeClr val="tx1"/>
                </a:solidFill>
                <a:effectLst/>
                <a:latin typeface="+mn-lt"/>
                <a:ea typeface="+mn-ea"/>
                <a:cs typeface="+mn-cs"/>
              </a:rPr>
              <a:t>Figure S3: (A) Distribution of sequence identify/similarity among the different GPCR domains within the same chain. </a:t>
            </a:r>
            <a:br>
              <a:rPr lang="en-US" sz="1200" i="0" kern="1200" dirty="0">
                <a:solidFill>
                  <a:schemeClr val="tx1"/>
                </a:solidFill>
                <a:effectLst/>
                <a:latin typeface="+mn-lt"/>
                <a:ea typeface="+mn-ea"/>
                <a:cs typeface="+mn-cs"/>
              </a:rPr>
            </a:br>
            <a:r>
              <a:rPr lang="en-US" sz="1200" i="0" kern="1200" dirty="0">
                <a:solidFill>
                  <a:schemeClr val="tx1"/>
                </a:solidFill>
                <a:effectLst/>
                <a:latin typeface="+mn-lt"/>
                <a:ea typeface="+mn-ea"/>
                <a:cs typeface="+mn-cs"/>
              </a:rPr>
              <a:t>(B) Distribution of the number of residues in the linker regions between the different GPCR domains in the same chain. </a:t>
            </a:r>
            <a:endParaRPr lang="en-US"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A313F1-89A2-4F65-BE9F-B34717DEE816}" type="slidenum">
              <a:rPr lang="en-US" smtClean="0"/>
              <a:t>23</a:t>
            </a:fld>
            <a:endParaRPr lang="en-US"/>
          </a:p>
        </p:txBody>
      </p:sp>
    </p:spTree>
    <p:extLst>
      <p:ext uri="{BB962C8B-B14F-4D97-AF65-F5344CB8AC3E}">
        <p14:creationId xmlns:p14="http://schemas.microsoft.com/office/powerpoint/2010/main" val="37228195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two GPS domains (yellow) separate between the extracellular (orange and pink) and GPCR (green and cyan) domains. The linker is shown as red spheres.</a:t>
            </a:r>
          </a:p>
          <a:p>
            <a:endParaRPr lang="en-US" sz="120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Adhesion </a:t>
            </a:r>
            <a:r>
              <a:rPr lang="en-US" sz="1200" b="1" i="0" u="none" strike="noStrike" kern="1200" dirty="0">
                <a:solidFill>
                  <a:schemeClr val="tx1"/>
                </a:solidFill>
                <a:effectLst/>
                <a:latin typeface="+mn-lt"/>
                <a:ea typeface="+mn-ea"/>
                <a:cs typeface="+mn-cs"/>
                <a:hlinkClick r:id="rId3" tooltip="G protein-coupled receptor"/>
              </a:rPr>
              <a:t>G protein-coupled receptors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adhesion GPCRs</a:t>
            </a:r>
            <a:r>
              <a:rPr lang="en-US" sz="1200" b="0" i="0" kern="1200" dirty="0">
                <a:solidFill>
                  <a:schemeClr val="tx1"/>
                </a:solidFill>
                <a:effectLst/>
                <a:latin typeface="+mn-lt"/>
                <a:ea typeface="+mn-ea"/>
                <a:cs typeface="+mn-cs"/>
              </a:rPr>
              <a:t>) are a class of 33 human protein </a:t>
            </a:r>
            <a:r>
              <a:rPr lang="en-US" sz="1200" b="0" i="0" u="none" strike="noStrike" kern="1200" dirty="0">
                <a:solidFill>
                  <a:schemeClr val="tx1"/>
                </a:solidFill>
                <a:effectLst/>
                <a:latin typeface="+mn-lt"/>
                <a:ea typeface="+mn-ea"/>
                <a:cs typeface="+mn-cs"/>
                <a:hlinkClick r:id="rId4" tooltip="Receptor (biochemistry)"/>
              </a:rPr>
              <a:t>receptors</a:t>
            </a:r>
            <a:r>
              <a:rPr lang="en-US" sz="1200" b="0" i="0" kern="1200" dirty="0">
                <a:solidFill>
                  <a:schemeClr val="tx1"/>
                </a:solidFill>
                <a:effectLst/>
                <a:latin typeface="+mn-lt"/>
                <a:ea typeface="+mn-ea"/>
                <a:cs typeface="+mn-cs"/>
              </a:rPr>
              <a:t> with a broad distribution in embryonic and larval cells, cells of the reproductive tract, neurons, leukocytes, and a variety of </a:t>
            </a:r>
            <a:r>
              <a:rPr lang="en-US" sz="1200" b="0" i="0" kern="1200" dirty="0" err="1">
                <a:solidFill>
                  <a:schemeClr val="tx1"/>
                </a:solidFill>
                <a:effectLst/>
                <a:latin typeface="+mn-lt"/>
                <a:ea typeface="+mn-ea"/>
                <a:cs typeface="+mn-cs"/>
              </a:rPr>
              <a:t>tumours</a:t>
            </a:r>
            <a:r>
              <a:rPr lang="en-US" sz="1200" b="0" i="0" kern="1200" dirty="0">
                <a:solidFill>
                  <a:schemeClr val="tx1"/>
                </a:solidFill>
                <a:effectLst/>
                <a:latin typeface="+mn-lt"/>
                <a:ea typeface="+mn-ea"/>
                <a:cs typeface="+mn-cs"/>
              </a:rPr>
              <a:t>.</a:t>
            </a:r>
            <a:r>
              <a:rPr lang="en-US" sz="1200" b="0" i="0" u="none" strike="noStrike" kern="1200" baseline="30000" dirty="0">
                <a:solidFill>
                  <a:schemeClr val="tx1"/>
                </a:solidFill>
                <a:effectLst/>
                <a:latin typeface="+mn-lt"/>
                <a:ea typeface="+mn-ea"/>
                <a:cs typeface="+mn-cs"/>
                <a:hlinkClick r:id="rId5"/>
              </a:rPr>
              <a:t>[1]</a:t>
            </a:r>
            <a:r>
              <a:rPr lang="en-US" sz="1200" b="0" i="0" kern="1200" dirty="0">
                <a:solidFill>
                  <a:schemeClr val="tx1"/>
                </a:solidFill>
                <a:effectLst/>
                <a:latin typeface="+mn-lt"/>
                <a:ea typeface="+mn-ea"/>
                <a:cs typeface="+mn-cs"/>
              </a:rPr>
              <a:t> Adhesion GPCRs are found throughout </a:t>
            </a:r>
            <a:r>
              <a:rPr lang="en-US" sz="1200" b="0" i="0" u="none" strike="noStrike" kern="1200" dirty="0">
                <a:solidFill>
                  <a:schemeClr val="tx1"/>
                </a:solidFill>
                <a:effectLst/>
                <a:latin typeface="+mn-lt"/>
                <a:ea typeface="+mn-ea"/>
                <a:cs typeface="+mn-cs"/>
                <a:hlinkClick r:id="rId6" tooltip="Metazoans"/>
              </a:rPr>
              <a:t>metazoans</a:t>
            </a:r>
            <a:r>
              <a:rPr lang="en-US" sz="1200" b="0" i="0" kern="1200" dirty="0">
                <a:solidFill>
                  <a:schemeClr val="tx1"/>
                </a:solidFill>
                <a:effectLst/>
                <a:latin typeface="+mn-lt"/>
                <a:ea typeface="+mn-ea"/>
                <a:cs typeface="+mn-cs"/>
              </a:rPr>
              <a:t> and are also found in single-celled colony forming </a:t>
            </a:r>
            <a:r>
              <a:rPr lang="en-US" sz="1200" b="0" i="0" u="none" strike="noStrike" kern="1200" dirty="0" err="1">
                <a:solidFill>
                  <a:schemeClr val="tx1"/>
                </a:solidFill>
                <a:effectLst/>
                <a:latin typeface="+mn-lt"/>
                <a:ea typeface="+mn-ea"/>
                <a:cs typeface="+mn-cs"/>
                <a:hlinkClick r:id="rId7" tooltip="Choanoflagellates"/>
              </a:rPr>
              <a:t>choanoflagellates</a:t>
            </a:r>
            <a:r>
              <a:rPr lang="en-US" sz="1200" b="0" i="0" kern="1200" dirty="0">
                <a:solidFill>
                  <a:schemeClr val="tx1"/>
                </a:solidFill>
                <a:effectLst/>
                <a:latin typeface="+mn-lt"/>
                <a:ea typeface="+mn-ea"/>
                <a:cs typeface="+mn-cs"/>
              </a:rPr>
              <a:t> such as </a:t>
            </a:r>
            <a:r>
              <a:rPr lang="en-US" sz="1200" b="0" i="1" kern="1200" dirty="0" err="1">
                <a:solidFill>
                  <a:schemeClr val="tx1"/>
                </a:solidFill>
                <a:effectLst/>
                <a:latin typeface="+mn-lt"/>
                <a:ea typeface="+mn-ea"/>
                <a:cs typeface="+mn-cs"/>
              </a:rPr>
              <a:t>Monosiga</a:t>
            </a:r>
            <a:r>
              <a:rPr lang="en-US" sz="1200" b="0" i="1"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brevicollis</a:t>
            </a:r>
            <a:r>
              <a:rPr lang="en-US" sz="1200" b="0" i="0" kern="1200" dirty="0">
                <a:solidFill>
                  <a:schemeClr val="tx1"/>
                </a:solidFill>
                <a:effectLst/>
                <a:latin typeface="+mn-lt"/>
                <a:ea typeface="+mn-ea"/>
                <a:cs typeface="+mn-cs"/>
              </a:rPr>
              <a:t> and unicellular organisms such as </a:t>
            </a:r>
            <a:r>
              <a:rPr lang="en-US" sz="1200" b="0" i="0" kern="1200" dirty="0" err="1">
                <a:solidFill>
                  <a:schemeClr val="tx1"/>
                </a:solidFill>
                <a:effectLst/>
                <a:latin typeface="+mn-lt"/>
                <a:ea typeface="+mn-ea"/>
                <a:cs typeface="+mn-cs"/>
              </a:rPr>
              <a:t>Filasterea</a:t>
            </a:r>
            <a:r>
              <a:rPr lang="en-US" sz="1200" b="0" i="0" kern="1200" dirty="0">
                <a:solidFill>
                  <a:schemeClr val="tx1"/>
                </a:solidFill>
                <a:effectLst/>
                <a:latin typeface="+mn-lt"/>
                <a:ea typeface="+mn-ea"/>
                <a:cs typeface="+mn-cs"/>
              </a:rPr>
              <a:t>. The defining feature of adhesion GPCRs that distinguishes them from other GPCRs is their hybrid molecular structure. The extracellular region of adhesion GPCRs can be exceptionally long and contain a variety of structural domains that are known for the ability to facilitate cell and matrix interactions. Their extracellular region contains the membrane proximal </a:t>
            </a:r>
            <a:r>
              <a:rPr lang="en-US" sz="1200" b="0" i="0" u="none" strike="noStrike" kern="1200" dirty="0">
                <a:solidFill>
                  <a:schemeClr val="tx1"/>
                </a:solidFill>
                <a:effectLst/>
                <a:latin typeface="+mn-lt"/>
                <a:ea typeface="+mn-ea"/>
                <a:cs typeface="+mn-cs"/>
                <a:hlinkClick r:id="rId8" tooltip="GAIN domain"/>
              </a:rPr>
              <a:t>GAIN</a:t>
            </a:r>
            <a:r>
              <a:rPr lang="en-US" sz="1200" b="0" i="0" kern="1200" dirty="0">
                <a:solidFill>
                  <a:schemeClr val="tx1"/>
                </a:solidFill>
                <a:effectLst/>
                <a:latin typeface="+mn-lt"/>
                <a:ea typeface="+mn-ea"/>
                <a:cs typeface="+mn-cs"/>
              </a:rPr>
              <a:t> (GPCR-</a:t>
            </a:r>
            <a:r>
              <a:rPr lang="en-US" sz="1200" b="0" i="0" kern="1200" dirty="0" err="1">
                <a:solidFill>
                  <a:schemeClr val="tx1"/>
                </a:solidFill>
                <a:effectLst/>
                <a:latin typeface="+mn-lt"/>
                <a:ea typeface="+mn-ea"/>
                <a:cs typeface="+mn-cs"/>
              </a:rPr>
              <a:t>Autoproteolsis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INducing</a:t>
            </a:r>
            <a:r>
              <a:rPr lang="en-US" sz="1200" b="0" i="0" kern="1200" dirty="0">
                <a:solidFill>
                  <a:schemeClr val="tx1"/>
                </a:solidFill>
                <a:effectLst/>
                <a:latin typeface="+mn-lt"/>
                <a:ea typeface="+mn-ea"/>
                <a:cs typeface="+mn-cs"/>
              </a:rPr>
              <a:t>) domain. Crystallographic and experimental data has shown this structurally conserved domain to mediate autocatalytic processing at a GPCR-proteolytic site (GPS) proximal to the first transmembrane helix. Autocatalytic processing gives rise to an extracellular (α) and a membrane-spanning (β) subunit, which are associated non-covalently, resulting in expression of a heterodimeric receptor at the cell surface.</a:t>
            </a:r>
            <a:r>
              <a:rPr lang="en-US" sz="1200" b="0" i="0" u="none" strike="noStrike" kern="1200" baseline="30000" dirty="0">
                <a:solidFill>
                  <a:schemeClr val="tx1"/>
                </a:solidFill>
                <a:effectLst/>
                <a:latin typeface="+mn-lt"/>
                <a:ea typeface="+mn-ea"/>
                <a:cs typeface="+mn-cs"/>
                <a:hlinkClick r:id="rId9"/>
              </a:rPr>
              <a:t>[2]</a:t>
            </a:r>
            <a:r>
              <a:rPr lang="en-US" sz="1200" b="0" i="0" u="none" strike="noStrike" kern="1200" baseline="30000" dirty="0">
                <a:solidFill>
                  <a:schemeClr val="tx1"/>
                </a:solidFill>
                <a:effectLst/>
                <a:latin typeface="+mn-lt"/>
                <a:ea typeface="+mn-ea"/>
                <a:cs typeface="+mn-cs"/>
                <a:hlinkClick r:id="rId10"/>
              </a:rPr>
              <a:t>[3]</a:t>
            </a:r>
            <a:r>
              <a:rPr lang="en-US" sz="1200" b="0" i="0" kern="1200" dirty="0">
                <a:solidFill>
                  <a:schemeClr val="tx1"/>
                </a:solidFill>
                <a:effectLst/>
                <a:latin typeface="+mn-lt"/>
                <a:ea typeface="+mn-ea"/>
                <a:cs typeface="+mn-cs"/>
              </a:rPr>
              <a:t> Ligand profiles and </a:t>
            </a:r>
            <a:r>
              <a:rPr lang="en-US" sz="1200" b="0" i="1" kern="1200" dirty="0">
                <a:solidFill>
                  <a:schemeClr val="tx1"/>
                </a:solidFill>
                <a:effectLst/>
                <a:latin typeface="+mn-lt"/>
                <a:ea typeface="+mn-ea"/>
                <a:cs typeface="+mn-cs"/>
              </a:rPr>
              <a:t>in vitro</a:t>
            </a:r>
            <a:r>
              <a:rPr lang="en-US" sz="1200" b="0" i="0" kern="1200" dirty="0">
                <a:solidFill>
                  <a:schemeClr val="tx1"/>
                </a:solidFill>
                <a:effectLst/>
                <a:latin typeface="+mn-lt"/>
                <a:ea typeface="+mn-ea"/>
                <a:cs typeface="+mn-cs"/>
              </a:rPr>
              <a:t> studies have indicated a role for adhesion GPCRs in cell adhesion and migration.</a:t>
            </a:r>
            <a:r>
              <a:rPr lang="en-US" sz="1200" b="0" i="0" u="none" strike="noStrike" kern="1200" baseline="30000" dirty="0">
                <a:solidFill>
                  <a:schemeClr val="tx1"/>
                </a:solidFill>
                <a:effectLst/>
                <a:latin typeface="+mn-lt"/>
                <a:ea typeface="+mn-ea"/>
                <a:cs typeface="+mn-cs"/>
                <a:hlinkClick r:id="rId11"/>
              </a:rPr>
              <a:t>[4]</a:t>
            </a:r>
            <a:r>
              <a:rPr lang="en-US" sz="1200" b="0" i="0" kern="1200" dirty="0">
                <a:solidFill>
                  <a:schemeClr val="tx1"/>
                </a:solidFill>
                <a:effectLst/>
                <a:latin typeface="+mn-lt"/>
                <a:ea typeface="+mn-ea"/>
                <a:cs typeface="+mn-cs"/>
              </a:rPr>
              <a:t> Work utilizing genetic models confined this concept by demonstrating that the primary function of adhesion GPCRs may relate to the proper positioning of cells in a variety of organ systems. Moreover, growing evidence implies a role of adhesion GPCRs in </a:t>
            </a:r>
            <a:r>
              <a:rPr lang="en-US" sz="1200" b="0" i="0" kern="1200" dirty="0" err="1">
                <a:solidFill>
                  <a:schemeClr val="tx1"/>
                </a:solidFill>
                <a:effectLst/>
                <a:latin typeface="+mn-lt"/>
                <a:ea typeface="+mn-ea"/>
                <a:cs typeface="+mn-cs"/>
              </a:rPr>
              <a:t>tumour</a:t>
            </a:r>
            <a:r>
              <a:rPr lang="en-US" sz="1200" b="0" i="0" kern="1200" dirty="0">
                <a:solidFill>
                  <a:schemeClr val="tx1"/>
                </a:solidFill>
                <a:effectLst/>
                <a:latin typeface="+mn-lt"/>
                <a:ea typeface="+mn-ea"/>
                <a:cs typeface="+mn-cs"/>
              </a:rPr>
              <a:t> cell metastasis.</a:t>
            </a:r>
            <a:r>
              <a:rPr lang="en-US" sz="1200" b="0" i="0" u="none" strike="noStrike" kern="1200" baseline="30000" dirty="0">
                <a:solidFill>
                  <a:schemeClr val="tx1"/>
                </a:solidFill>
                <a:effectLst/>
                <a:latin typeface="+mn-lt"/>
                <a:ea typeface="+mn-ea"/>
                <a:cs typeface="+mn-cs"/>
                <a:hlinkClick r:id="rId12"/>
              </a:rPr>
              <a:t>[5]</a:t>
            </a:r>
            <a:r>
              <a:rPr lang="en-US" sz="1200" b="0" i="0" kern="1200" dirty="0">
                <a:solidFill>
                  <a:schemeClr val="tx1"/>
                </a:solidFill>
                <a:effectLst/>
                <a:latin typeface="+mn-lt"/>
                <a:ea typeface="+mn-ea"/>
                <a:cs typeface="+mn-cs"/>
              </a:rPr>
              <a:t> Formal G protein-coupled </a:t>
            </a:r>
            <a:r>
              <a:rPr lang="en-US" sz="1200" b="0" i="0" kern="1200" dirty="0" err="1">
                <a:solidFill>
                  <a:schemeClr val="tx1"/>
                </a:solidFill>
                <a:effectLst/>
                <a:latin typeface="+mn-lt"/>
                <a:ea typeface="+mn-ea"/>
                <a:cs typeface="+mn-cs"/>
              </a:rPr>
              <a:t>signalling</a:t>
            </a:r>
            <a:r>
              <a:rPr lang="en-US" sz="1200" b="0" i="0" kern="1200" dirty="0">
                <a:solidFill>
                  <a:schemeClr val="tx1"/>
                </a:solidFill>
                <a:effectLst/>
                <a:latin typeface="+mn-lt"/>
                <a:ea typeface="+mn-ea"/>
                <a:cs typeface="+mn-cs"/>
              </a:rPr>
              <a:t> has been demonstrated for a number for adhesion GPCRs,</a:t>
            </a:r>
            <a:r>
              <a:rPr lang="en-US" sz="1200" b="0" i="0" u="none" strike="noStrike" kern="1200" baseline="30000" dirty="0">
                <a:solidFill>
                  <a:schemeClr val="tx1"/>
                </a:solidFill>
                <a:effectLst/>
                <a:latin typeface="+mn-lt"/>
                <a:ea typeface="+mn-ea"/>
                <a:cs typeface="+mn-cs"/>
                <a:hlinkClick r:id="rId13"/>
              </a:rPr>
              <a:t>[6]</a:t>
            </a:r>
            <a:r>
              <a:rPr lang="en-US" sz="1200" b="0" i="0" u="none" strike="noStrike" kern="1200" baseline="30000" dirty="0">
                <a:solidFill>
                  <a:schemeClr val="tx1"/>
                </a:solidFill>
                <a:effectLst/>
                <a:latin typeface="+mn-lt"/>
                <a:ea typeface="+mn-ea"/>
                <a:cs typeface="+mn-cs"/>
                <a:hlinkClick r:id="rId14"/>
              </a:rPr>
              <a:t>[7]</a:t>
            </a:r>
            <a:r>
              <a:rPr lang="en-US" sz="1200" b="0" i="0" kern="1200" dirty="0">
                <a:solidFill>
                  <a:schemeClr val="tx1"/>
                </a:solidFill>
                <a:effectLst/>
                <a:latin typeface="+mn-lt"/>
                <a:ea typeface="+mn-ea"/>
                <a:cs typeface="+mn-cs"/>
              </a:rPr>
              <a:t> however, the </a:t>
            </a:r>
            <a:r>
              <a:rPr lang="en-US" sz="1200" b="0" i="0" u="none" strike="noStrike" kern="1200" dirty="0">
                <a:solidFill>
                  <a:schemeClr val="tx1"/>
                </a:solidFill>
                <a:effectLst/>
                <a:latin typeface="+mn-lt"/>
                <a:ea typeface="+mn-ea"/>
                <a:cs typeface="+mn-cs"/>
                <a:hlinkClick r:id="rId15" tooltip="Orphan receptor"/>
              </a:rPr>
              <a:t>orphan receptor</a:t>
            </a:r>
            <a:r>
              <a:rPr lang="en-US" sz="1200" b="0" i="0" kern="1200" dirty="0">
                <a:solidFill>
                  <a:schemeClr val="tx1"/>
                </a:solidFill>
                <a:effectLst/>
                <a:latin typeface="+mn-lt"/>
                <a:ea typeface="+mn-ea"/>
                <a:cs typeface="+mn-cs"/>
              </a:rPr>
              <a:t> status of many of the receptors still hampers full </a:t>
            </a:r>
            <a:r>
              <a:rPr lang="en-US" sz="1200" b="0" i="0" kern="1200" dirty="0" err="1">
                <a:solidFill>
                  <a:schemeClr val="tx1"/>
                </a:solidFill>
                <a:effectLst/>
                <a:latin typeface="+mn-lt"/>
                <a:ea typeface="+mn-ea"/>
                <a:cs typeface="+mn-cs"/>
              </a:rPr>
              <a:t>characterisation</a:t>
            </a:r>
            <a:r>
              <a:rPr lang="en-US" sz="1200" b="0" i="0" kern="1200" dirty="0">
                <a:solidFill>
                  <a:schemeClr val="tx1"/>
                </a:solidFill>
                <a:effectLst/>
                <a:latin typeface="+mn-lt"/>
                <a:ea typeface="+mn-ea"/>
                <a:cs typeface="+mn-cs"/>
              </a:rPr>
              <a:t> of potential signal transduction pathways. In 2011, the </a:t>
            </a:r>
            <a:r>
              <a:rPr lang="en-US" sz="1200" b="0" i="0" u="none" strike="noStrike" kern="1200" dirty="0">
                <a:solidFill>
                  <a:schemeClr val="tx1"/>
                </a:solidFill>
                <a:effectLst/>
                <a:latin typeface="+mn-lt"/>
                <a:ea typeface="+mn-ea"/>
                <a:cs typeface="+mn-cs"/>
                <a:hlinkClick r:id="rId16"/>
              </a:rPr>
              <a:t>adhesion GPCR consortium</a:t>
            </a:r>
            <a:r>
              <a:rPr lang="en-US" sz="1200" b="0" i="0" kern="1200" dirty="0">
                <a:solidFill>
                  <a:schemeClr val="tx1"/>
                </a:solidFill>
                <a:effectLst/>
                <a:latin typeface="+mn-lt"/>
                <a:ea typeface="+mn-ea"/>
                <a:cs typeface="+mn-cs"/>
              </a:rPr>
              <a:t> was established to facilitate research of the physiological and pathological functions of adhesion GPCRs.</a:t>
            </a:r>
            <a:endParaRPr lang="en-US" dirty="0"/>
          </a:p>
        </p:txBody>
      </p:sp>
      <p:sp>
        <p:nvSpPr>
          <p:cNvPr id="4" name="Slide Number Placeholder 3"/>
          <p:cNvSpPr>
            <a:spLocks noGrp="1"/>
          </p:cNvSpPr>
          <p:nvPr>
            <p:ph type="sldNum" sz="quarter" idx="10"/>
          </p:nvPr>
        </p:nvSpPr>
        <p:spPr/>
        <p:txBody>
          <a:bodyPr/>
          <a:lstStyle/>
          <a:p>
            <a:fld id="{94A313F1-89A2-4F65-BE9F-B34717DEE816}" type="slidenum">
              <a:rPr lang="en-US" smtClean="0"/>
              <a:t>24</a:t>
            </a:fld>
            <a:endParaRPr lang="en-US"/>
          </a:p>
        </p:txBody>
      </p:sp>
    </p:spTree>
    <p:extLst>
      <p:ext uri="{BB962C8B-B14F-4D97-AF65-F5344CB8AC3E}">
        <p14:creationId xmlns:p14="http://schemas.microsoft.com/office/powerpoint/2010/main" val="6962171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Left</a:t>
            </a:r>
            <a:r>
              <a:rPr lang="en-US" dirty="0"/>
              <a:t>:</a:t>
            </a:r>
            <a:r>
              <a:rPr lang="en-US" baseline="0" dirty="0"/>
              <a:t> the domains arrangement of adhesion proteins. </a:t>
            </a:r>
          </a:p>
          <a:p>
            <a:r>
              <a:rPr lang="en-US" u="sng" baseline="0" dirty="0"/>
              <a:t>Right</a:t>
            </a:r>
            <a:r>
              <a:rPr lang="en-US" baseline="0" dirty="0"/>
              <a:t>: sequence alignment of the GPS self-cleavage motifs in:</a:t>
            </a:r>
          </a:p>
          <a:p>
            <a:pPr marL="171450" indent="-171450">
              <a:buFont typeface="Arial" panose="020B0604020202020204" pitchFamily="34" charset="0"/>
              <a:buChar char="•"/>
            </a:pPr>
            <a:r>
              <a:rPr lang="en-US" baseline="0" dirty="0"/>
              <a:t>Human AGRF3 – adhesion GPCR known to be </a:t>
            </a:r>
            <a:r>
              <a:rPr lang="en-US" baseline="0" dirty="0" err="1"/>
              <a:t>proteolysed</a:t>
            </a:r>
            <a:r>
              <a:rPr lang="en-US" baseline="0" dirty="0"/>
              <a:t>.</a:t>
            </a:r>
          </a:p>
          <a:p>
            <a:pPr marL="171450" indent="-171450">
              <a:buFont typeface="Arial" panose="020B0604020202020204" pitchFamily="34" charset="0"/>
              <a:buChar char="•"/>
            </a:pPr>
            <a:r>
              <a:rPr lang="en-US" baseline="0" dirty="0"/>
              <a:t>Human AGRF4 – adhesion GPCR which is not </a:t>
            </a:r>
            <a:r>
              <a:rPr lang="en-US" baseline="0" dirty="0" err="1"/>
              <a:t>proteolysed</a:t>
            </a:r>
            <a:r>
              <a:rPr lang="en-US" baseline="0" dirty="0"/>
              <a:t>.</a:t>
            </a:r>
          </a:p>
          <a:p>
            <a:pPr marL="171450" indent="-171450">
              <a:buFont typeface="Arial" panose="020B0604020202020204" pitchFamily="34" charset="0"/>
              <a:buChar char="•"/>
            </a:pPr>
            <a:r>
              <a:rPr lang="en-US" baseline="0" dirty="0"/>
              <a:t> A0A1D5QNK2 and F7ELW9 – two multi-GPCRs from </a:t>
            </a:r>
            <a:r>
              <a:rPr lang="en-US" baseline="0" dirty="0" err="1"/>
              <a:t>Macaca</a:t>
            </a:r>
            <a:r>
              <a:rPr lang="en-US" baseline="0" dirty="0"/>
              <a:t> </a:t>
            </a:r>
            <a:r>
              <a:rPr lang="en-US" baseline="0" dirty="0" err="1"/>
              <a:t>mulatta</a:t>
            </a:r>
            <a:r>
              <a:rPr lang="en-US" baseline="0" dirty="0"/>
              <a:t> (in each, _1 is the 1</a:t>
            </a:r>
            <a:r>
              <a:rPr lang="en-US" baseline="30000" dirty="0"/>
              <a:t>st</a:t>
            </a:r>
            <a:r>
              <a:rPr lang="en-US" baseline="0" dirty="0"/>
              <a:t> GPCR domain and _2 is the 2</a:t>
            </a:r>
            <a:r>
              <a:rPr lang="en-US" baseline="30000" dirty="0"/>
              <a:t>nd</a:t>
            </a:r>
            <a:r>
              <a:rPr lang="en-US" baseline="0" dirty="0"/>
              <a:t> GPCR domain.</a:t>
            </a:r>
          </a:p>
          <a:p>
            <a:r>
              <a:rPr lang="en-US" baseline="0" dirty="0"/>
              <a:t>The first and second catalytic residues in each protein are marked by the rectangles. Adhesion GPCRs that self-</a:t>
            </a:r>
            <a:r>
              <a:rPr lang="en-US" baseline="0" dirty="0" err="1"/>
              <a:t>proteolyzed</a:t>
            </a:r>
            <a:r>
              <a:rPr lang="en-US" baseline="0" dirty="0"/>
              <a:t> contain a basic residue in the first positon of the motif and a polar residue in the last positon. </a:t>
            </a:r>
          </a:p>
          <a:p>
            <a:endParaRPr lang="en-US" dirty="0"/>
          </a:p>
        </p:txBody>
      </p:sp>
      <p:sp>
        <p:nvSpPr>
          <p:cNvPr id="4" name="Slide Number Placeholder 3"/>
          <p:cNvSpPr>
            <a:spLocks noGrp="1"/>
          </p:cNvSpPr>
          <p:nvPr>
            <p:ph type="sldNum" sz="quarter" idx="10"/>
          </p:nvPr>
        </p:nvSpPr>
        <p:spPr/>
        <p:txBody>
          <a:bodyPr/>
          <a:lstStyle/>
          <a:p>
            <a:fld id="{94A313F1-89A2-4F65-BE9F-B34717DEE816}" type="slidenum">
              <a:rPr lang="en-US" smtClean="0"/>
              <a:t>25</a:t>
            </a:fld>
            <a:endParaRPr lang="en-US"/>
          </a:p>
        </p:txBody>
      </p:sp>
    </p:spTree>
    <p:extLst>
      <p:ext uri="{BB962C8B-B14F-4D97-AF65-F5344CB8AC3E}">
        <p14:creationId xmlns:p14="http://schemas.microsoft.com/office/powerpoint/2010/main" val="42107125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dirty="0">
                <a:solidFill>
                  <a:schemeClr val="tx1"/>
                </a:solidFill>
                <a:effectLst/>
                <a:latin typeface="+mn-lt"/>
                <a:ea typeface="+mn-ea"/>
                <a:cs typeface="+mn-cs"/>
              </a:rPr>
              <a:t>Figure S3: (A) Distribution of sequence identify/similarity among the different GPCR domains within the same chain. </a:t>
            </a:r>
            <a:br>
              <a:rPr lang="en-US" sz="1200" i="0" kern="1200" dirty="0">
                <a:solidFill>
                  <a:schemeClr val="tx1"/>
                </a:solidFill>
                <a:effectLst/>
                <a:latin typeface="+mn-lt"/>
                <a:ea typeface="+mn-ea"/>
                <a:cs typeface="+mn-cs"/>
              </a:rPr>
            </a:br>
            <a:r>
              <a:rPr lang="en-US" sz="1200" i="0" kern="1200" dirty="0">
                <a:solidFill>
                  <a:schemeClr val="tx1"/>
                </a:solidFill>
                <a:effectLst/>
                <a:latin typeface="+mn-lt"/>
                <a:ea typeface="+mn-ea"/>
                <a:cs typeface="+mn-cs"/>
              </a:rPr>
              <a:t>(B) Distribution of the number of residues in the linker regions between the different GPCR domains in the same chain. </a:t>
            </a:r>
            <a:endParaRPr lang="en-US"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A313F1-89A2-4F65-BE9F-B34717DEE816}" type="slidenum">
              <a:rPr lang="en-US" smtClean="0"/>
              <a:t>26</a:t>
            </a:fld>
            <a:endParaRPr lang="en-US"/>
          </a:p>
        </p:txBody>
      </p:sp>
    </p:spTree>
    <p:extLst>
      <p:ext uri="{BB962C8B-B14F-4D97-AF65-F5344CB8AC3E}">
        <p14:creationId xmlns:p14="http://schemas.microsoft.com/office/powerpoint/2010/main" val="32829727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dirty="0">
                <a:solidFill>
                  <a:schemeClr val="tx1"/>
                </a:solidFill>
                <a:effectLst/>
                <a:latin typeface="+mn-lt"/>
                <a:ea typeface="+mn-ea"/>
                <a:cs typeface="+mn-cs"/>
              </a:rPr>
              <a:t>Figure S3: (A) Distribution of sequence identify/similarity among the different GPCR domains within the same chain. </a:t>
            </a:r>
            <a:br>
              <a:rPr lang="en-US" sz="1200" i="0" kern="1200" dirty="0">
                <a:solidFill>
                  <a:schemeClr val="tx1"/>
                </a:solidFill>
                <a:effectLst/>
                <a:latin typeface="+mn-lt"/>
                <a:ea typeface="+mn-ea"/>
                <a:cs typeface="+mn-cs"/>
              </a:rPr>
            </a:br>
            <a:r>
              <a:rPr lang="en-US" sz="1200" i="0" kern="1200" dirty="0">
                <a:solidFill>
                  <a:schemeClr val="tx1"/>
                </a:solidFill>
                <a:effectLst/>
                <a:latin typeface="+mn-lt"/>
                <a:ea typeface="+mn-ea"/>
                <a:cs typeface="+mn-cs"/>
              </a:rPr>
              <a:t>(B) Distribution of the number of residues in the linker regions between the different GPCR domains in the same chain. </a:t>
            </a:r>
            <a:endParaRPr lang="en-US"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A313F1-89A2-4F65-BE9F-B34717DEE816}" type="slidenum">
              <a:rPr lang="en-US" smtClean="0"/>
              <a:t>27</a:t>
            </a:fld>
            <a:endParaRPr lang="en-US"/>
          </a:p>
        </p:txBody>
      </p:sp>
    </p:spTree>
    <p:extLst>
      <p:ext uri="{BB962C8B-B14F-4D97-AF65-F5344CB8AC3E}">
        <p14:creationId xmlns:p14="http://schemas.microsoft.com/office/powerpoint/2010/main" val="1721085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6ED0241-7FFB-4C1E-8125-3C0014795304}" type="datetimeFigureOut">
              <a:rPr lang="en-US" smtClean="0"/>
              <a:t>6/13/2023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2754174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ED0241-7FFB-4C1E-8125-3C0014795304}" type="datetimeFigureOut">
              <a:rPr lang="en-US" smtClean="0"/>
              <a:t>6/13/2023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1005467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6ED0241-7FFB-4C1E-8125-3C0014795304}" type="datetimeFigureOut">
              <a:rPr lang="en-US" smtClean="0"/>
              <a:t>6/13/2023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2751526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6ED0241-7FFB-4C1E-8125-3C0014795304}" type="datetimeFigureOut">
              <a:rPr lang="en-US" smtClean="0"/>
              <a:t>6/13/2023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3781747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6ED0241-7FFB-4C1E-8125-3C0014795304}" type="datetimeFigureOut">
              <a:rPr lang="en-US" smtClean="0"/>
              <a:t>6/13/2023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2909154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6ED0241-7FFB-4C1E-8125-3C0014795304}" type="datetimeFigureOut">
              <a:rPr lang="en-US" smtClean="0"/>
              <a:t>6/13/2023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3607202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ED0241-7FFB-4C1E-8125-3C0014795304}" type="datetimeFigureOut">
              <a:rPr lang="en-US" smtClean="0"/>
              <a:t>6/13/2023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215624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6ED0241-7FFB-4C1E-8125-3C0014795304}" type="datetimeFigureOut">
              <a:rPr lang="en-US" smtClean="0"/>
              <a:t>6/13/2023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3662018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6ED0241-7FFB-4C1E-8125-3C0014795304}" type="datetimeFigureOut">
              <a:rPr lang="en-US" smtClean="0"/>
              <a:t>6/13/2023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3462113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ED0241-7FFB-4C1E-8125-3C0014795304}" type="datetimeFigureOut">
              <a:rPr lang="en-US" smtClean="0"/>
              <a:t>6/13/2023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1967138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ED0241-7FFB-4C1E-8125-3C0014795304}" type="datetimeFigureOut">
              <a:rPr lang="en-US" smtClean="0"/>
              <a:t>6/13/2023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2332940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CA" smtClean="0"/>
              <a:pPr/>
              <a:t>‹#›</a:t>
            </a:fld>
            <a:endParaRPr lang="en-CA"/>
          </a:p>
        </p:txBody>
      </p:sp>
    </p:spTree>
    <p:extLst>
      <p:ext uri="{BB962C8B-B14F-4D97-AF65-F5344CB8AC3E}">
        <p14:creationId xmlns:p14="http://schemas.microsoft.com/office/powerpoint/2010/main" val="3676341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ED0241-7FFB-4C1E-8125-3C0014795304}" type="datetimeFigureOut">
              <a:rPr lang="en-US" smtClean="0"/>
              <a:t>6/13/2023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53BC52-802B-4BA1-96B7-BE3DA39D80CB}" type="slidenum">
              <a:rPr lang="en-US" smtClean="0"/>
              <a:t>‹#›</a:t>
            </a:fld>
            <a:endParaRPr lang="en-US"/>
          </a:p>
        </p:txBody>
      </p:sp>
    </p:spTree>
    <p:extLst>
      <p:ext uri="{BB962C8B-B14F-4D97-AF65-F5344CB8AC3E}">
        <p14:creationId xmlns:p14="http://schemas.microsoft.com/office/powerpoint/2010/main" val="82675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hyperlink" Target="https://www.bentalab.com/" TargetMode="External"/><Relationship Id="rId3" Type="http://schemas.openxmlformats.org/officeDocument/2006/relationships/image" Target="../media/image16.tiff"/><Relationship Id="rId7"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18.jpg"/><Relationship Id="rId10" Type="http://schemas.openxmlformats.org/officeDocument/2006/relationships/image" Target="../media/image22.jpg"/><Relationship Id="rId4" Type="http://schemas.openxmlformats.org/officeDocument/2006/relationships/image" Target="../media/image17.png"/><Relationship Id="rId9" Type="http://schemas.openxmlformats.org/officeDocument/2006/relationships/image" Target="../media/image21.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4.jpe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44128" y="100477"/>
            <a:ext cx="12236128" cy="1694988"/>
          </a:xfrm>
        </p:spPr>
        <p:txBody>
          <a:bodyPr>
            <a:normAutofit fontScale="90000"/>
          </a:bodyPr>
          <a:lstStyle/>
          <a:p>
            <a:r>
              <a:rPr lang="en-US" b="1" dirty="0">
                <a:ln>
                  <a:solidFill>
                    <a:schemeClr val="tx1"/>
                  </a:solidFill>
                </a:ln>
                <a:solidFill>
                  <a:srgbClr val="C00000"/>
                </a:solidFill>
              </a:rPr>
              <a:t>Proteins with multiple G protein-coupled receptor domains</a:t>
            </a:r>
          </a:p>
        </p:txBody>
      </p:sp>
      <p:sp>
        <p:nvSpPr>
          <p:cNvPr id="5" name="Subtitle 2"/>
          <p:cNvSpPr>
            <a:spLocks noGrp="1"/>
          </p:cNvSpPr>
          <p:nvPr>
            <p:ph type="subTitle" idx="1"/>
          </p:nvPr>
        </p:nvSpPr>
        <p:spPr>
          <a:xfrm>
            <a:off x="277252" y="1970560"/>
            <a:ext cx="6712271" cy="941474"/>
          </a:xfrm>
        </p:spPr>
        <p:txBody>
          <a:bodyPr>
            <a:normAutofit/>
          </a:bodyPr>
          <a:lstStyle/>
          <a:p>
            <a:pPr algn="l"/>
            <a:r>
              <a:rPr lang="en-US" dirty="0" err="1">
                <a:solidFill>
                  <a:srgbClr val="0000CC"/>
                </a:solidFill>
              </a:rPr>
              <a:t>Kılıçali</a:t>
            </a:r>
            <a:r>
              <a:rPr lang="en-US" dirty="0">
                <a:solidFill>
                  <a:srgbClr val="0000CC"/>
                </a:solidFill>
              </a:rPr>
              <a:t> </a:t>
            </a:r>
            <a:r>
              <a:rPr lang="en-US" dirty="0" err="1">
                <a:solidFill>
                  <a:srgbClr val="0000CC"/>
                </a:solidFill>
              </a:rPr>
              <a:t>Işıldayancan</a:t>
            </a:r>
            <a:r>
              <a:rPr lang="en-US" dirty="0">
                <a:solidFill>
                  <a:srgbClr val="0000CC"/>
                </a:solidFill>
              </a:rPr>
              <a:t>, Amit Kessel, Ron Solan</a:t>
            </a:r>
          </a:p>
          <a:p>
            <a:pPr algn="l"/>
            <a:r>
              <a:rPr lang="en-US" dirty="0">
                <a:solidFill>
                  <a:srgbClr val="0000CC"/>
                </a:solidFill>
              </a:rPr>
              <a:t>Tel Aviv University, Faculty of Life Sciences</a:t>
            </a:r>
          </a:p>
        </p:txBody>
      </p:sp>
      <p:sp>
        <p:nvSpPr>
          <p:cNvPr id="7" name="Subtitle 2"/>
          <p:cNvSpPr txBox="1">
            <a:spLocks/>
          </p:cNvSpPr>
          <p:nvPr/>
        </p:nvSpPr>
        <p:spPr>
          <a:xfrm>
            <a:off x="304554" y="3197332"/>
            <a:ext cx="6321714" cy="768562"/>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solidFill>
                  <a:srgbClr val="7030A0"/>
                </a:solidFill>
              </a:rPr>
              <a:t>Rachel Kolodny</a:t>
            </a:r>
          </a:p>
          <a:p>
            <a:pPr algn="l"/>
            <a:r>
              <a:rPr lang="en-US" dirty="0">
                <a:solidFill>
                  <a:srgbClr val="7030A0"/>
                </a:solidFill>
              </a:rPr>
              <a:t>University of Haifa, Department of Computer Science</a:t>
            </a:r>
          </a:p>
        </p:txBody>
      </p:sp>
    </p:spTree>
    <p:extLst>
      <p:ext uri="{BB962C8B-B14F-4D97-AF65-F5344CB8AC3E}">
        <p14:creationId xmlns:p14="http://schemas.microsoft.com/office/powerpoint/2010/main" val="3006745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Text Box 1027"/>
          <p:cNvSpPr txBox="1">
            <a:spLocks noChangeArrowheads="1"/>
          </p:cNvSpPr>
          <p:nvPr/>
        </p:nvSpPr>
        <p:spPr bwMode="auto">
          <a:xfrm>
            <a:off x="1633539" y="242889"/>
            <a:ext cx="89249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eaLnBrk="1" hangingPunct="1">
              <a:spcBef>
                <a:spcPct val="50000"/>
              </a:spcBef>
              <a:buFontTx/>
              <a:buNone/>
            </a:pPr>
            <a:r>
              <a:rPr lang="en-US" altLang="en-US" sz="4000" dirty="0">
                <a:solidFill>
                  <a:srgbClr val="3333CC"/>
                </a:solidFill>
                <a:latin typeface="+mn-lt"/>
                <a:cs typeface="Times New Roman (Hebrew)" panose="02020603050405020304" pitchFamily="18" charset="0"/>
              </a:rPr>
              <a:t>GPCR signaling</a:t>
            </a:r>
          </a:p>
        </p:txBody>
      </p:sp>
      <p:grpSp>
        <p:nvGrpSpPr>
          <p:cNvPr id="212995" name="Group 3"/>
          <p:cNvGrpSpPr>
            <a:grpSpLocks/>
          </p:cNvGrpSpPr>
          <p:nvPr/>
        </p:nvGrpSpPr>
        <p:grpSpPr bwMode="auto">
          <a:xfrm>
            <a:off x="2463800" y="1176338"/>
            <a:ext cx="7264400" cy="5281612"/>
            <a:chOff x="837128" y="486359"/>
            <a:chExt cx="7263372" cy="5281926"/>
          </a:xfrm>
        </p:grpSpPr>
        <p:pic>
          <p:nvPicPr>
            <p:cNvPr id="212996" name="Picture 302"/>
            <p:cNvPicPr>
              <a:picLocks noChangeAspect="1" noChangeArrowheads="1"/>
            </p:cNvPicPr>
            <p:nvPr/>
          </p:nvPicPr>
          <p:blipFill>
            <a:blip r:embed="rId3">
              <a:clrChange>
                <a:clrFrom>
                  <a:srgbClr val="FFFAEB"/>
                </a:clrFrom>
                <a:clrTo>
                  <a:srgbClr val="FFFAEB">
                    <a:alpha val="0"/>
                  </a:srgbClr>
                </a:clrTo>
              </a:clrChange>
              <a:extLst>
                <a:ext uri="{28A0092B-C50C-407E-A947-70E740481C1C}">
                  <a14:useLocalDpi xmlns:a14="http://schemas.microsoft.com/office/drawing/2010/main" val="0"/>
                </a:ext>
              </a:extLst>
            </a:blip>
            <a:srcRect l="10628" t="2971" r="10542" b="55327"/>
            <a:stretch>
              <a:fillRect/>
            </a:stretch>
          </p:blipFill>
          <p:spPr bwMode="auto">
            <a:xfrm>
              <a:off x="888487" y="486359"/>
              <a:ext cx="7212012" cy="2862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2997" name="Rectangle 5"/>
            <p:cNvSpPr>
              <a:spLocks noChangeArrowheads="1"/>
            </p:cNvSpPr>
            <p:nvPr/>
          </p:nvSpPr>
          <p:spPr bwMode="auto">
            <a:xfrm>
              <a:off x="5434885" y="2382594"/>
              <a:ext cx="1365161" cy="95168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solidFill>
                  <a:srgbClr val="000000"/>
                </a:solidFill>
                <a:latin typeface="Times New Roman" panose="02020603050405020304" pitchFamily="18" charset="0"/>
                <a:cs typeface="Times New Roman (Hebrew)" panose="02020603050405020304" pitchFamily="18" charset="0"/>
              </a:endParaRPr>
            </a:p>
          </p:txBody>
        </p:sp>
        <p:pic>
          <p:nvPicPr>
            <p:cNvPr id="212998" name="Picture 302"/>
            <p:cNvPicPr>
              <a:picLocks noChangeAspect="1" noChangeArrowheads="1"/>
            </p:cNvPicPr>
            <p:nvPr/>
          </p:nvPicPr>
          <p:blipFill>
            <a:blip r:embed="rId3">
              <a:clrChange>
                <a:clrFrom>
                  <a:srgbClr val="FFFAEB"/>
                </a:clrFrom>
                <a:clrTo>
                  <a:srgbClr val="FFFAEB">
                    <a:alpha val="0"/>
                  </a:srgbClr>
                </a:clrTo>
              </a:clrChange>
              <a:extLst>
                <a:ext uri="{28A0092B-C50C-407E-A947-70E740481C1C}">
                  <a14:useLocalDpi xmlns:a14="http://schemas.microsoft.com/office/drawing/2010/main" val="0"/>
                </a:ext>
              </a:extLst>
            </a:blip>
            <a:srcRect l="61026" t="44110" r="10542" b="7886"/>
            <a:stretch>
              <a:fillRect/>
            </a:stretch>
          </p:blipFill>
          <p:spPr bwMode="auto">
            <a:xfrm>
              <a:off x="5499280" y="2395472"/>
              <a:ext cx="2601220" cy="3294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2999" name="Rectangle 7"/>
            <p:cNvSpPr>
              <a:spLocks noChangeArrowheads="1"/>
            </p:cNvSpPr>
            <p:nvPr/>
          </p:nvSpPr>
          <p:spPr bwMode="auto">
            <a:xfrm rot="5400000">
              <a:off x="3822597" y="4013501"/>
              <a:ext cx="3255944" cy="9742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solidFill>
                  <a:srgbClr val="000000"/>
                </a:solidFill>
                <a:latin typeface="Times New Roman" panose="02020603050405020304" pitchFamily="18" charset="0"/>
                <a:cs typeface="Times New Roman (Hebrew)" panose="02020603050405020304" pitchFamily="18" charset="0"/>
              </a:endParaRPr>
            </a:p>
          </p:txBody>
        </p:sp>
        <p:sp>
          <p:nvSpPr>
            <p:cNvPr id="213000" name="Rectangle 8"/>
            <p:cNvSpPr>
              <a:spLocks noChangeArrowheads="1"/>
            </p:cNvSpPr>
            <p:nvPr/>
          </p:nvSpPr>
          <p:spPr bwMode="auto">
            <a:xfrm>
              <a:off x="5434885" y="5678394"/>
              <a:ext cx="2665614" cy="89891"/>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solidFill>
                  <a:srgbClr val="000000"/>
                </a:solidFill>
                <a:latin typeface="Times New Roman" panose="02020603050405020304" pitchFamily="18" charset="0"/>
                <a:cs typeface="Times New Roman (Hebrew)" panose="02020603050405020304" pitchFamily="18" charset="0"/>
              </a:endParaRPr>
            </a:p>
          </p:txBody>
        </p:sp>
        <p:pic>
          <p:nvPicPr>
            <p:cNvPr id="213001" name="Picture 302"/>
            <p:cNvPicPr>
              <a:picLocks noChangeAspect="1" noChangeArrowheads="1"/>
            </p:cNvPicPr>
            <p:nvPr/>
          </p:nvPicPr>
          <p:blipFill>
            <a:blip r:embed="rId3">
              <a:clrChange>
                <a:clrFrom>
                  <a:srgbClr val="FFFAEB"/>
                </a:clrFrom>
                <a:clrTo>
                  <a:srgbClr val="FFFAEB">
                    <a:alpha val="0"/>
                  </a:srgbClr>
                </a:clrTo>
              </a:clrChange>
              <a:extLst>
                <a:ext uri="{28A0092B-C50C-407E-A947-70E740481C1C}">
                  <a14:useLocalDpi xmlns:a14="http://schemas.microsoft.com/office/drawing/2010/main" val="0"/>
                </a:ext>
              </a:extLst>
            </a:blip>
            <a:srcRect l="10068" t="44110" r="38834" b="7886"/>
            <a:stretch>
              <a:fillRect/>
            </a:stretch>
          </p:blipFill>
          <p:spPr bwMode="auto">
            <a:xfrm>
              <a:off x="837128" y="2395471"/>
              <a:ext cx="4675031" cy="3294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3002" name="Rectangle 10"/>
            <p:cNvSpPr>
              <a:spLocks noChangeArrowheads="1"/>
            </p:cNvSpPr>
            <p:nvPr/>
          </p:nvSpPr>
          <p:spPr bwMode="auto">
            <a:xfrm>
              <a:off x="4636395" y="2653051"/>
              <a:ext cx="752585" cy="205386"/>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solidFill>
                  <a:srgbClr val="000000"/>
                </a:solidFill>
                <a:latin typeface="Times New Roman" panose="02020603050405020304" pitchFamily="18" charset="0"/>
                <a:cs typeface="Times New Roman (Hebrew)" panose="02020603050405020304" pitchFamily="18" charset="0"/>
              </a:endParaRPr>
            </a:p>
          </p:txBody>
        </p:sp>
        <p:cxnSp>
          <p:nvCxnSpPr>
            <p:cNvPr id="213003" name="Straight Arrow Connector 11"/>
            <p:cNvCxnSpPr>
              <a:cxnSpLocks noChangeShapeType="1"/>
            </p:cNvCxnSpPr>
            <p:nvPr/>
          </p:nvCxnSpPr>
          <p:spPr bwMode="auto">
            <a:xfrm>
              <a:off x="4675032" y="2755744"/>
              <a:ext cx="528033" cy="0"/>
            </a:xfrm>
            <a:prstGeom prst="straightConnector1">
              <a:avLst/>
            </a:prstGeom>
            <a:noFill/>
            <a:ln w="571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3004" name="Straight Arrow Connector 12"/>
            <p:cNvCxnSpPr>
              <a:cxnSpLocks noChangeShapeType="1"/>
            </p:cNvCxnSpPr>
            <p:nvPr/>
          </p:nvCxnSpPr>
          <p:spPr bwMode="auto">
            <a:xfrm>
              <a:off x="5239560" y="2753596"/>
              <a:ext cx="528033" cy="0"/>
            </a:xfrm>
            <a:prstGeom prst="straightConnector1">
              <a:avLst/>
            </a:prstGeom>
            <a:noFill/>
            <a:ln w="571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 name="TextBox 1"/>
          <p:cNvSpPr txBox="1"/>
          <p:nvPr/>
        </p:nvSpPr>
        <p:spPr>
          <a:xfrm>
            <a:off x="3241988" y="6368064"/>
            <a:ext cx="8937820" cy="369890"/>
          </a:xfrm>
          <a:prstGeom prst="rect">
            <a:avLst/>
          </a:prstGeom>
          <a:noFill/>
        </p:spPr>
        <p:txBody>
          <a:bodyPr wrap="square" rtlCol="0">
            <a:spAutoFit/>
          </a:bodyPr>
          <a:lstStyle/>
          <a:p>
            <a:r>
              <a:rPr lang="en-US" dirty="0"/>
              <a:t>Kessel &amp; Ben-Tal. Introduction to Proteins: Structure, Function, and Motion 2nd Edition (2018) </a:t>
            </a:r>
          </a:p>
        </p:txBody>
      </p:sp>
    </p:spTree>
    <p:extLst>
      <p:ext uri="{BB962C8B-B14F-4D97-AF65-F5344CB8AC3E}">
        <p14:creationId xmlns:p14="http://schemas.microsoft.com/office/powerpoint/2010/main" val="1264958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2000" t="7806" r="2546"/>
          <a:stretch/>
        </p:blipFill>
        <p:spPr>
          <a:xfrm>
            <a:off x="1839882" y="2279349"/>
            <a:ext cx="8728364" cy="3931929"/>
          </a:xfrm>
          <a:prstGeom prst="rect">
            <a:avLst/>
          </a:prstGeom>
        </p:spPr>
      </p:pic>
      <p:sp>
        <p:nvSpPr>
          <p:cNvPr id="249858" name="Text Box 7"/>
          <p:cNvSpPr txBox="1">
            <a:spLocks noChangeArrowheads="1"/>
          </p:cNvSpPr>
          <p:nvPr/>
        </p:nvSpPr>
        <p:spPr bwMode="auto">
          <a:xfrm>
            <a:off x="544010" y="242889"/>
            <a:ext cx="1130846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eaLnBrk="1" hangingPunct="1">
              <a:spcBef>
                <a:spcPct val="50000"/>
              </a:spcBef>
              <a:buFontTx/>
              <a:buNone/>
            </a:pPr>
            <a:r>
              <a:rPr lang="en-US" altLang="en-US" sz="4000" dirty="0">
                <a:solidFill>
                  <a:srgbClr val="3333CC"/>
                </a:solidFill>
                <a:latin typeface="+mn-lt"/>
                <a:cs typeface="Times New Roman (Hebrew)" panose="02020603050405020304" pitchFamily="18" charset="0"/>
              </a:rPr>
              <a:t>Many GPCRs form homo- or hetero-dimers</a:t>
            </a:r>
          </a:p>
        </p:txBody>
      </p:sp>
      <p:sp>
        <p:nvSpPr>
          <p:cNvPr id="249861" name="Text Box 3"/>
          <p:cNvSpPr txBox="1">
            <a:spLocks noChangeArrowheads="1"/>
          </p:cNvSpPr>
          <p:nvPr/>
        </p:nvSpPr>
        <p:spPr bwMode="auto">
          <a:xfrm>
            <a:off x="1717676" y="786130"/>
            <a:ext cx="8950325"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l" rtl="0" eaLnBrk="1" hangingPunct="1">
              <a:spcBef>
                <a:spcPct val="50000"/>
              </a:spcBef>
            </a:pPr>
            <a:r>
              <a:rPr lang="en-US" altLang="en-US" sz="2600" dirty="0">
                <a:solidFill>
                  <a:srgbClr val="339933"/>
                </a:solidFill>
                <a:latin typeface="+mj-lt"/>
                <a:cs typeface="Times New Roman (Hebrew)" panose="02020603050405020304" pitchFamily="18" charset="0"/>
                <a:sym typeface="Symbol" panose="05050102010706020507" pitchFamily="18" charset="2"/>
              </a:rPr>
              <a:t>Class A – mostly </a:t>
            </a:r>
            <a:r>
              <a:rPr lang="en-US" altLang="en-US" sz="2600" dirty="0">
                <a:solidFill>
                  <a:srgbClr val="FF0066"/>
                </a:solidFill>
                <a:latin typeface="+mj-lt"/>
                <a:cs typeface="Times New Roman (Hebrew)" panose="02020603050405020304" pitchFamily="18" charset="0"/>
                <a:sym typeface="Symbol" panose="05050102010706020507" pitchFamily="18" charset="2"/>
              </a:rPr>
              <a:t>regulation</a:t>
            </a:r>
            <a:r>
              <a:rPr lang="en-US" altLang="en-US" sz="2600" dirty="0">
                <a:solidFill>
                  <a:srgbClr val="339933"/>
                </a:solidFill>
                <a:latin typeface="+mj-lt"/>
                <a:cs typeface="Times New Roman (Hebrew)" panose="02020603050405020304" pitchFamily="18" charset="0"/>
                <a:sym typeface="Symbol" panose="05050102010706020507" pitchFamily="18" charset="2"/>
              </a:rPr>
              <a:t> (cooperativity, crosstalk)</a:t>
            </a:r>
          </a:p>
          <a:p>
            <a:pPr algn="l" rtl="0" eaLnBrk="1" hangingPunct="1">
              <a:spcBef>
                <a:spcPct val="50000"/>
              </a:spcBef>
            </a:pPr>
            <a:r>
              <a:rPr lang="en-US" altLang="en-US" sz="2600" dirty="0">
                <a:solidFill>
                  <a:srgbClr val="339933"/>
                </a:solidFill>
                <a:latin typeface="+mj-lt"/>
                <a:cs typeface="Times New Roman (Hebrew)" panose="02020603050405020304" pitchFamily="18" charset="0"/>
                <a:sym typeface="Symbol" panose="05050102010706020507" pitchFamily="18" charset="2"/>
              </a:rPr>
              <a:t>Class C – each chain may have </a:t>
            </a:r>
            <a:r>
              <a:rPr lang="en-US" altLang="en-US" sz="2600" dirty="0">
                <a:solidFill>
                  <a:srgbClr val="FF0066"/>
                </a:solidFill>
                <a:latin typeface="+mj-lt"/>
                <a:cs typeface="Times New Roman (Hebrew)" panose="02020603050405020304" pitchFamily="18" charset="0"/>
                <a:sym typeface="Symbol" panose="05050102010706020507" pitchFamily="18" charset="2"/>
              </a:rPr>
              <a:t>different roles</a:t>
            </a:r>
          </a:p>
        </p:txBody>
      </p:sp>
      <p:sp>
        <p:nvSpPr>
          <p:cNvPr id="249862" name="Rectangle 3"/>
          <p:cNvSpPr>
            <a:spLocks noChangeArrowheads="1"/>
          </p:cNvSpPr>
          <p:nvPr/>
        </p:nvSpPr>
        <p:spPr bwMode="auto">
          <a:xfrm>
            <a:off x="1577103" y="1829078"/>
            <a:ext cx="28078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dirty="0">
                <a:solidFill>
                  <a:srgbClr val="000000"/>
                </a:solidFill>
                <a:latin typeface="+mj-lt"/>
                <a:cs typeface="Times New Roman (Hebrew)" panose="02020603050405020304" pitchFamily="18" charset="0"/>
              </a:rPr>
              <a:t>μ-opioid receptor:</a:t>
            </a:r>
          </a:p>
        </p:txBody>
      </p:sp>
      <p:sp>
        <p:nvSpPr>
          <p:cNvPr id="7" name="TextBox 6"/>
          <p:cNvSpPr txBox="1"/>
          <p:nvPr/>
        </p:nvSpPr>
        <p:spPr>
          <a:xfrm>
            <a:off x="3241988" y="6368064"/>
            <a:ext cx="8937820" cy="369890"/>
          </a:xfrm>
          <a:prstGeom prst="rect">
            <a:avLst/>
          </a:prstGeom>
          <a:noFill/>
        </p:spPr>
        <p:txBody>
          <a:bodyPr wrap="square" rtlCol="0">
            <a:spAutoFit/>
          </a:bodyPr>
          <a:lstStyle/>
          <a:p>
            <a:r>
              <a:rPr lang="en-US" dirty="0"/>
              <a:t>Kessel &amp; Ben-Tal. Introduction to Proteins: Structure, Function, and Motion 2nd Edition (2018) </a:t>
            </a:r>
          </a:p>
        </p:txBody>
      </p:sp>
    </p:spTree>
    <p:extLst>
      <p:ext uri="{BB962C8B-B14F-4D97-AF65-F5344CB8AC3E}">
        <p14:creationId xmlns:p14="http://schemas.microsoft.com/office/powerpoint/2010/main" val="1820155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2000" t="7806" r="2546"/>
          <a:stretch/>
        </p:blipFill>
        <p:spPr>
          <a:xfrm>
            <a:off x="1839882" y="2279349"/>
            <a:ext cx="8728364" cy="3931929"/>
          </a:xfrm>
          <a:prstGeom prst="rect">
            <a:avLst/>
          </a:prstGeom>
        </p:spPr>
      </p:pic>
      <p:sp>
        <p:nvSpPr>
          <p:cNvPr id="7" name="TextBox 6"/>
          <p:cNvSpPr txBox="1"/>
          <p:nvPr/>
        </p:nvSpPr>
        <p:spPr>
          <a:xfrm>
            <a:off x="3241988" y="6368064"/>
            <a:ext cx="8937820" cy="369890"/>
          </a:xfrm>
          <a:prstGeom prst="rect">
            <a:avLst/>
          </a:prstGeom>
          <a:noFill/>
        </p:spPr>
        <p:txBody>
          <a:bodyPr wrap="square" rtlCol="0">
            <a:spAutoFit/>
          </a:bodyPr>
          <a:lstStyle/>
          <a:p>
            <a:r>
              <a:rPr lang="en-US" dirty="0"/>
              <a:t>Kessel &amp; Ben-Tal. Introduction to Proteins: Structure, Function, and Motion 2nd Edition (2018) </a:t>
            </a:r>
          </a:p>
        </p:txBody>
      </p:sp>
      <p:sp>
        <p:nvSpPr>
          <p:cNvPr id="3" name="TextBox 2"/>
          <p:cNvSpPr txBox="1"/>
          <p:nvPr/>
        </p:nvSpPr>
        <p:spPr>
          <a:xfrm>
            <a:off x="329184" y="841248"/>
            <a:ext cx="11667744" cy="1323439"/>
          </a:xfrm>
          <a:prstGeom prst="rect">
            <a:avLst/>
          </a:prstGeom>
          <a:noFill/>
        </p:spPr>
        <p:txBody>
          <a:bodyPr wrap="square" rtlCol="0">
            <a:spAutoFit/>
          </a:bodyPr>
          <a:lstStyle/>
          <a:p>
            <a:r>
              <a:rPr lang="en-US" sz="4000" dirty="0">
                <a:solidFill>
                  <a:srgbClr val="FF0000"/>
                </a:solidFill>
              </a:rPr>
              <a:t>Are there receptors with two-GPCR domains within the same protein chain?</a:t>
            </a:r>
          </a:p>
        </p:txBody>
      </p:sp>
      <p:sp>
        <p:nvSpPr>
          <p:cNvPr id="6" name="Text Box 7"/>
          <p:cNvSpPr txBox="1">
            <a:spLocks noChangeArrowheads="1"/>
          </p:cNvSpPr>
          <p:nvPr/>
        </p:nvSpPr>
        <p:spPr bwMode="auto">
          <a:xfrm>
            <a:off x="544010" y="242889"/>
            <a:ext cx="1130846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eaLnBrk="1" hangingPunct="1">
              <a:spcBef>
                <a:spcPct val="50000"/>
              </a:spcBef>
              <a:buFontTx/>
              <a:buNone/>
            </a:pPr>
            <a:r>
              <a:rPr lang="en-US" altLang="en-US" sz="4000" dirty="0">
                <a:solidFill>
                  <a:srgbClr val="3333CC"/>
                </a:solidFill>
                <a:latin typeface="+mn-lt"/>
                <a:cs typeface="Times New Roman (Hebrew)" panose="02020603050405020304" pitchFamily="18" charset="0"/>
              </a:rPr>
              <a:t>Many GPCRs form homo- or hetero-dimers</a:t>
            </a:r>
          </a:p>
        </p:txBody>
      </p:sp>
    </p:spTree>
    <p:extLst>
      <p:ext uri="{BB962C8B-B14F-4D97-AF65-F5344CB8AC3E}">
        <p14:creationId xmlns:p14="http://schemas.microsoft.com/office/powerpoint/2010/main" val="22823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1"/>
          <p:cNvSpPr>
            <a:spLocks noGrp="1"/>
          </p:cNvSpPr>
          <p:nvPr>
            <p:ph type="title"/>
          </p:nvPr>
        </p:nvSpPr>
        <p:spPr>
          <a:xfrm>
            <a:off x="491319" y="365125"/>
            <a:ext cx="11368585" cy="1325563"/>
          </a:xfrm>
        </p:spPr>
        <p:txBody>
          <a:bodyPr>
            <a:normAutofit/>
          </a:bodyPr>
          <a:lstStyle/>
          <a:p>
            <a:pPr algn="ctr"/>
            <a:r>
              <a:rPr lang="en-US" sz="4000" dirty="0">
                <a:latin typeface="+mn-lt"/>
              </a:rPr>
              <a:t>Finding proteins with multi-GPCR domains</a:t>
            </a:r>
          </a:p>
        </p:txBody>
      </p:sp>
      <p:sp>
        <p:nvSpPr>
          <p:cNvPr id="4" name="Content Placeholder 3"/>
          <p:cNvSpPr>
            <a:spLocks noGrp="1"/>
          </p:cNvSpPr>
          <p:nvPr>
            <p:ph idx="1"/>
          </p:nvPr>
        </p:nvSpPr>
        <p:spPr>
          <a:xfrm>
            <a:off x="838199" y="1825625"/>
            <a:ext cx="10796081" cy="3203575"/>
          </a:xfrm>
        </p:spPr>
        <p:txBody>
          <a:bodyPr>
            <a:normAutofit fontScale="92500"/>
          </a:bodyPr>
          <a:lstStyle/>
          <a:p>
            <a:r>
              <a:rPr lang="en-US" dirty="0"/>
              <a:t>Constructed HMMER profiles for all 92 GPCR domains in the (99% NR) ECOD database </a:t>
            </a:r>
          </a:p>
          <a:p>
            <a:r>
              <a:rPr lang="en-US" dirty="0"/>
              <a:t>Searched UniRef90 for proteins with </a:t>
            </a:r>
            <a:r>
              <a:rPr lang="en-US" u="sng" dirty="0"/>
              <a:t>non-overlapping</a:t>
            </a:r>
            <a:r>
              <a:rPr lang="en-US" dirty="0"/>
              <a:t> multiple GPCR domains</a:t>
            </a:r>
          </a:p>
          <a:p>
            <a:r>
              <a:rPr lang="en-US" dirty="0"/>
              <a:t>Clustered the hits using CD-HIT: found 1395 clusters </a:t>
            </a:r>
          </a:p>
          <a:p>
            <a:r>
              <a:rPr lang="en-US" dirty="0"/>
              <a:t>Selected the 16 clusters with &gt;5 hits and identical number of domains: </a:t>
            </a:r>
            <a:r>
              <a:rPr lang="en-US" dirty="0">
                <a:solidFill>
                  <a:srgbClr val="FF0000"/>
                </a:solidFill>
              </a:rPr>
              <a:t>57 proteins in total</a:t>
            </a:r>
          </a:p>
          <a:p>
            <a:r>
              <a:rPr lang="en-US" dirty="0"/>
              <a:t>Mapped them to representative genomes</a:t>
            </a:r>
          </a:p>
        </p:txBody>
      </p:sp>
      <p:sp>
        <p:nvSpPr>
          <p:cNvPr id="7" name="TextBox 6"/>
          <p:cNvSpPr txBox="1"/>
          <p:nvPr/>
        </p:nvSpPr>
        <p:spPr>
          <a:xfrm>
            <a:off x="5397061" y="6179853"/>
            <a:ext cx="6604693" cy="461665"/>
          </a:xfrm>
          <a:prstGeom prst="rect">
            <a:avLst/>
          </a:prstGeom>
          <a:noFill/>
        </p:spPr>
        <p:txBody>
          <a:bodyPr wrap="none" rtlCol="0">
            <a:spAutoFit/>
          </a:bodyPr>
          <a:lstStyle/>
          <a:p>
            <a:r>
              <a:rPr lang="en-US" sz="2400" dirty="0"/>
              <a:t>Isildayancan, Kessel, Solan, </a:t>
            </a:r>
            <a:r>
              <a:rPr lang="en-US" sz="2400" dirty="0" err="1"/>
              <a:t>Kolody</a:t>
            </a:r>
            <a:r>
              <a:rPr lang="en-US" sz="2400" dirty="0"/>
              <a:t>, Ben-Tal. </a:t>
            </a:r>
            <a:r>
              <a:rPr lang="en-US" sz="2400" i="1" dirty="0" err="1"/>
              <a:t>BioRxiv</a:t>
            </a:r>
            <a:r>
              <a:rPr lang="en-US" sz="2400" i="1" dirty="0"/>
              <a:t>.</a:t>
            </a:r>
            <a:endParaRPr lang="en-US" sz="2400" dirty="0"/>
          </a:p>
        </p:txBody>
      </p:sp>
    </p:spTree>
    <p:extLst>
      <p:ext uri="{BB962C8B-B14F-4D97-AF65-F5344CB8AC3E}">
        <p14:creationId xmlns:p14="http://schemas.microsoft.com/office/powerpoint/2010/main" val="3756067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1"/>
          <p:cNvSpPr>
            <a:spLocks noGrp="1"/>
          </p:cNvSpPr>
          <p:nvPr>
            <p:ph type="title"/>
          </p:nvPr>
        </p:nvSpPr>
        <p:spPr>
          <a:xfrm>
            <a:off x="491319" y="365125"/>
            <a:ext cx="11368585" cy="1325563"/>
          </a:xfrm>
        </p:spPr>
        <p:txBody>
          <a:bodyPr>
            <a:normAutofit/>
          </a:bodyPr>
          <a:lstStyle/>
          <a:p>
            <a:pPr algn="ctr"/>
            <a:r>
              <a:rPr lang="en-US" dirty="0">
                <a:latin typeface="+mn-lt"/>
              </a:rPr>
              <a:t>The number of ECOD GPCR HMMs aligned to each position in the sixteen clusters</a:t>
            </a:r>
          </a:p>
        </p:txBody>
      </p:sp>
      <p:pic>
        <p:nvPicPr>
          <p:cNvPr id="8" name="Picture 7" descr="Chart&#10;&#10;Description automatically generated with medium confidenc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27508" y="1921397"/>
            <a:ext cx="7194792" cy="4258456"/>
          </a:xfrm>
          <a:prstGeom prst="rect">
            <a:avLst/>
          </a:prstGeom>
        </p:spPr>
      </p:pic>
      <p:sp>
        <p:nvSpPr>
          <p:cNvPr id="5" name="TextBox 4"/>
          <p:cNvSpPr txBox="1"/>
          <p:nvPr/>
        </p:nvSpPr>
        <p:spPr>
          <a:xfrm>
            <a:off x="5397061" y="6179853"/>
            <a:ext cx="6604693" cy="461665"/>
          </a:xfrm>
          <a:prstGeom prst="rect">
            <a:avLst/>
          </a:prstGeom>
          <a:noFill/>
        </p:spPr>
        <p:txBody>
          <a:bodyPr wrap="none" rtlCol="0">
            <a:spAutoFit/>
          </a:bodyPr>
          <a:lstStyle/>
          <a:p>
            <a:r>
              <a:rPr lang="en-US" sz="2400" dirty="0"/>
              <a:t>Isildayancan, Kessel, Solan, </a:t>
            </a:r>
            <a:r>
              <a:rPr lang="en-US" sz="2400" dirty="0" err="1"/>
              <a:t>Kolody</a:t>
            </a:r>
            <a:r>
              <a:rPr lang="en-US" sz="2400" dirty="0"/>
              <a:t>, Ben-Tal. </a:t>
            </a:r>
            <a:r>
              <a:rPr lang="en-US" sz="2400" i="1" dirty="0" err="1"/>
              <a:t>BioRxiv</a:t>
            </a:r>
            <a:r>
              <a:rPr lang="en-US" sz="2400" i="1" dirty="0"/>
              <a:t>.</a:t>
            </a:r>
            <a:endParaRPr lang="en-US" sz="2400" dirty="0"/>
          </a:p>
        </p:txBody>
      </p:sp>
    </p:spTree>
    <p:extLst>
      <p:ext uri="{BB962C8B-B14F-4D97-AF65-F5344CB8AC3E}">
        <p14:creationId xmlns:p14="http://schemas.microsoft.com/office/powerpoint/2010/main" val="3171656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1"/>
          <p:cNvSpPr>
            <a:spLocks noGrp="1"/>
          </p:cNvSpPr>
          <p:nvPr>
            <p:ph type="title"/>
          </p:nvPr>
        </p:nvSpPr>
        <p:spPr>
          <a:xfrm>
            <a:off x="491319" y="365125"/>
            <a:ext cx="11368585" cy="1325563"/>
          </a:xfrm>
        </p:spPr>
        <p:txBody>
          <a:bodyPr>
            <a:normAutofit/>
          </a:bodyPr>
          <a:lstStyle/>
          <a:p>
            <a:pPr algn="ctr"/>
            <a:r>
              <a:rPr lang="en-US" sz="4000" dirty="0">
                <a:latin typeface="+mn-lt"/>
              </a:rPr>
              <a:t>UPI0010FAD569 was filtered out because it has only one full GPCR domain</a:t>
            </a:r>
            <a:endParaRPr lang="en-US" sz="4000" i="1" dirty="0">
              <a:latin typeface="+mn-lt"/>
            </a:endParaRPr>
          </a:p>
        </p:txBody>
      </p:sp>
      <p:pic>
        <p:nvPicPr>
          <p:cNvPr id="5" name="Picture 4" descr="Graphical user interface&#10;&#10;Description automatically generated with low confidenc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269" y="1967696"/>
            <a:ext cx="10824436" cy="2858948"/>
          </a:xfrm>
          <a:prstGeom prst="rect">
            <a:avLst/>
          </a:prstGeom>
        </p:spPr>
      </p:pic>
      <p:sp>
        <p:nvSpPr>
          <p:cNvPr id="9" name="TextBox 8"/>
          <p:cNvSpPr txBox="1"/>
          <p:nvPr/>
        </p:nvSpPr>
        <p:spPr>
          <a:xfrm>
            <a:off x="5397061" y="6179853"/>
            <a:ext cx="6604693" cy="461665"/>
          </a:xfrm>
          <a:prstGeom prst="rect">
            <a:avLst/>
          </a:prstGeom>
          <a:noFill/>
        </p:spPr>
        <p:txBody>
          <a:bodyPr wrap="none" rtlCol="0">
            <a:spAutoFit/>
          </a:bodyPr>
          <a:lstStyle/>
          <a:p>
            <a:r>
              <a:rPr lang="en-US" sz="2400" dirty="0"/>
              <a:t>Isildayancan, Kessel, Solan, </a:t>
            </a:r>
            <a:r>
              <a:rPr lang="en-US" sz="2400" dirty="0" err="1"/>
              <a:t>Kolody</a:t>
            </a:r>
            <a:r>
              <a:rPr lang="en-US" sz="2400" dirty="0"/>
              <a:t>, Ben-Tal. </a:t>
            </a:r>
            <a:r>
              <a:rPr lang="en-US" sz="2400" i="1" dirty="0" err="1"/>
              <a:t>BioRxiv</a:t>
            </a:r>
            <a:r>
              <a:rPr lang="en-US" sz="2400" i="1" dirty="0"/>
              <a:t>.</a:t>
            </a:r>
            <a:endParaRPr lang="en-US" sz="2400" dirty="0"/>
          </a:p>
        </p:txBody>
      </p:sp>
    </p:spTree>
    <p:extLst>
      <p:ext uri="{BB962C8B-B14F-4D97-AF65-F5344CB8AC3E}">
        <p14:creationId xmlns:p14="http://schemas.microsoft.com/office/powerpoint/2010/main" val="2756892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8905"/>
            <a:ext cx="10515600" cy="1079261"/>
          </a:xfrm>
        </p:spPr>
        <p:txBody>
          <a:bodyPr>
            <a:normAutofit fontScale="90000"/>
          </a:bodyPr>
          <a:lstStyle/>
          <a:p>
            <a:pPr algn="ctr"/>
            <a:r>
              <a:rPr lang="en-US" dirty="0" err="1">
                <a:latin typeface="+mn-lt"/>
              </a:rPr>
              <a:t>AlphaFold</a:t>
            </a:r>
            <a:r>
              <a:rPr lang="en-US" dirty="0">
                <a:latin typeface="+mn-lt"/>
              </a:rPr>
              <a:t> predicted pairwise aligned errors for the 57 multi-GPCR proteins</a:t>
            </a:r>
          </a:p>
        </p:txBody>
      </p:sp>
      <p:pic>
        <p:nvPicPr>
          <p:cNvPr id="7" name="Picture 6" descr="Graphical user interface&#10;&#10;Description automatically generated with low confidence"/>
          <p:cNvPicPr>
            <a:picLocks noChangeAspect="1"/>
          </p:cNvPicPr>
          <p:nvPr/>
        </p:nvPicPr>
        <p:blipFill rotWithShape="1">
          <a:blip r:embed="rId3"/>
          <a:srcRect l="13246" t="1" b="43657"/>
          <a:stretch/>
        </p:blipFill>
        <p:spPr bwMode="auto">
          <a:xfrm>
            <a:off x="182092" y="1396425"/>
            <a:ext cx="5978182" cy="4971356"/>
          </a:xfrm>
          <a:prstGeom prst="rect">
            <a:avLst/>
          </a:prstGeom>
          <a:ln>
            <a:noFill/>
          </a:ln>
          <a:extLst>
            <a:ext uri="{53640926-AAD7-44D8-BBD7-CCE9431645EC}">
              <a14:shadowObscured xmlns:a14="http://schemas.microsoft.com/office/drawing/2010/main"/>
            </a:ext>
          </a:extLst>
        </p:spPr>
      </p:pic>
      <p:sp>
        <p:nvSpPr>
          <p:cNvPr id="5" name="TextBox 4"/>
          <p:cNvSpPr txBox="1"/>
          <p:nvPr/>
        </p:nvSpPr>
        <p:spPr>
          <a:xfrm>
            <a:off x="5593006" y="6362735"/>
            <a:ext cx="6604693" cy="461665"/>
          </a:xfrm>
          <a:prstGeom prst="rect">
            <a:avLst/>
          </a:prstGeom>
          <a:noFill/>
        </p:spPr>
        <p:txBody>
          <a:bodyPr wrap="none" rtlCol="0">
            <a:spAutoFit/>
          </a:bodyPr>
          <a:lstStyle/>
          <a:p>
            <a:r>
              <a:rPr lang="en-US" sz="2400" dirty="0"/>
              <a:t>Isildayancan, Kessel, Solan, </a:t>
            </a:r>
            <a:r>
              <a:rPr lang="en-US" sz="2400" dirty="0" err="1"/>
              <a:t>Kolody</a:t>
            </a:r>
            <a:r>
              <a:rPr lang="en-US" sz="2400" dirty="0"/>
              <a:t>, Ben-Tal. </a:t>
            </a:r>
            <a:r>
              <a:rPr lang="en-US" sz="2400" i="1" dirty="0" err="1"/>
              <a:t>BioRxiv</a:t>
            </a:r>
            <a:r>
              <a:rPr lang="en-US" sz="2400" i="1" dirty="0"/>
              <a:t>.</a:t>
            </a:r>
            <a:endParaRPr lang="en-US" sz="2400" dirty="0"/>
          </a:p>
        </p:txBody>
      </p:sp>
      <p:pic>
        <p:nvPicPr>
          <p:cNvPr id="3" name="Picture 2" descr="Graphical user interface&#10;&#10;Description automatically generated with low confidence">
            <a:extLst>
              <a:ext uri="{FF2B5EF4-FFF2-40B4-BE49-F238E27FC236}">
                <a16:creationId xmlns:a16="http://schemas.microsoft.com/office/drawing/2014/main" id="{EFBB9663-549B-16FF-6F81-31F3453576EE}"/>
              </a:ext>
            </a:extLst>
          </p:cNvPr>
          <p:cNvPicPr>
            <a:picLocks noChangeAspect="1"/>
          </p:cNvPicPr>
          <p:nvPr/>
        </p:nvPicPr>
        <p:blipFill rotWithShape="1">
          <a:blip r:embed="rId3"/>
          <a:srcRect l="13246" t="55098" r="2959" b="-353"/>
          <a:stretch/>
        </p:blipFill>
        <p:spPr bwMode="auto">
          <a:xfrm>
            <a:off x="6235615" y="1304984"/>
            <a:ext cx="5774293" cy="399309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33768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8905"/>
            <a:ext cx="10515600" cy="1079261"/>
          </a:xfrm>
        </p:spPr>
        <p:txBody>
          <a:bodyPr>
            <a:normAutofit fontScale="90000"/>
          </a:bodyPr>
          <a:lstStyle/>
          <a:p>
            <a:pPr algn="ctr"/>
            <a:r>
              <a:rPr lang="en-US" dirty="0">
                <a:latin typeface="+mn-lt"/>
              </a:rPr>
              <a:t>Tree of life distribution of homologues of the 57 multi-GPCR proteins</a:t>
            </a:r>
          </a:p>
        </p:txBody>
      </p:sp>
      <p:pic>
        <p:nvPicPr>
          <p:cNvPr id="5" name="Picture 4" descr="A picture containing diagram&#10;&#10;Description automatically generated"/>
          <p:cNvPicPr>
            <a:picLocks noChangeAspect="1"/>
          </p:cNvPicPr>
          <p:nvPr/>
        </p:nvPicPr>
        <p:blipFill>
          <a:blip r:embed="rId3"/>
          <a:stretch>
            <a:fillRect/>
          </a:stretch>
        </p:blipFill>
        <p:spPr>
          <a:xfrm>
            <a:off x="312516" y="1084414"/>
            <a:ext cx="3928038" cy="5637583"/>
          </a:xfrm>
          <a:prstGeom prst="rect">
            <a:avLst/>
          </a:prstGeom>
        </p:spPr>
      </p:pic>
      <p:sp>
        <p:nvSpPr>
          <p:cNvPr id="3" name="TextBox 2"/>
          <p:cNvSpPr txBox="1"/>
          <p:nvPr/>
        </p:nvSpPr>
        <p:spPr>
          <a:xfrm>
            <a:off x="4766238" y="1157462"/>
            <a:ext cx="6970491" cy="1815882"/>
          </a:xfrm>
          <a:prstGeom prst="rect">
            <a:avLst/>
          </a:prstGeom>
          <a:noFill/>
        </p:spPr>
        <p:txBody>
          <a:bodyPr wrap="square" rtlCol="0">
            <a:spAutoFit/>
          </a:bodyPr>
          <a:lstStyle/>
          <a:p>
            <a:r>
              <a:rPr lang="en-US" sz="2800" dirty="0"/>
              <a:t>Single-domain GPCRs are broadly distributed in eukaryotes: primitive yeast and </a:t>
            </a:r>
            <a:r>
              <a:rPr lang="en-US" sz="2800" dirty="0" err="1"/>
              <a:t>choanoflagellate</a:t>
            </a:r>
            <a:r>
              <a:rPr lang="en-US" sz="2800" dirty="0"/>
              <a:t> </a:t>
            </a:r>
            <a:r>
              <a:rPr lang="en-US" sz="2800" dirty="0">
                <a:sym typeface="Wingdings" panose="05000000000000000000" pitchFamily="2" charset="2"/>
              </a:rPr>
              <a:t> </a:t>
            </a:r>
            <a:r>
              <a:rPr lang="en-US" sz="2800" dirty="0"/>
              <a:t>animals, </a:t>
            </a:r>
            <a:r>
              <a:rPr lang="en-US" sz="2800" dirty="0">
                <a:solidFill>
                  <a:srgbClr val="FF0000"/>
                </a:solidFill>
              </a:rPr>
              <a:t>but multi-GPCRs only in Chordata species</a:t>
            </a:r>
          </a:p>
        </p:txBody>
      </p:sp>
      <p:sp>
        <p:nvSpPr>
          <p:cNvPr id="7" name="TextBox 6"/>
          <p:cNvSpPr txBox="1"/>
          <p:nvPr/>
        </p:nvSpPr>
        <p:spPr>
          <a:xfrm>
            <a:off x="4766238" y="4909592"/>
            <a:ext cx="6796871" cy="954107"/>
          </a:xfrm>
          <a:prstGeom prst="rect">
            <a:avLst/>
          </a:prstGeom>
          <a:noFill/>
        </p:spPr>
        <p:txBody>
          <a:bodyPr wrap="square" rtlCol="0">
            <a:spAutoFit/>
          </a:bodyPr>
          <a:lstStyle/>
          <a:p>
            <a:r>
              <a:rPr lang="en-US" sz="2800" dirty="0"/>
              <a:t>By homology, most are olfactory receptors, and some are chemokine receptors</a:t>
            </a:r>
          </a:p>
        </p:txBody>
      </p:sp>
      <p:sp>
        <p:nvSpPr>
          <p:cNvPr id="8" name="TextBox 7"/>
          <p:cNvSpPr txBox="1"/>
          <p:nvPr/>
        </p:nvSpPr>
        <p:spPr>
          <a:xfrm>
            <a:off x="4766239" y="2966967"/>
            <a:ext cx="6796870" cy="1815882"/>
          </a:xfrm>
          <a:prstGeom prst="rect">
            <a:avLst/>
          </a:prstGeom>
          <a:noFill/>
        </p:spPr>
        <p:txBody>
          <a:bodyPr wrap="square" rtlCol="0">
            <a:spAutoFit/>
          </a:bodyPr>
          <a:lstStyle/>
          <a:p>
            <a:r>
              <a:rPr lang="en-US" sz="2800" dirty="0"/>
              <a:t>Multi-GPCR domains are only homologous to muscarinic acetylcholine receptor M3, adenosine receptor, rhodopsin, and orexin receptor type 2/ chemokine receptor type 4. </a:t>
            </a:r>
          </a:p>
        </p:txBody>
      </p:sp>
      <p:sp>
        <p:nvSpPr>
          <p:cNvPr id="9" name="TextBox 8"/>
          <p:cNvSpPr txBox="1"/>
          <p:nvPr/>
        </p:nvSpPr>
        <p:spPr>
          <a:xfrm>
            <a:off x="5397061" y="6179853"/>
            <a:ext cx="6604693" cy="461665"/>
          </a:xfrm>
          <a:prstGeom prst="rect">
            <a:avLst/>
          </a:prstGeom>
          <a:noFill/>
        </p:spPr>
        <p:txBody>
          <a:bodyPr wrap="none" rtlCol="0">
            <a:spAutoFit/>
          </a:bodyPr>
          <a:lstStyle/>
          <a:p>
            <a:r>
              <a:rPr lang="en-US" sz="2400" dirty="0"/>
              <a:t>Isildayancan, Kessel, Solan, </a:t>
            </a:r>
            <a:r>
              <a:rPr lang="en-US" sz="2400" dirty="0" err="1"/>
              <a:t>Kolody</a:t>
            </a:r>
            <a:r>
              <a:rPr lang="en-US" sz="2400" dirty="0"/>
              <a:t>, Ben-Tal. </a:t>
            </a:r>
            <a:r>
              <a:rPr lang="en-US" sz="2400" i="1" dirty="0" err="1"/>
              <a:t>BioRxiv</a:t>
            </a:r>
            <a:r>
              <a:rPr lang="en-US" sz="2400" i="1" dirty="0"/>
              <a:t>.</a:t>
            </a:r>
            <a:endParaRPr lang="en-US" sz="2400" dirty="0"/>
          </a:p>
        </p:txBody>
      </p:sp>
    </p:spTree>
    <p:extLst>
      <p:ext uri="{BB962C8B-B14F-4D97-AF65-F5344CB8AC3E}">
        <p14:creationId xmlns:p14="http://schemas.microsoft.com/office/powerpoint/2010/main" val="1593662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3671" y="200417"/>
            <a:ext cx="11185743" cy="707886"/>
          </a:xfrm>
          <a:prstGeom prst="rect">
            <a:avLst/>
          </a:prstGeom>
          <a:noFill/>
        </p:spPr>
        <p:txBody>
          <a:bodyPr wrap="square" rtlCol="0">
            <a:spAutoFit/>
          </a:bodyPr>
          <a:lstStyle/>
          <a:p>
            <a:pPr algn="ctr">
              <a:spcBef>
                <a:spcPct val="50000"/>
              </a:spcBef>
              <a:defRPr/>
            </a:pPr>
            <a:r>
              <a:rPr lang="en-US" sz="4000" dirty="0" err="1"/>
              <a:t>AlphaFold</a:t>
            </a:r>
            <a:r>
              <a:rPr lang="en-US" sz="4000" dirty="0"/>
              <a:t> model of tri-GPCR-domain S7QBY2</a:t>
            </a:r>
            <a:endParaRPr lang="en-US" sz="4000" dirty="0">
              <a:cs typeface="Arial" panose="020B0604020202020204" pitchFamily="34" charset="0"/>
            </a:endParaRPr>
          </a:p>
        </p:txBody>
      </p:sp>
      <p:sp>
        <p:nvSpPr>
          <p:cNvPr id="39" name="Rectangle 4"/>
          <p:cNvSpPr>
            <a:spLocks noChangeAspect="1"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 name="Picture 8"/>
          <p:cNvPicPr>
            <a:picLocks noChangeAspect="1"/>
          </p:cNvPicPr>
          <p:nvPr/>
        </p:nvPicPr>
        <p:blipFill>
          <a:blip r:embed="rId3"/>
          <a:stretch>
            <a:fillRect/>
          </a:stretch>
        </p:blipFill>
        <p:spPr>
          <a:xfrm>
            <a:off x="3124199" y="796289"/>
            <a:ext cx="6286013" cy="5568763"/>
          </a:xfrm>
          <a:prstGeom prst="rect">
            <a:avLst/>
          </a:prstGeom>
        </p:spPr>
      </p:pic>
      <p:sp>
        <p:nvSpPr>
          <p:cNvPr id="2" name="TextBox 1"/>
          <p:cNvSpPr txBox="1"/>
          <p:nvPr/>
        </p:nvSpPr>
        <p:spPr>
          <a:xfrm>
            <a:off x="8981954" y="3946967"/>
            <a:ext cx="2882097" cy="1200329"/>
          </a:xfrm>
          <a:prstGeom prst="rect">
            <a:avLst/>
          </a:prstGeom>
          <a:noFill/>
        </p:spPr>
        <p:txBody>
          <a:bodyPr wrap="square" rtlCol="0">
            <a:spAutoFit/>
          </a:bodyPr>
          <a:lstStyle/>
          <a:p>
            <a:r>
              <a:rPr lang="en-US" sz="2400" dirty="0"/>
              <a:t>The </a:t>
            </a:r>
            <a:r>
              <a:rPr lang="en-US" sz="2400" dirty="0" err="1"/>
              <a:t>VAICxPLxY</a:t>
            </a:r>
            <a:r>
              <a:rPr lang="en-US" sz="2400" dirty="0"/>
              <a:t> (</a:t>
            </a:r>
            <a:r>
              <a:rPr lang="en-US" sz="2400" dirty="0">
                <a:solidFill>
                  <a:srgbClr val="A12F89"/>
                </a:solidFill>
              </a:rPr>
              <a:t>pink</a:t>
            </a:r>
            <a:r>
              <a:rPr lang="en-US" sz="2400" dirty="0"/>
              <a:t>) and KAFSTCASH (</a:t>
            </a:r>
            <a:r>
              <a:rPr lang="en-US" sz="2400" dirty="0">
                <a:solidFill>
                  <a:srgbClr val="FF0000"/>
                </a:solidFill>
              </a:rPr>
              <a:t>red</a:t>
            </a:r>
            <a:r>
              <a:rPr lang="en-US" sz="2400" dirty="0"/>
              <a:t>) motifs </a:t>
            </a:r>
          </a:p>
        </p:txBody>
      </p:sp>
      <p:sp>
        <p:nvSpPr>
          <p:cNvPr id="3" name="TextBox 2"/>
          <p:cNvSpPr txBox="1"/>
          <p:nvPr/>
        </p:nvSpPr>
        <p:spPr>
          <a:xfrm>
            <a:off x="266218" y="3773346"/>
            <a:ext cx="2673752" cy="1938992"/>
          </a:xfrm>
          <a:prstGeom prst="rect">
            <a:avLst/>
          </a:prstGeom>
          <a:noFill/>
        </p:spPr>
        <p:txBody>
          <a:bodyPr wrap="square" rtlCol="0">
            <a:spAutoFit/>
          </a:bodyPr>
          <a:lstStyle/>
          <a:p>
            <a:r>
              <a:rPr lang="en-US" sz="2400" dirty="0"/>
              <a:t>The β</a:t>
            </a:r>
            <a:r>
              <a:rPr lang="en-US" sz="2400" baseline="-25000" dirty="0"/>
              <a:t>2</a:t>
            </a:r>
            <a:r>
              <a:rPr lang="en-US" sz="2400" dirty="0"/>
              <a:t>-AR receptor (yellow) in complex with G protein. </a:t>
            </a:r>
          </a:p>
          <a:p>
            <a:r>
              <a:rPr lang="en-US" sz="2400" dirty="0"/>
              <a:t>α (</a:t>
            </a:r>
            <a:r>
              <a:rPr lang="en-US" sz="2400" dirty="0">
                <a:solidFill>
                  <a:srgbClr val="0066CC"/>
                </a:solidFill>
              </a:rPr>
              <a:t>blue</a:t>
            </a:r>
            <a:r>
              <a:rPr lang="en-US" sz="2400" dirty="0"/>
              <a:t>), β (</a:t>
            </a:r>
            <a:r>
              <a:rPr lang="en-US" sz="2400" dirty="0">
                <a:solidFill>
                  <a:srgbClr val="00FFFF"/>
                </a:solidFill>
              </a:rPr>
              <a:t>cyan</a:t>
            </a:r>
            <a:r>
              <a:rPr lang="en-US" sz="2400" dirty="0"/>
              <a:t>), and γ (</a:t>
            </a:r>
            <a:r>
              <a:rPr lang="en-US" sz="2400" dirty="0">
                <a:solidFill>
                  <a:srgbClr val="A12F89"/>
                </a:solidFill>
              </a:rPr>
              <a:t>magenta</a:t>
            </a:r>
            <a:r>
              <a:rPr lang="en-US" sz="2400" dirty="0"/>
              <a:t>)</a:t>
            </a:r>
          </a:p>
        </p:txBody>
      </p:sp>
      <p:sp>
        <p:nvSpPr>
          <p:cNvPr id="10" name="TextBox 9"/>
          <p:cNvSpPr txBox="1"/>
          <p:nvPr/>
        </p:nvSpPr>
        <p:spPr>
          <a:xfrm>
            <a:off x="5397061" y="6179853"/>
            <a:ext cx="6604693" cy="461665"/>
          </a:xfrm>
          <a:prstGeom prst="rect">
            <a:avLst/>
          </a:prstGeom>
          <a:noFill/>
        </p:spPr>
        <p:txBody>
          <a:bodyPr wrap="none" rtlCol="0">
            <a:spAutoFit/>
          </a:bodyPr>
          <a:lstStyle/>
          <a:p>
            <a:r>
              <a:rPr lang="en-US" sz="2400" dirty="0"/>
              <a:t>Isildayancan, Kessel, Solan, </a:t>
            </a:r>
            <a:r>
              <a:rPr lang="en-US" sz="2400" dirty="0" err="1"/>
              <a:t>Kolody</a:t>
            </a:r>
            <a:r>
              <a:rPr lang="en-US" sz="2400" dirty="0"/>
              <a:t>, Ben-Tal. </a:t>
            </a:r>
            <a:r>
              <a:rPr lang="en-US" sz="2400" i="1" dirty="0" err="1"/>
              <a:t>BioRxiv</a:t>
            </a:r>
            <a:r>
              <a:rPr lang="en-US" sz="2400" i="1" dirty="0"/>
              <a:t>.</a:t>
            </a:r>
            <a:endParaRPr lang="en-US" sz="2400" dirty="0"/>
          </a:p>
        </p:txBody>
      </p:sp>
    </p:spTree>
    <p:extLst>
      <p:ext uri="{BB962C8B-B14F-4D97-AF65-F5344CB8AC3E}">
        <p14:creationId xmlns:p14="http://schemas.microsoft.com/office/powerpoint/2010/main" val="100102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415600" y="593367"/>
            <a:ext cx="11360800" cy="1268598"/>
          </a:xfrm>
          <a:prstGeom prst="rect">
            <a:avLst/>
          </a:prstGeom>
        </p:spPr>
        <p:txBody>
          <a:bodyPr spcFirstLastPara="1" vert="horz" wrap="square" lIns="121900" tIns="121900" rIns="121900" bIns="121900" rtlCol="0" anchor="t" anchorCtr="0">
            <a:normAutofit fontScale="90000"/>
          </a:bodyPr>
          <a:lstStyle/>
          <a:p>
            <a:r>
              <a:rPr lang="en-CA" sz="4400" dirty="0"/>
              <a:t>The A0A6B0S3N8 </a:t>
            </a:r>
            <a:r>
              <a:rPr lang="en-CA" dirty="0"/>
              <a:t>bi-GPCR from Bos </a:t>
            </a:r>
            <a:r>
              <a:rPr lang="en-CA" i="1" dirty="0" err="1"/>
              <a:t>mutus</a:t>
            </a:r>
            <a:r>
              <a:rPr lang="en-CA" i="1" dirty="0"/>
              <a:t> </a:t>
            </a:r>
            <a:r>
              <a:rPr lang="en-CA" dirty="0"/>
              <a:t>(Wild Yak): A </a:t>
            </a:r>
            <a:r>
              <a:rPr lang="en-CA" sz="4400" dirty="0"/>
              <a:t>chemokine receptor?</a:t>
            </a:r>
            <a:endParaRPr dirty="0"/>
          </a:p>
        </p:txBody>
      </p:sp>
      <p:pic>
        <p:nvPicPr>
          <p:cNvPr id="61" name="Google Shape;61;p14"/>
          <p:cNvPicPr preferRelativeResize="0"/>
          <p:nvPr/>
        </p:nvPicPr>
        <p:blipFill>
          <a:blip r:embed="rId3">
            <a:alphaModFix/>
          </a:blip>
          <a:stretch>
            <a:fillRect/>
          </a:stretch>
        </p:blipFill>
        <p:spPr>
          <a:xfrm>
            <a:off x="575948" y="2068481"/>
            <a:ext cx="2624832" cy="2318301"/>
          </a:xfrm>
          <a:prstGeom prst="rect">
            <a:avLst/>
          </a:prstGeom>
          <a:noFill/>
          <a:ln>
            <a:noFill/>
          </a:ln>
        </p:spPr>
      </p:pic>
      <p:sp>
        <p:nvSpPr>
          <p:cNvPr id="62" name="Google Shape;62;p14"/>
          <p:cNvSpPr txBox="1"/>
          <p:nvPr/>
        </p:nvSpPr>
        <p:spPr>
          <a:xfrm>
            <a:off x="232718" y="4543870"/>
            <a:ext cx="11726563" cy="1354176"/>
          </a:xfrm>
          <a:prstGeom prst="rect">
            <a:avLst/>
          </a:prstGeom>
          <a:noFill/>
          <a:ln>
            <a:noFill/>
          </a:ln>
        </p:spPr>
        <p:txBody>
          <a:bodyPr spcFirstLastPara="1" wrap="square" lIns="121900" tIns="121900" rIns="121900" bIns="121900" anchor="t" anchorCtr="0">
            <a:spAutoFit/>
          </a:bodyPr>
          <a:lstStyle/>
          <a:p>
            <a:pPr marL="152396">
              <a:buSzPts val="1800"/>
            </a:pPr>
            <a:r>
              <a:rPr lang="en-CA" sz="2400" dirty="0"/>
              <a:t>N-term domain is closest to </a:t>
            </a:r>
            <a:r>
              <a:rPr lang="en-CA" sz="2400" dirty="0">
                <a:solidFill>
                  <a:srgbClr val="00B050"/>
                </a:solidFill>
              </a:rPr>
              <a:t>C-C Chemokine Receptor 2</a:t>
            </a:r>
            <a:r>
              <a:rPr lang="en-CA" sz="2400" dirty="0"/>
              <a:t>:</a:t>
            </a:r>
            <a:r>
              <a:rPr lang="en-CA" sz="2400" dirty="0">
                <a:solidFill>
                  <a:srgbClr val="0000FF"/>
                </a:solidFill>
              </a:rPr>
              <a:t> </a:t>
            </a:r>
            <a:r>
              <a:rPr lang="en-CA" sz="2400" dirty="0"/>
              <a:t>84% seq identity, 100% coverage</a:t>
            </a:r>
            <a:br>
              <a:rPr lang="en-CA" sz="2400" dirty="0"/>
            </a:br>
            <a:endParaRPr sz="2400" dirty="0"/>
          </a:p>
          <a:p>
            <a:pPr marL="152396">
              <a:buSzPts val="1800"/>
            </a:pPr>
            <a:r>
              <a:rPr lang="en-CA" sz="2400" dirty="0"/>
              <a:t>C-term domain is closest to </a:t>
            </a:r>
            <a:r>
              <a:rPr lang="en-CA" sz="2400" dirty="0">
                <a:solidFill>
                  <a:srgbClr val="0000FF"/>
                </a:solidFill>
              </a:rPr>
              <a:t>C-C Chemokine Receptor 5</a:t>
            </a:r>
            <a:r>
              <a:rPr lang="en-CA" sz="2400" dirty="0"/>
              <a:t>:</a:t>
            </a:r>
            <a:r>
              <a:rPr lang="en-CA" sz="2400" dirty="0">
                <a:solidFill>
                  <a:srgbClr val="0000FF"/>
                </a:solidFill>
              </a:rPr>
              <a:t> </a:t>
            </a:r>
            <a:r>
              <a:rPr lang="en-CA" sz="2400" dirty="0"/>
              <a:t>99.6% seq identity, 100% coverage</a:t>
            </a:r>
            <a:endParaRPr sz="2400" dirty="0">
              <a:solidFill>
                <a:srgbClr val="0000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2" name="Google Shape;62;p14"/>
          <p:cNvSpPr txBox="1"/>
          <p:nvPr/>
        </p:nvSpPr>
        <p:spPr>
          <a:xfrm>
            <a:off x="617838" y="5749601"/>
            <a:ext cx="10873946" cy="984845"/>
          </a:xfrm>
          <a:prstGeom prst="rect">
            <a:avLst/>
          </a:prstGeom>
          <a:noFill/>
          <a:ln>
            <a:noFill/>
          </a:ln>
        </p:spPr>
        <p:txBody>
          <a:bodyPr spcFirstLastPara="1" wrap="square" lIns="121900" tIns="121900" rIns="121900" bIns="121900" anchor="t" anchorCtr="0">
            <a:spAutoFit/>
          </a:bodyPr>
          <a:lstStyle/>
          <a:p>
            <a:r>
              <a:rPr lang="en-CA" sz="2400" dirty="0"/>
              <a:t>Superimposition of the </a:t>
            </a:r>
            <a:r>
              <a:rPr lang="en-CA" sz="2400" dirty="0" err="1"/>
              <a:t>AlphaFold</a:t>
            </a:r>
            <a:r>
              <a:rPr lang="en-CA" sz="2400" dirty="0"/>
              <a:t> model of A0A6B0S3N8 and two PDB structures: CCR2-CCL2 (7XA3; RMSD=1.4 Å) and CCR5-CCL5 (5UIW, RMSD=0.5 Å) complexes</a:t>
            </a:r>
            <a:endParaRPr sz="2400" dirty="0"/>
          </a:p>
        </p:txBody>
      </p:sp>
      <p:sp>
        <p:nvSpPr>
          <p:cNvPr id="60" name="Google Shape;60;p14"/>
          <p:cNvSpPr txBox="1">
            <a:spLocks noGrp="1"/>
          </p:cNvSpPr>
          <p:nvPr>
            <p:ph type="title"/>
          </p:nvPr>
        </p:nvSpPr>
        <p:spPr>
          <a:xfrm>
            <a:off x="0" y="390167"/>
            <a:ext cx="12192000" cy="763600"/>
          </a:xfrm>
          <a:prstGeom prst="rect">
            <a:avLst/>
          </a:prstGeom>
        </p:spPr>
        <p:txBody>
          <a:bodyPr spcFirstLastPara="1" vert="horz" wrap="square" lIns="121900" tIns="121900" rIns="121900" bIns="121900" rtlCol="0" anchor="t" anchorCtr="0">
            <a:normAutofit fontScale="90000"/>
          </a:bodyPr>
          <a:lstStyle/>
          <a:p>
            <a:r>
              <a:rPr lang="en-CA" dirty="0"/>
              <a:t>Tentative complex of </a:t>
            </a:r>
            <a:r>
              <a:rPr lang="en-CA" sz="4400" dirty="0"/>
              <a:t>A0A6B0S3N8 </a:t>
            </a:r>
            <a:r>
              <a:rPr lang="en-CA" dirty="0"/>
              <a:t>with chemokine ligands</a:t>
            </a:r>
            <a:endParaRPr dirty="0"/>
          </a:p>
        </p:txBody>
      </p:sp>
      <p:pic>
        <p:nvPicPr>
          <p:cNvPr id="11" name="Google Shape;63;p14">
            <a:extLst>
              <a:ext uri="{FF2B5EF4-FFF2-40B4-BE49-F238E27FC236}">
                <a16:creationId xmlns:a16="http://schemas.microsoft.com/office/drawing/2014/main" id="{941C3294-E21C-4111-BEB2-51E9EAB1A0A4}"/>
              </a:ext>
            </a:extLst>
          </p:cNvPr>
          <p:cNvPicPr preferRelativeResize="0">
            <a:picLocks noChangeAspect="1"/>
          </p:cNvPicPr>
          <p:nvPr/>
        </p:nvPicPr>
        <p:blipFill>
          <a:blip r:embed="rId3">
            <a:alphaModFix/>
          </a:blip>
          <a:stretch>
            <a:fillRect/>
          </a:stretch>
        </p:blipFill>
        <p:spPr>
          <a:xfrm>
            <a:off x="2364750" y="796499"/>
            <a:ext cx="7462036" cy="541179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p:nvPr/>
        </p:nvSpPr>
        <p:spPr>
          <a:xfrm>
            <a:off x="3492733" y="4303233"/>
            <a:ext cx="2603200" cy="561200"/>
          </a:xfrm>
          <a:prstGeom prst="rect">
            <a:avLst/>
          </a:prstGeom>
          <a:noFill/>
          <a:ln w="3810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1" name="Google Shape;71;p15"/>
          <p:cNvSpPr/>
          <p:nvPr/>
        </p:nvSpPr>
        <p:spPr>
          <a:xfrm>
            <a:off x="7710700" y="4303233"/>
            <a:ext cx="2002400" cy="561200"/>
          </a:xfrm>
          <a:prstGeom prst="rect">
            <a:avLst/>
          </a:prstGeom>
          <a:noFill/>
          <a:ln w="3810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nvGrpSpPr>
          <p:cNvPr id="2" name="Group 1">
            <a:extLst>
              <a:ext uri="{FF2B5EF4-FFF2-40B4-BE49-F238E27FC236}">
                <a16:creationId xmlns:a16="http://schemas.microsoft.com/office/drawing/2014/main" id="{03DF2CAE-F904-4B9E-A46C-30CCDB87AE5B}"/>
              </a:ext>
            </a:extLst>
          </p:cNvPr>
          <p:cNvGrpSpPr/>
          <p:nvPr/>
        </p:nvGrpSpPr>
        <p:grpSpPr>
          <a:xfrm>
            <a:off x="461816" y="2418810"/>
            <a:ext cx="11268365" cy="4161695"/>
            <a:chOff x="461816" y="2196384"/>
            <a:chExt cx="11268365" cy="4161695"/>
          </a:xfrm>
        </p:grpSpPr>
        <p:pic>
          <p:nvPicPr>
            <p:cNvPr id="69" name="Google Shape;69;p15"/>
            <p:cNvPicPr preferRelativeResize="0"/>
            <p:nvPr/>
          </p:nvPicPr>
          <p:blipFill>
            <a:blip r:embed="rId3">
              <a:alphaModFix/>
            </a:blip>
            <a:stretch>
              <a:fillRect/>
            </a:stretch>
          </p:blipFill>
          <p:spPr>
            <a:xfrm>
              <a:off x="461816" y="2196384"/>
              <a:ext cx="11268365" cy="2465233"/>
            </a:xfrm>
            <a:prstGeom prst="rect">
              <a:avLst/>
            </a:prstGeom>
            <a:noFill/>
            <a:ln>
              <a:noFill/>
            </a:ln>
          </p:spPr>
        </p:pic>
        <p:sp>
          <p:nvSpPr>
            <p:cNvPr id="72" name="Google Shape;72;p15"/>
            <p:cNvSpPr/>
            <p:nvPr/>
          </p:nvSpPr>
          <p:spPr>
            <a:xfrm rot="-5400000">
              <a:off x="6749033" y="4355033"/>
              <a:ext cx="334400" cy="1832400"/>
            </a:xfrm>
            <a:prstGeom prst="leftBracket">
              <a:avLst>
                <a:gd name="adj" fmla="val 37978"/>
              </a:avLst>
            </a:prstGeom>
            <a:noFill/>
            <a:ln w="3810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3" name="Google Shape;73;p15"/>
            <p:cNvSpPr txBox="1"/>
            <p:nvPr/>
          </p:nvSpPr>
          <p:spPr>
            <a:xfrm>
              <a:off x="5854233" y="5373234"/>
              <a:ext cx="2124000" cy="984845"/>
            </a:xfrm>
            <a:prstGeom prst="rect">
              <a:avLst/>
            </a:prstGeom>
            <a:noFill/>
            <a:ln>
              <a:noFill/>
            </a:ln>
          </p:spPr>
          <p:txBody>
            <a:bodyPr spcFirstLastPara="1" wrap="square" lIns="121900" tIns="121900" rIns="121900" bIns="121900" anchor="t" anchorCtr="0">
              <a:spAutoFit/>
            </a:bodyPr>
            <a:lstStyle/>
            <a:p>
              <a:r>
                <a:rPr lang="en-CA" sz="2400"/>
                <a:t>~10k bp distance</a:t>
              </a:r>
              <a:endParaRPr sz="2400"/>
            </a:p>
          </p:txBody>
        </p:sp>
      </p:grpSp>
      <p:sp>
        <p:nvSpPr>
          <p:cNvPr id="4" name="Title 3">
            <a:extLst>
              <a:ext uri="{FF2B5EF4-FFF2-40B4-BE49-F238E27FC236}">
                <a16:creationId xmlns:a16="http://schemas.microsoft.com/office/drawing/2014/main" id="{053DA7ED-DF2D-4BC4-AC89-4CC2E3682491}"/>
              </a:ext>
            </a:extLst>
          </p:cNvPr>
          <p:cNvSpPr>
            <a:spLocks noGrp="1"/>
          </p:cNvSpPr>
          <p:nvPr>
            <p:ph type="title"/>
          </p:nvPr>
        </p:nvSpPr>
        <p:spPr>
          <a:xfrm>
            <a:off x="415600" y="593367"/>
            <a:ext cx="11360800" cy="1383028"/>
          </a:xfrm>
        </p:spPr>
        <p:txBody>
          <a:bodyPr>
            <a:normAutofit fontScale="90000"/>
          </a:bodyPr>
          <a:lstStyle/>
          <a:p>
            <a:r>
              <a:rPr lang="en-CA" sz="4400" dirty="0"/>
              <a:t>The two chemokine receptors are near one another in the Cow genome</a:t>
            </a:r>
            <a:endParaRPr lang="LID4096"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80" name="Google Shape;80;p16"/>
          <p:cNvSpPr/>
          <p:nvPr/>
        </p:nvSpPr>
        <p:spPr>
          <a:xfrm>
            <a:off x="4175500" y="4072333"/>
            <a:ext cx="1699200" cy="561200"/>
          </a:xfrm>
          <a:prstGeom prst="rect">
            <a:avLst/>
          </a:prstGeom>
          <a:noFill/>
          <a:ln w="3810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81" name="Google Shape;81;p16"/>
          <p:cNvSpPr/>
          <p:nvPr/>
        </p:nvSpPr>
        <p:spPr>
          <a:xfrm>
            <a:off x="6659417" y="4072333"/>
            <a:ext cx="1699200" cy="561200"/>
          </a:xfrm>
          <a:prstGeom prst="rect">
            <a:avLst/>
          </a:prstGeom>
          <a:noFill/>
          <a:ln w="3810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nvGrpSpPr>
          <p:cNvPr id="5" name="Group 4">
            <a:extLst>
              <a:ext uri="{FF2B5EF4-FFF2-40B4-BE49-F238E27FC236}">
                <a16:creationId xmlns:a16="http://schemas.microsoft.com/office/drawing/2014/main" id="{3464638B-B882-4B96-B0C5-AAC01BE9E4C4}"/>
              </a:ext>
            </a:extLst>
          </p:cNvPr>
          <p:cNvGrpSpPr/>
          <p:nvPr/>
        </p:nvGrpSpPr>
        <p:grpSpPr>
          <a:xfrm>
            <a:off x="657005" y="2332697"/>
            <a:ext cx="10877999" cy="4253179"/>
            <a:chOff x="657005" y="1949634"/>
            <a:chExt cx="10877999" cy="4253179"/>
          </a:xfrm>
        </p:grpSpPr>
        <p:pic>
          <p:nvPicPr>
            <p:cNvPr id="79" name="Google Shape;79;p16"/>
            <p:cNvPicPr preferRelativeResize="0"/>
            <p:nvPr/>
          </p:nvPicPr>
          <p:blipFill>
            <a:blip r:embed="rId3">
              <a:alphaModFix/>
            </a:blip>
            <a:stretch>
              <a:fillRect/>
            </a:stretch>
          </p:blipFill>
          <p:spPr>
            <a:xfrm>
              <a:off x="657005" y="1949634"/>
              <a:ext cx="10877999" cy="2958733"/>
            </a:xfrm>
            <a:prstGeom prst="rect">
              <a:avLst/>
            </a:prstGeom>
            <a:noFill/>
            <a:ln>
              <a:noFill/>
            </a:ln>
          </p:spPr>
        </p:pic>
        <p:sp>
          <p:nvSpPr>
            <p:cNvPr id="82" name="Google Shape;82;p16"/>
            <p:cNvSpPr/>
            <p:nvPr/>
          </p:nvSpPr>
          <p:spPr>
            <a:xfrm rot="-5400000">
              <a:off x="6330033" y="4466767"/>
              <a:ext cx="121200" cy="1396000"/>
            </a:xfrm>
            <a:prstGeom prst="leftBracket">
              <a:avLst>
                <a:gd name="adj" fmla="val 8333"/>
              </a:avLst>
            </a:prstGeom>
            <a:noFill/>
            <a:ln w="3810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83" name="Google Shape;83;p16"/>
            <p:cNvSpPr txBox="1"/>
            <p:nvPr/>
          </p:nvSpPr>
          <p:spPr>
            <a:xfrm>
              <a:off x="5328633" y="5217968"/>
              <a:ext cx="2124000" cy="984845"/>
            </a:xfrm>
            <a:prstGeom prst="rect">
              <a:avLst/>
            </a:prstGeom>
            <a:noFill/>
            <a:ln>
              <a:noFill/>
            </a:ln>
          </p:spPr>
          <p:txBody>
            <a:bodyPr spcFirstLastPara="1" wrap="square" lIns="121900" tIns="121900" rIns="121900" bIns="121900" anchor="t" anchorCtr="0">
              <a:spAutoFit/>
            </a:bodyPr>
            <a:lstStyle/>
            <a:p>
              <a:r>
                <a:rPr lang="en-CA" sz="2400"/>
                <a:t>~10k bp distance</a:t>
              </a:r>
              <a:endParaRPr sz="2400"/>
            </a:p>
          </p:txBody>
        </p:sp>
      </p:grpSp>
      <p:sp>
        <p:nvSpPr>
          <p:cNvPr id="3" name="Title 2">
            <a:extLst>
              <a:ext uri="{FF2B5EF4-FFF2-40B4-BE49-F238E27FC236}">
                <a16:creationId xmlns:a16="http://schemas.microsoft.com/office/drawing/2014/main" id="{AA47CCC3-AC5D-4E8B-A1AA-C6F870B443A2}"/>
              </a:ext>
            </a:extLst>
          </p:cNvPr>
          <p:cNvSpPr>
            <a:spLocks noGrp="1"/>
          </p:cNvSpPr>
          <p:nvPr>
            <p:ph type="title"/>
          </p:nvPr>
        </p:nvSpPr>
        <p:spPr>
          <a:xfrm>
            <a:off x="415600" y="593366"/>
            <a:ext cx="11360800" cy="1160467"/>
          </a:xfrm>
        </p:spPr>
        <p:txBody>
          <a:bodyPr>
            <a:normAutofit fontScale="90000"/>
          </a:bodyPr>
          <a:lstStyle/>
          <a:p>
            <a:r>
              <a:rPr lang="en-CA" sz="4400" dirty="0"/>
              <a:t>The two chemokine receptors are near one another in the Human genome</a:t>
            </a:r>
            <a:endParaRPr lang="LID4096"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0" y="54368"/>
            <a:ext cx="12191900" cy="780000"/>
          </a:xfrm>
          <a:prstGeom prst="rect">
            <a:avLst/>
          </a:prstGeom>
        </p:spPr>
        <p:txBody>
          <a:bodyPr spcFirstLastPara="1" vert="horz" wrap="square" lIns="121900" tIns="121900" rIns="121900" bIns="121900" rtlCol="0" anchor="t" anchorCtr="0">
            <a:noAutofit/>
          </a:bodyPr>
          <a:lstStyle/>
          <a:p>
            <a:pPr>
              <a:buSzPts val="891"/>
            </a:pPr>
            <a:r>
              <a:rPr lang="en-CA" sz="4000" dirty="0"/>
              <a:t>CCR2 and CCR5 co-express in the human immune system</a:t>
            </a:r>
            <a:endParaRPr sz="4000" dirty="0"/>
          </a:p>
        </p:txBody>
      </p:sp>
      <p:sp>
        <p:nvSpPr>
          <p:cNvPr id="89" name="Google Shape;89;p17"/>
          <p:cNvSpPr txBox="1"/>
          <p:nvPr/>
        </p:nvSpPr>
        <p:spPr>
          <a:xfrm>
            <a:off x="5929500" y="5974634"/>
            <a:ext cx="6262400" cy="779532"/>
          </a:xfrm>
          <a:prstGeom prst="rect">
            <a:avLst/>
          </a:prstGeom>
          <a:noFill/>
          <a:ln>
            <a:noFill/>
          </a:ln>
        </p:spPr>
        <p:txBody>
          <a:bodyPr spcFirstLastPara="1" wrap="square" lIns="121900" tIns="121900" rIns="121900" bIns="121900" anchor="t" anchorCtr="0">
            <a:spAutoFit/>
          </a:bodyPr>
          <a:lstStyle/>
          <a:p>
            <a:r>
              <a:rPr lang="en-CA" sz="1733">
                <a:solidFill>
                  <a:schemeClr val="accent2"/>
                </a:solidFill>
                <a:highlight>
                  <a:srgbClr val="FFFFFF"/>
                </a:highlight>
                <a:latin typeface="Roboto"/>
                <a:ea typeface="Roboto"/>
                <a:cs typeface="Roboto"/>
                <a:sym typeface="Roboto"/>
              </a:rPr>
              <a:t>Adapted from Hughes CE, Nibbs RJB. A guide to chemokines and their receptors. FEBS J. 2018 Aug;285(16):2944-2971.</a:t>
            </a:r>
            <a:endParaRPr sz="2400"/>
          </a:p>
        </p:txBody>
      </p:sp>
      <p:pic>
        <p:nvPicPr>
          <p:cNvPr id="91" name="Google Shape;91;p17"/>
          <p:cNvPicPr preferRelativeResize="0">
            <a:picLocks noChangeAspect="1"/>
          </p:cNvPicPr>
          <p:nvPr/>
        </p:nvPicPr>
        <p:blipFill>
          <a:blip r:embed="rId3">
            <a:alphaModFix/>
          </a:blip>
          <a:stretch>
            <a:fillRect/>
          </a:stretch>
        </p:blipFill>
        <p:spPr>
          <a:xfrm>
            <a:off x="752363" y="1424233"/>
            <a:ext cx="4672253" cy="5170886"/>
          </a:xfrm>
          <a:prstGeom prst="rect">
            <a:avLst/>
          </a:prstGeom>
          <a:noFill/>
          <a:ln>
            <a:noFill/>
          </a:ln>
        </p:spPr>
      </p:pic>
      <p:sp>
        <p:nvSpPr>
          <p:cNvPr id="2" name="Arrow: Down 1">
            <a:extLst>
              <a:ext uri="{FF2B5EF4-FFF2-40B4-BE49-F238E27FC236}">
                <a16:creationId xmlns:a16="http://schemas.microsoft.com/office/drawing/2014/main" id="{D4D843D8-E460-4C0B-A256-1DDEE07251FA}"/>
              </a:ext>
            </a:extLst>
          </p:cNvPr>
          <p:cNvSpPr/>
          <p:nvPr/>
        </p:nvSpPr>
        <p:spPr>
          <a:xfrm>
            <a:off x="1952367" y="1025612"/>
            <a:ext cx="123569" cy="460406"/>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 name="Arrow: Down 6">
            <a:extLst>
              <a:ext uri="{FF2B5EF4-FFF2-40B4-BE49-F238E27FC236}">
                <a16:creationId xmlns:a16="http://schemas.microsoft.com/office/drawing/2014/main" id="{3645290E-FBBB-44CF-9AC7-962874F69190}"/>
              </a:ext>
            </a:extLst>
          </p:cNvPr>
          <p:cNvSpPr/>
          <p:nvPr/>
        </p:nvSpPr>
        <p:spPr>
          <a:xfrm>
            <a:off x="2240694" y="1029728"/>
            <a:ext cx="123569" cy="460406"/>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2000" t="7806" r="2546"/>
          <a:stretch/>
        </p:blipFill>
        <p:spPr>
          <a:xfrm>
            <a:off x="1839882" y="2395099"/>
            <a:ext cx="8728364" cy="3931929"/>
          </a:xfrm>
          <a:prstGeom prst="rect">
            <a:avLst/>
          </a:prstGeom>
        </p:spPr>
      </p:pic>
      <p:sp>
        <p:nvSpPr>
          <p:cNvPr id="249858" name="Text Box 7"/>
          <p:cNvSpPr txBox="1">
            <a:spLocks noChangeArrowheads="1"/>
          </p:cNvSpPr>
          <p:nvPr/>
        </p:nvSpPr>
        <p:spPr bwMode="auto">
          <a:xfrm>
            <a:off x="194553" y="242889"/>
            <a:ext cx="12529226"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a:spcBef>
                <a:spcPct val="50000"/>
              </a:spcBef>
              <a:buNone/>
            </a:pPr>
            <a:r>
              <a:rPr lang="en-US" altLang="en-US" sz="4000" dirty="0">
                <a:solidFill>
                  <a:srgbClr val="3333CC"/>
                </a:solidFill>
                <a:latin typeface="+mn-lt"/>
                <a:cs typeface="Times New Roman (Hebrew)" panose="02020603050405020304" pitchFamily="18" charset="0"/>
              </a:rPr>
              <a:t>But proper GPCR function requires an N-terminal out topology… </a:t>
            </a:r>
          </a:p>
          <a:p>
            <a:pPr algn="ctr" rtl="0">
              <a:spcBef>
                <a:spcPct val="50000"/>
              </a:spcBef>
              <a:buNone/>
            </a:pPr>
            <a:r>
              <a:rPr lang="en-US" altLang="en-US" sz="4000" dirty="0">
                <a:solidFill>
                  <a:srgbClr val="3333CC"/>
                </a:solidFill>
                <a:latin typeface="+mn-lt"/>
                <a:cs typeface="Times New Roman (Hebrew)" panose="02020603050405020304" pitchFamily="18" charset="0"/>
              </a:rPr>
              <a:t>As in homo- or hetero-dimers</a:t>
            </a:r>
          </a:p>
        </p:txBody>
      </p:sp>
      <p:sp>
        <p:nvSpPr>
          <p:cNvPr id="7" name="TextBox 6"/>
          <p:cNvSpPr txBox="1"/>
          <p:nvPr/>
        </p:nvSpPr>
        <p:spPr>
          <a:xfrm>
            <a:off x="3241988" y="6368064"/>
            <a:ext cx="8937820" cy="369890"/>
          </a:xfrm>
          <a:prstGeom prst="rect">
            <a:avLst/>
          </a:prstGeom>
          <a:noFill/>
        </p:spPr>
        <p:txBody>
          <a:bodyPr wrap="square" rtlCol="0">
            <a:spAutoFit/>
          </a:bodyPr>
          <a:lstStyle/>
          <a:p>
            <a:r>
              <a:rPr lang="en-US" dirty="0">
                <a:latin typeface="+mj-lt"/>
              </a:rPr>
              <a:t>Kessel &amp; Ben-Tal. Introduction to Proteins: Structure, Function, and Motion 2nd Edition (2018) </a:t>
            </a:r>
          </a:p>
        </p:txBody>
      </p:sp>
    </p:spTree>
    <p:extLst>
      <p:ext uri="{BB962C8B-B14F-4D97-AF65-F5344CB8AC3E}">
        <p14:creationId xmlns:p14="http://schemas.microsoft.com/office/powerpoint/2010/main" val="3745156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4"/>
          <p:cNvSpPr>
            <a:spLocks noChangeAspect="1"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 name="Picture 8"/>
          <p:cNvPicPr>
            <a:picLocks noChangeAspect="1"/>
          </p:cNvPicPr>
          <p:nvPr/>
        </p:nvPicPr>
        <p:blipFill>
          <a:blip r:embed="rId3"/>
          <a:stretch>
            <a:fillRect/>
          </a:stretch>
        </p:blipFill>
        <p:spPr>
          <a:xfrm>
            <a:off x="3124199" y="870436"/>
            <a:ext cx="6286013" cy="5568763"/>
          </a:xfrm>
          <a:prstGeom prst="rect">
            <a:avLst/>
          </a:prstGeom>
        </p:spPr>
      </p:pic>
      <p:sp>
        <p:nvSpPr>
          <p:cNvPr id="2" name="TextBox 1"/>
          <p:cNvSpPr txBox="1"/>
          <p:nvPr/>
        </p:nvSpPr>
        <p:spPr>
          <a:xfrm>
            <a:off x="8981954" y="3946967"/>
            <a:ext cx="2882097" cy="1200329"/>
          </a:xfrm>
          <a:prstGeom prst="rect">
            <a:avLst/>
          </a:prstGeom>
          <a:noFill/>
        </p:spPr>
        <p:txBody>
          <a:bodyPr wrap="square" rtlCol="0">
            <a:spAutoFit/>
          </a:bodyPr>
          <a:lstStyle/>
          <a:p>
            <a:r>
              <a:rPr lang="en-US" sz="2400" dirty="0"/>
              <a:t>The </a:t>
            </a:r>
            <a:r>
              <a:rPr lang="en-US" sz="2400" dirty="0" err="1"/>
              <a:t>VAICxPLxY</a:t>
            </a:r>
            <a:r>
              <a:rPr lang="en-US" sz="2400" dirty="0"/>
              <a:t> (</a:t>
            </a:r>
            <a:r>
              <a:rPr lang="en-US" sz="2400" dirty="0">
                <a:solidFill>
                  <a:srgbClr val="A12F89"/>
                </a:solidFill>
              </a:rPr>
              <a:t>pink</a:t>
            </a:r>
            <a:r>
              <a:rPr lang="en-US" sz="2400" dirty="0"/>
              <a:t>) and KAFSTCASH (</a:t>
            </a:r>
            <a:r>
              <a:rPr lang="en-US" sz="2400" dirty="0">
                <a:solidFill>
                  <a:srgbClr val="FF0000"/>
                </a:solidFill>
              </a:rPr>
              <a:t>red</a:t>
            </a:r>
            <a:r>
              <a:rPr lang="en-US" sz="2400" dirty="0"/>
              <a:t>) motifs </a:t>
            </a:r>
          </a:p>
        </p:txBody>
      </p:sp>
      <p:sp>
        <p:nvSpPr>
          <p:cNvPr id="3" name="TextBox 2"/>
          <p:cNvSpPr txBox="1"/>
          <p:nvPr/>
        </p:nvSpPr>
        <p:spPr>
          <a:xfrm>
            <a:off x="266218" y="3773346"/>
            <a:ext cx="2673752" cy="1938992"/>
          </a:xfrm>
          <a:prstGeom prst="rect">
            <a:avLst/>
          </a:prstGeom>
          <a:noFill/>
        </p:spPr>
        <p:txBody>
          <a:bodyPr wrap="square" rtlCol="0">
            <a:spAutoFit/>
          </a:bodyPr>
          <a:lstStyle/>
          <a:p>
            <a:r>
              <a:rPr lang="en-US" sz="2400" dirty="0"/>
              <a:t>The β</a:t>
            </a:r>
            <a:r>
              <a:rPr lang="en-US" sz="2400" baseline="-25000" dirty="0"/>
              <a:t>2</a:t>
            </a:r>
            <a:r>
              <a:rPr lang="en-US" sz="2400" dirty="0"/>
              <a:t>-AR receptor (yellow) in complex with G protein. </a:t>
            </a:r>
          </a:p>
          <a:p>
            <a:r>
              <a:rPr lang="en-US" sz="2400" dirty="0"/>
              <a:t>α (</a:t>
            </a:r>
            <a:r>
              <a:rPr lang="en-US" sz="2400" dirty="0">
                <a:solidFill>
                  <a:srgbClr val="0066CC"/>
                </a:solidFill>
              </a:rPr>
              <a:t>blue</a:t>
            </a:r>
            <a:r>
              <a:rPr lang="en-US" sz="2400" dirty="0"/>
              <a:t>), β (</a:t>
            </a:r>
            <a:r>
              <a:rPr lang="en-US" sz="2400" dirty="0">
                <a:solidFill>
                  <a:srgbClr val="00FFFF"/>
                </a:solidFill>
              </a:rPr>
              <a:t>cyan</a:t>
            </a:r>
            <a:r>
              <a:rPr lang="en-US" sz="2400" dirty="0"/>
              <a:t>), and γ (</a:t>
            </a:r>
            <a:r>
              <a:rPr lang="en-US" sz="2400" dirty="0">
                <a:solidFill>
                  <a:srgbClr val="A12F89"/>
                </a:solidFill>
              </a:rPr>
              <a:t>magenta</a:t>
            </a:r>
            <a:r>
              <a:rPr lang="en-US" sz="2400" dirty="0"/>
              <a:t>)</a:t>
            </a:r>
          </a:p>
        </p:txBody>
      </p:sp>
      <p:sp>
        <p:nvSpPr>
          <p:cNvPr id="10" name="TextBox 9"/>
          <p:cNvSpPr txBox="1"/>
          <p:nvPr/>
        </p:nvSpPr>
        <p:spPr>
          <a:xfrm>
            <a:off x="5397061" y="6179853"/>
            <a:ext cx="6604693" cy="461665"/>
          </a:xfrm>
          <a:prstGeom prst="rect">
            <a:avLst/>
          </a:prstGeom>
          <a:noFill/>
        </p:spPr>
        <p:txBody>
          <a:bodyPr wrap="none" rtlCol="0">
            <a:spAutoFit/>
          </a:bodyPr>
          <a:lstStyle/>
          <a:p>
            <a:r>
              <a:rPr lang="en-US" sz="2400" dirty="0"/>
              <a:t>Isildayancan, Kessel, Solan, </a:t>
            </a:r>
            <a:r>
              <a:rPr lang="en-US" sz="2400" dirty="0" err="1"/>
              <a:t>Kolody</a:t>
            </a:r>
            <a:r>
              <a:rPr lang="en-US" sz="2400" dirty="0"/>
              <a:t>, Ben-Tal. </a:t>
            </a:r>
            <a:r>
              <a:rPr lang="en-US" sz="2400" i="1" dirty="0" err="1"/>
              <a:t>BioRxiv</a:t>
            </a:r>
            <a:r>
              <a:rPr lang="en-US" sz="2400" i="1" dirty="0"/>
              <a:t>.</a:t>
            </a:r>
            <a:endParaRPr lang="en-US" sz="2400" dirty="0"/>
          </a:p>
        </p:txBody>
      </p:sp>
      <p:sp>
        <p:nvSpPr>
          <p:cNvPr id="6" name="TextBox 5"/>
          <p:cNvSpPr txBox="1"/>
          <p:nvPr/>
        </p:nvSpPr>
        <p:spPr>
          <a:xfrm>
            <a:off x="563671" y="138632"/>
            <a:ext cx="11185743" cy="707886"/>
          </a:xfrm>
          <a:prstGeom prst="rect">
            <a:avLst/>
          </a:prstGeom>
          <a:noFill/>
        </p:spPr>
        <p:txBody>
          <a:bodyPr wrap="square" rtlCol="0">
            <a:spAutoFit/>
          </a:bodyPr>
          <a:lstStyle/>
          <a:p>
            <a:pPr algn="ctr">
              <a:spcBef>
                <a:spcPct val="50000"/>
              </a:spcBef>
              <a:defRPr/>
            </a:pPr>
            <a:r>
              <a:rPr lang="en-US" sz="4000" dirty="0"/>
              <a:t>Membrane topology and the positive-inside rule</a:t>
            </a:r>
            <a:endParaRPr lang="en-US" sz="4000" dirty="0">
              <a:cs typeface="Arial" panose="020B0604020202020204" pitchFamily="34" charset="0"/>
            </a:endParaRPr>
          </a:p>
        </p:txBody>
      </p:sp>
      <p:sp>
        <p:nvSpPr>
          <p:cNvPr id="8" name="TextBox 7">
            <a:extLst>
              <a:ext uri="{FF2B5EF4-FFF2-40B4-BE49-F238E27FC236}">
                <a16:creationId xmlns:a16="http://schemas.microsoft.com/office/drawing/2014/main" id="{CC030B33-C5F7-481C-86B0-4E2E8BE631CD}"/>
              </a:ext>
            </a:extLst>
          </p:cNvPr>
          <p:cNvSpPr txBox="1"/>
          <p:nvPr/>
        </p:nvSpPr>
        <p:spPr>
          <a:xfrm>
            <a:off x="9418562" y="1158455"/>
            <a:ext cx="1220607" cy="707886"/>
          </a:xfrm>
          <a:prstGeom prst="rect">
            <a:avLst/>
          </a:prstGeom>
          <a:noFill/>
        </p:spPr>
        <p:txBody>
          <a:bodyPr wrap="square" rtlCol="0">
            <a:spAutoFit/>
          </a:bodyPr>
          <a:lstStyle/>
          <a:p>
            <a:r>
              <a:rPr lang="en-US" sz="4000" dirty="0">
                <a:solidFill>
                  <a:srgbClr val="00FFFF"/>
                </a:solidFill>
              </a:rPr>
              <a:t>K, R</a:t>
            </a:r>
          </a:p>
        </p:txBody>
      </p:sp>
      <p:sp>
        <p:nvSpPr>
          <p:cNvPr id="4" name="Oval 3">
            <a:extLst>
              <a:ext uri="{FF2B5EF4-FFF2-40B4-BE49-F238E27FC236}">
                <a16:creationId xmlns:a16="http://schemas.microsoft.com/office/drawing/2014/main" id="{57F65FFE-24B3-4959-B462-784AC41FFC4A}"/>
              </a:ext>
            </a:extLst>
          </p:cNvPr>
          <p:cNvSpPr>
            <a:spLocks noChangeAspect="1"/>
          </p:cNvSpPr>
          <p:nvPr/>
        </p:nvSpPr>
        <p:spPr>
          <a:xfrm>
            <a:off x="9057497" y="1385331"/>
            <a:ext cx="308919" cy="308919"/>
          </a:xfrm>
          <a:prstGeom prst="ellipse">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3128879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02352"/>
            <a:ext cx="12192000" cy="1323439"/>
          </a:xfrm>
          <a:prstGeom prst="rect">
            <a:avLst/>
          </a:prstGeom>
          <a:noFill/>
        </p:spPr>
        <p:txBody>
          <a:bodyPr wrap="square" rtlCol="0">
            <a:spAutoFit/>
          </a:bodyPr>
          <a:lstStyle/>
          <a:p>
            <a:pPr algn="ctr"/>
            <a:r>
              <a:rPr lang="en-US" sz="4000" dirty="0">
                <a:solidFill>
                  <a:srgbClr val="003399"/>
                </a:solidFill>
              </a:rPr>
              <a:t>Unsatisfied backbone hydrogen bonds in the membrane are energetically costly</a:t>
            </a:r>
          </a:p>
        </p:txBody>
      </p:sp>
      <p:sp>
        <p:nvSpPr>
          <p:cNvPr id="2" name="TextBox 1"/>
          <p:cNvSpPr txBox="1"/>
          <p:nvPr/>
        </p:nvSpPr>
        <p:spPr>
          <a:xfrm>
            <a:off x="573203" y="6346206"/>
            <a:ext cx="8134069" cy="461665"/>
          </a:xfrm>
          <a:prstGeom prst="rect">
            <a:avLst/>
          </a:prstGeom>
          <a:noFill/>
        </p:spPr>
        <p:txBody>
          <a:bodyPr wrap="square" rtlCol="0">
            <a:spAutoFit/>
          </a:bodyPr>
          <a:lstStyle/>
          <a:p>
            <a:r>
              <a:rPr lang="en-US" sz="2400" dirty="0"/>
              <a:t>Ben-Tal, </a:t>
            </a:r>
            <a:r>
              <a:rPr lang="en-US" sz="2400" dirty="0" err="1"/>
              <a:t>Sitkoff</a:t>
            </a:r>
            <a:r>
              <a:rPr lang="en-US" sz="2400" dirty="0"/>
              <a:t>, </a:t>
            </a:r>
            <a:r>
              <a:rPr lang="en-US" sz="2400" dirty="0" err="1"/>
              <a:t>Topol</a:t>
            </a:r>
            <a:r>
              <a:rPr lang="en-US" sz="2400" dirty="0"/>
              <a:t>, Yang, Burt, Honig (1997) J Phys </a:t>
            </a:r>
            <a:r>
              <a:rPr lang="en-US" sz="2400" dirty="0" err="1"/>
              <a:t>Chem</a:t>
            </a:r>
            <a:r>
              <a:rPr lang="en-US" sz="2400" dirty="0"/>
              <a:t> B</a:t>
            </a:r>
          </a:p>
        </p:txBody>
      </p:sp>
      <p:grpSp>
        <p:nvGrpSpPr>
          <p:cNvPr id="3" name="Group 2"/>
          <p:cNvGrpSpPr/>
          <p:nvPr/>
        </p:nvGrpSpPr>
        <p:grpSpPr>
          <a:xfrm>
            <a:off x="820558" y="1478989"/>
            <a:ext cx="3642245" cy="4822331"/>
            <a:chOff x="820558" y="1478989"/>
            <a:chExt cx="3642245" cy="4822331"/>
          </a:xfrm>
        </p:grpSpPr>
        <p:pic>
          <p:nvPicPr>
            <p:cNvPr id="6" name="Picture 5"/>
            <p:cNvPicPr>
              <a:picLocks noChangeAspect="1"/>
            </p:cNvPicPr>
            <p:nvPr/>
          </p:nvPicPr>
          <p:blipFill>
            <a:blip r:embed="rId3"/>
            <a:stretch>
              <a:fillRect/>
            </a:stretch>
          </p:blipFill>
          <p:spPr>
            <a:xfrm>
              <a:off x="820558" y="1478989"/>
              <a:ext cx="3642245" cy="4822331"/>
            </a:xfrm>
            <a:prstGeom prst="rect">
              <a:avLst/>
            </a:prstGeom>
          </p:spPr>
        </p:pic>
        <p:sp>
          <p:nvSpPr>
            <p:cNvPr id="7" name="Oval 6"/>
            <p:cNvSpPr/>
            <p:nvPr/>
          </p:nvSpPr>
          <p:spPr>
            <a:xfrm>
              <a:off x="2540022" y="4405291"/>
              <a:ext cx="709684" cy="395785"/>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66CC"/>
                </a:solidFill>
              </a:endParaRPr>
            </a:p>
          </p:txBody>
        </p:sp>
      </p:grpSp>
      <p:grpSp>
        <p:nvGrpSpPr>
          <p:cNvPr id="8" name="Group 7"/>
          <p:cNvGrpSpPr/>
          <p:nvPr/>
        </p:nvGrpSpPr>
        <p:grpSpPr>
          <a:xfrm>
            <a:off x="4942390" y="2534855"/>
            <a:ext cx="7037406" cy="954107"/>
            <a:chOff x="4942390" y="4502550"/>
            <a:chExt cx="7037406" cy="954107"/>
          </a:xfrm>
        </p:grpSpPr>
        <p:sp>
          <p:nvSpPr>
            <p:cNvPr id="5" name="TextBox 4"/>
            <p:cNvSpPr txBox="1"/>
            <p:nvPr/>
          </p:nvSpPr>
          <p:spPr>
            <a:xfrm>
              <a:off x="5729467" y="4502550"/>
              <a:ext cx="6250329" cy="954107"/>
            </a:xfrm>
            <a:prstGeom prst="rect">
              <a:avLst/>
            </a:prstGeom>
            <a:noFill/>
          </p:spPr>
          <p:txBody>
            <a:bodyPr wrap="square" rtlCol="0">
              <a:spAutoFit/>
            </a:bodyPr>
            <a:lstStyle/>
            <a:p>
              <a:r>
                <a:rPr lang="en-US" sz="2800" dirty="0">
                  <a:solidFill>
                    <a:srgbClr val="0066CC"/>
                  </a:solidFill>
                </a:rPr>
                <a:t>The linkers connecting the GPCR domains should be hydrophobic TM helices</a:t>
              </a:r>
            </a:p>
          </p:txBody>
        </p:sp>
        <p:sp>
          <p:nvSpPr>
            <p:cNvPr id="13" name="Right Arrow 12"/>
            <p:cNvSpPr/>
            <p:nvPr/>
          </p:nvSpPr>
          <p:spPr>
            <a:xfrm>
              <a:off x="4942390" y="4629873"/>
              <a:ext cx="636607" cy="2847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p:cNvSpPr txBox="1"/>
          <p:nvPr/>
        </p:nvSpPr>
        <p:spPr>
          <a:xfrm>
            <a:off x="5104435" y="4236334"/>
            <a:ext cx="6875361" cy="954107"/>
          </a:xfrm>
          <a:prstGeom prst="rect">
            <a:avLst/>
          </a:prstGeom>
          <a:noFill/>
        </p:spPr>
        <p:txBody>
          <a:bodyPr wrap="square" rtlCol="0">
            <a:spAutoFit/>
          </a:bodyPr>
          <a:lstStyle/>
          <a:p>
            <a:r>
              <a:rPr lang="en-US" sz="2800" dirty="0">
                <a:solidFill>
                  <a:srgbClr val="FF0000"/>
                </a:solidFill>
              </a:rPr>
              <a:t>But most linkers are not sufficiently long and hydrophobic…</a:t>
            </a:r>
          </a:p>
        </p:txBody>
      </p:sp>
    </p:spTree>
    <p:extLst>
      <p:ext uri="{BB962C8B-B14F-4D97-AF65-F5344CB8AC3E}">
        <p14:creationId xmlns:p14="http://schemas.microsoft.com/office/powerpoint/2010/main" val="1561462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3671" y="200417"/>
            <a:ext cx="11185743" cy="1323439"/>
          </a:xfrm>
          <a:prstGeom prst="rect">
            <a:avLst/>
          </a:prstGeom>
          <a:noFill/>
        </p:spPr>
        <p:txBody>
          <a:bodyPr wrap="square" rtlCol="0">
            <a:spAutoFit/>
          </a:bodyPr>
          <a:lstStyle/>
          <a:p>
            <a:pPr algn="ctr">
              <a:spcBef>
                <a:spcPct val="50000"/>
              </a:spcBef>
              <a:defRPr/>
            </a:pPr>
            <a:r>
              <a:rPr lang="en-US" sz="4000" dirty="0"/>
              <a:t>Predicted structure of two-GPCR-domain A0A3L7HXX2 (from rodent)</a:t>
            </a:r>
            <a:endParaRPr lang="en-US" sz="4000" dirty="0">
              <a:cs typeface="Arial" panose="020B0604020202020204" pitchFamily="34" charset="0"/>
            </a:endParaRPr>
          </a:p>
        </p:txBody>
      </p:sp>
      <p:sp>
        <p:nvSpPr>
          <p:cNvPr id="39" name="Rectangle 4"/>
          <p:cNvSpPr>
            <a:spLocks noChangeAspect="1"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 name="Picture 7"/>
          <p:cNvPicPr>
            <a:picLocks noChangeAspect="1"/>
          </p:cNvPicPr>
          <p:nvPr/>
        </p:nvPicPr>
        <p:blipFill>
          <a:blip r:embed="rId3"/>
          <a:stretch>
            <a:fillRect/>
          </a:stretch>
        </p:blipFill>
        <p:spPr>
          <a:xfrm>
            <a:off x="2430687" y="1445455"/>
            <a:ext cx="8449520" cy="4752695"/>
          </a:xfrm>
          <a:prstGeom prst="rect">
            <a:avLst/>
          </a:prstGeom>
        </p:spPr>
      </p:pic>
      <p:sp>
        <p:nvSpPr>
          <p:cNvPr id="7" name="TextBox 6"/>
          <p:cNvSpPr txBox="1"/>
          <p:nvPr/>
        </p:nvSpPr>
        <p:spPr>
          <a:xfrm>
            <a:off x="5397061" y="6179853"/>
            <a:ext cx="6604693" cy="461665"/>
          </a:xfrm>
          <a:prstGeom prst="rect">
            <a:avLst/>
          </a:prstGeom>
          <a:noFill/>
        </p:spPr>
        <p:txBody>
          <a:bodyPr wrap="none" rtlCol="0">
            <a:spAutoFit/>
          </a:bodyPr>
          <a:lstStyle/>
          <a:p>
            <a:r>
              <a:rPr lang="en-US" sz="2400" dirty="0"/>
              <a:t>Isildayancan, Kessel, Solan, </a:t>
            </a:r>
            <a:r>
              <a:rPr lang="en-US" sz="2400" dirty="0" err="1"/>
              <a:t>Kolody</a:t>
            </a:r>
            <a:r>
              <a:rPr lang="en-US" sz="2400" dirty="0"/>
              <a:t>, Ben-Tal. </a:t>
            </a:r>
            <a:r>
              <a:rPr lang="en-US" sz="2400" i="1" dirty="0" err="1"/>
              <a:t>BioRxiv</a:t>
            </a:r>
            <a:r>
              <a:rPr lang="en-US" sz="2400" i="1" dirty="0"/>
              <a:t>.</a:t>
            </a:r>
            <a:endParaRPr lang="en-US" sz="2400" dirty="0"/>
          </a:p>
        </p:txBody>
      </p:sp>
    </p:spTree>
    <p:extLst>
      <p:ext uri="{BB962C8B-B14F-4D97-AF65-F5344CB8AC3E}">
        <p14:creationId xmlns:p14="http://schemas.microsoft.com/office/powerpoint/2010/main" val="1948498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3671" y="200417"/>
            <a:ext cx="11185743" cy="1323439"/>
          </a:xfrm>
          <a:prstGeom prst="rect">
            <a:avLst/>
          </a:prstGeom>
          <a:noFill/>
        </p:spPr>
        <p:txBody>
          <a:bodyPr wrap="square" rtlCol="0">
            <a:spAutoFit/>
          </a:bodyPr>
          <a:lstStyle/>
          <a:p>
            <a:pPr algn="ctr">
              <a:spcBef>
                <a:spcPct val="50000"/>
              </a:spcBef>
              <a:defRPr/>
            </a:pPr>
            <a:r>
              <a:rPr lang="en-US" sz="4000" dirty="0"/>
              <a:t>Speculative scenarios for a two-GPCR protein with a linker that is too polar to cross the membrane</a:t>
            </a:r>
            <a:endParaRPr lang="en-US" sz="4000" dirty="0">
              <a:cs typeface="Arial" panose="020B0604020202020204" pitchFamily="34" charset="0"/>
            </a:endParaRPr>
          </a:p>
        </p:txBody>
      </p:sp>
      <p:sp>
        <p:nvSpPr>
          <p:cNvPr id="39" name="Rectangle 4"/>
          <p:cNvSpPr>
            <a:spLocks noChangeAspect="1"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 name="Picture 9"/>
          <p:cNvPicPr>
            <a:picLocks noChangeAspect="1"/>
          </p:cNvPicPr>
          <p:nvPr/>
        </p:nvPicPr>
        <p:blipFill>
          <a:blip r:embed="rId3"/>
          <a:stretch>
            <a:fillRect/>
          </a:stretch>
        </p:blipFill>
        <p:spPr>
          <a:xfrm>
            <a:off x="1944549" y="1476500"/>
            <a:ext cx="8368494" cy="4707277"/>
          </a:xfrm>
          <a:prstGeom prst="rect">
            <a:avLst/>
          </a:prstGeom>
        </p:spPr>
      </p:pic>
      <p:sp>
        <p:nvSpPr>
          <p:cNvPr id="7" name="TextBox 6"/>
          <p:cNvSpPr txBox="1"/>
          <p:nvPr/>
        </p:nvSpPr>
        <p:spPr>
          <a:xfrm>
            <a:off x="5397061" y="6179853"/>
            <a:ext cx="6604693" cy="461665"/>
          </a:xfrm>
          <a:prstGeom prst="rect">
            <a:avLst/>
          </a:prstGeom>
          <a:noFill/>
        </p:spPr>
        <p:txBody>
          <a:bodyPr wrap="none" rtlCol="0">
            <a:spAutoFit/>
          </a:bodyPr>
          <a:lstStyle/>
          <a:p>
            <a:r>
              <a:rPr lang="en-US" sz="2400" dirty="0"/>
              <a:t>Isildayancan, Kessel, Solan, </a:t>
            </a:r>
            <a:r>
              <a:rPr lang="en-US" sz="2400" dirty="0" err="1"/>
              <a:t>Kolody</a:t>
            </a:r>
            <a:r>
              <a:rPr lang="en-US" sz="2400" dirty="0"/>
              <a:t>, Ben-Tal. </a:t>
            </a:r>
            <a:r>
              <a:rPr lang="en-US" sz="2400" i="1" dirty="0" err="1"/>
              <a:t>BioRxiv</a:t>
            </a:r>
            <a:r>
              <a:rPr lang="en-US" sz="2400" i="1" dirty="0"/>
              <a:t>.</a:t>
            </a:r>
            <a:endParaRPr lang="en-US" sz="2400" dirty="0"/>
          </a:p>
        </p:txBody>
      </p:sp>
    </p:spTree>
    <p:extLst>
      <p:ext uri="{BB962C8B-B14F-4D97-AF65-F5344CB8AC3E}">
        <p14:creationId xmlns:p14="http://schemas.microsoft.com/office/powerpoint/2010/main" val="3079796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Text Box 7"/>
          <p:cNvSpPr txBox="1">
            <a:spLocks noChangeArrowheads="1"/>
          </p:cNvSpPr>
          <p:nvPr/>
        </p:nvSpPr>
        <p:spPr bwMode="auto">
          <a:xfrm>
            <a:off x="187892" y="150289"/>
            <a:ext cx="120041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eaLnBrk="1" hangingPunct="1">
              <a:spcBef>
                <a:spcPct val="50000"/>
              </a:spcBef>
              <a:buFontTx/>
              <a:buNone/>
            </a:pPr>
            <a:r>
              <a:rPr lang="en-US" altLang="en-US" sz="4000" dirty="0">
                <a:solidFill>
                  <a:srgbClr val="3333CC"/>
                </a:solidFill>
                <a:latin typeface="+mn-lt"/>
                <a:cs typeface="Times New Roman (Hebrew)" panose="02020603050405020304" pitchFamily="18" charset="0"/>
              </a:rPr>
              <a:t>Summary and outlook</a:t>
            </a:r>
          </a:p>
        </p:txBody>
      </p:sp>
      <p:sp>
        <p:nvSpPr>
          <p:cNvPr id="4" name="Text Box 3"/>
          <p:cNvSpPr txBox="1">
            <a:spLocks noChangeArrowheads="1"/>
          </p:cNvSpPr>
          <p:nvPr/>
        </p:nvSpPr>
        <p:spPr bwMode="auto">
          <a:xfrm>
            <a:off x="576198" y="776362"/>
            <a:ext cx="11285950" cy="5816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lgn="r" rtl="1">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Char char="–"/>
              <a:defRPr sz="2800">
                <a:solidFill>
                  <a:schemeClr val="tx1"/>
                </a:solidFill>
                <a:latin typeface="Times New Roman" panose="02020603050405020304" pitchFamily="18" charset="0"/>
                <a:ea typeface="Times New Roman (Hebrew)" charset="0"/>
                <a:cs typeface="Times New Roman" panose="02020603050405020304" pitchFamily="18" charset="0"/>
              </a:defRPr>
            </a:lvl2pPr>
            <a:lvl3pPr marL="1143000" indent="-228600" algn="r" rtl="1">
              <a:spcBef>
                <a:spcPct val="20000"/>
              </a:spcBef>
              <a:buChar char="•"/>
              <a:defRPr sz="2400">
                <a:solidFill>
                  <a:schemeClr val="tx1"/>
                </a:solidFill>
                <a:latin typeface="Times New Roman" panose="02020603050405020304" pitchFamily="18" charset="0"/>
                <a:ea typeface="Times New Roman (Hebrew)" charset="0"/>
                <a:cs typeface="Times New Roman" panose="02020603050405020304" pitchFamily="18" charset="0"/>
              </a:defRPr>
            </a:lvl3pPr>
            <a:lvl4pPr marL="1600200" indent="-228600" algn="r" rtl="1">
              <a:spcBef>
                <a:spcPct val="20000"/>
              </a:spcBef>
              <a:buChar char="–"/>
              <a:defRPr sz="2000">
                <a:solidFill>
                  <a:schemeClr val="tx1"/>
                </a:solidFill>
                <a:latin typeface="Times New Roman" panose="02020603050405020304" pitchFamily="18" charset="0"/>
                <a:ea typeface="Times New Roman (Hebrew)" charset="0"/>
                <a:cs typeface="Times New Roman" panose="02020603050405020304" pitchFamily="18" charset="0"/>
              </a:defRPr>
            </a:lvl4pPr>
            <a:lvl5pPr marL="2057400" indent="-228600" algn="r" rtl="1">
              <a:spcBef>
                <a:spcPct val="20000"/>
              </a:spcBef>
              <a:buChar char="»"/>
              <a:defRPr sz="2000">
                <a:solidFill>
                  <a:schemeClr val="tx1"/>
                </a:solidFill>
                <a:latin typeface="Times New Roman" panose="02020603050405020304" pitchFamily="18" charset="0"/>
                <a:ea typeface="Times New Roman (Hebrew)" charset="0"/>
                <a:cs typeface="Times New Roman" panose="02020603050405020304" pitchFamily="18" charset="0"/>
              </a:defRPr>
            </a:lvl5pPr>
            <a:lvl6pPr marL="2514600" indent="-228600" algn="r" rtl="1" eaLnBrk="0" fontAlgn="base" hangingPunct="0">
              <a:spcBef>
                <a:spcPct val="20000"/>
              </a:spcBef>
              <a:spcAft>
                <a:spcPct val="0"/>
              </a:spcAft>
              <a:buChar char="»"/>
              <a:defRPr sz="2000">
                <a:solidFill>
                  <a:schemeClr val="tx1"/>
                </a:solidFill>
                <a:latin typeface="Times New Roman" panose="02020603050405020304" pitchFamily="18" charset="0"/>
                <a:ea typeface="Times New Roman (Hebrew)" charset="0"/>
                <a:cs typeface="Times New Roman" panose="02020603050405020304" pitchFamily="18" charset="0"/>
              </a:defRPr>
            </a:lvl6pPr>
            <a:lvl7pPr marL="2971800" indent="-228600" algn="r" rtl="1" eaLnBrk="0" fontAlgn="base" hangingPunct="0">
              <a:spcBef>
                <a:spcPct val="20000"/>
              </a:spcBef>
              <a:spcAft>
                <a:spcPct val="0"/>
              </a:spcAft>
              <a:buChar char="»"/>
              <a:defRPr sz="2000">
                <a:solidFill>
                  <a:schemeClr val="tx1"/>
                </a:solidFill>
                <a:latin typeface="Times New Roman" panose="02020603050405020304" pitchFamily="18" charset="0"/>
                <a:ea typeface="Times New Roman (Hebrew)" charset="0"/>
                <a:cs typeface="Times New Roman" panose="02020603050405020304" pitchFamily="18" charset="0"/>
              </a:defRPr>
            </a:lvl7pPr>
            <a:lvl8pPr marL="3429000" indent="-228600" algn="r" rtl="1" eaLnBrk="0" fontAlgn="base" hangingPunct="0">
              <a:spcBef>
                <a:spcPct val="20000"/>
              </a:spcBef>
              <a:spcAft>
                <a:spcPct val="0"/>
              </a:spcAft>
              <a:buChar char="»"/>
              <a:defRPr sz="2000">
                <a:solidFill>
                  <a:schemeClr val="tx1"/>
                </a:solidFill>
                <a:latin typeface="Times New Roman" panose="02020603050405020304" pitchFamily="18" charset="0"/>
                <a:ea typeface="Times New Roman (Hebrew)" charset="0"/>
                <a:cs typeface="Times New Roman" panose="02020603050405020304" pitchFamily="18" charset="0"/>
              </a:defRPr>
            </a:lvl8pPr>
            <a:lvl9pPr marL="3886200" indent="-228600" algn="r" rtl="1" eaLnBrk="0" fontAlgn="base" hangingPunct="0">
              <a:spcBef>
                <a:spcPct val="20000"/>
              </a:spcBef>
              <a:spcAft>
                <a:spcPct val="0"/>
              </a:spcAft>
              <a:buChar char="»"/>
              <a:defRPr sz="2000">
                <a:solidFill>
                  <a:schemeClr val="tx1"/>
                </a:solidFill>
                <a:latin typeface="Times New Roman" panose="02020603050405020304" pitchFamily="18" charset="0"/>
                <a:ea typeface="Times New Roman (Hebrew)" charset="0"/>
                <a:cs typeface="Times New Roman" panose="02020603050405020304" pitchFamily="18" charset="0"/>
              </a:defRPr>
            </a:lvl9pPr>
          </a:lstStyle>
          <a:p>
            <a:pPr algn="l" rtl="0">
              <a:spcBef>
                <a:spcPct val="50000"/>
              </a:spcBef>
              <a:defRPr/>
            </a:pPr>
            <a:r>
              <a:rPr lang="en-US" sz="2400" dirty="0">
                <a:latin typeface="+mj-lt"/>
                <a:cs typeface="Arial" panose="020B0604020202020204" pitchFamily="34" charset="0"/>
              </a:rPr>
              <a:t>Many putative proteins with multi-GPCR domains</a:t>
            </a:r>
          </a:p>
          <a:p>
            <a:pPr algn="l" rtl="0">
              <a:spcBef>
                <a:spcPct val="50000"/>
              </a:spcBef>
              <a:defRPr/>
            </a:pPr>
            <a:r>
              <a:rPr lang="en-US" altLang="en-US" sz="2400" dirty="0">
                <a:latin typeface="+mj-lt"/>
                <a:cs typeface="Arial" panose="020B0604020202020204" pitchFamily="34" charset="0"/>
                <a:sym typeface="Symbol" panose="05050102010706020507" pitchFamily="18" charset="2"/>
              </a:rPr>
              <a:t>From fish to mammals</a:t>
            </a:r>
          </a:p>
          <a:p>
            <a:pPr algn="l" rtl="0">
              <a:spcBef>
                <a:spcPct val="50000"/>
              </a:spcBef>
              <a:defRPr/>
            </a:pPr>
            <a:r>
              <a:rPr lang="en-US" altLang="en-US" sz="2400" dirty="0">
                <a:latin typeface="+mj-lt"/>
                <a:cs typeface="Arial" panose="020B0604020202020204" pitchFamily="34" charset="0"/>
                <a:sym typeface="Symbol" panose="05050102010706020507" pitchFamily="18" charset="2"/>
              </a:rPr>
              <a:t>Up to monkeys</a:t>
            </a:r>
          </a:p>
          <a:p>
            <a:pPr algn="l" rtl="0">
              <a:spcBef>
                <a:spcPct val="50000"/>
              </a:spcBef>
              <a:defRPr/>
            </a:pPr>
            <a:r>
              <a:rPr lang="en-US" altLang="en-US" sz="2400" dirty="0">
                <a:latin typeface="+mj-lt"/>
                <a:cs typeface="Arial" panose="020B0604020202020204" pitchFamily="34" charset="0"/>
                <a:sym typeface="Symbol" panose="05050102010706020507" pitchFamily="18" charset="2"/>
              </a:rPr>
              <a:t>Annotated mostly as olfactory receptors; few chemokine receptors</a:t>
            </a:r>
          </a:p>
          <a:p>
            <a:pPr algn="l" rtl="0">
              <a:spcBef>
                <a:spcPct val="50000"/>
              </a:spcBef>
              <a:defRPr/>
            </a:pPr>
            <a:r>
              <a:rPr lang="en-US" altLang="en-US" sz="2400" dirty="0">
                <a:latin typeface="+mj-lt"/>
                <a:cs typeface="Arial" panose="020B0604020202020204" pitchFamily="34" charset="0"/>
                <a:sym typeface="Symbol" panose="05050102010706020507" pitchFamily="18" charset="2"/>
              </a:rPr>
              <a:t>None of them prevail, so probably not indispensable</a:t>
            </a:r>
          </a:p>
          <a:p>
            <a:pPr algn="l" rtl="0">
              <a:spcBef>
                <a:spcPct val="50000"/>
              </a:spcBef>
              <a:defRPr/>
            </a:pPr>
            <a:r>
              <a:rPr lang="en-US" altLang="en-US" sz="2400" dirty="0">
                <a:latin typeface="+mj-lt"/>
                <a:cs typeface="Arial" panose="020B0604020202020204" pitchFamily="34" charset="0"/>
                <a:sym typeface="Symbol" panose="05050102010706020507" pitchFamily="18" charset="2"/>
              </a:rPr>
              <a:t>What is their unique contribution?</a:t>
            </a:r>
          </a:p>
          <a:p>
            <a:pPr algn="l" rtl="0">
              <a:spcBef>
                <a:spcPct val="50000"/>
              </a:spcBef>
              <a:defRPr/>
            </a:pPr>
            <a:r>
              <a:rPr lang="en-US" altLang="en-US" sz="2400" dirty="0">
                <a:latin typeface="+mj-lt"/>
                <a:cs typeface="Arial" panose="020B0604020202020204" pitchFamily="34" charset="0"/>
                <a:sym typeface="Symbol" panose="05050102010706020507" pitchFamily="18" charset="2"/>
              </a:rPr>
              <a:t>What is their membrane topology? </a:t>
            </a:r>
          </a:p>
          <a:p>
            <a:pPr algn="l" rtl="0">
              <a:spcBef>
                <a:spcPct val="50000"/>
              </a:spcBef>
              <a:defRPr/>
            </a:pPr>
            <a:r>
              <a:rPr lang="en-US" altLang="en-US" sz="2400" dirty="0">
                <a:latin typeface="+mj-lt"/>
                <a:cs typeface="Arial" panose="020B0604020202020204" pitchFamily="34" charset="0"/>
                <a:sym typeface="Symbol" panose="05050102010706020507" pitchFamily="18" charset="2"/>
              </a:rPr>
              <a:t>Mechanisms?</a:t>
            </a:r>
          </a:p>
          <a:p>
            <a:pPr algn="l" rtl="0">
              <a:spcBef>
                <a:spcPct val="50000"/>
              </a:spcBef>
              <a:defRPr/>
            </a:pPr>
            <a:r>
              <a:rPr lang="en-US" altLang="en-US" sz="2400" dirty="0">
                <a:latin typeface="+mj-lt"/>
                <a:cs typeface="Arial" panose="020B0604020202020204" pitchFamily="34" charset="0"/>
                <a:sym typeface="Symbol" panose="05050102010706020507" pitchFamily="18" charset="2"/>
              </a:rPr>
              <a:t>Fragmented GPCR domains?</a:t>
            </a:r>
          </a:p>
          <a:p>
            <a:pPr algn="l" rtl="0">
              <a:spcBef>
                <a:spcPct val="50000"/>
              </a:spcBef>
              <a:defRPr/>
            </a:pPr>
            <a:r>
              <a:rPr lang="en-US" altLang="en-US" sz="2400" dirty="0">
                <a:latin typeface="+mj-lt"/>
                <a:cs typeface="Arial" panose="020B0604020202020204" pitchFamily="34" charset="0"/>
                <a:sym typeface="Symbol" panose="05050102010706020507" pitchFamily="18" charset="2"/>
              </a:rPr>
              <a:t>Multi-barrel and multi-GPCR domains… What other multi-domain membrane proteins are there? </a:t>
            </a:r>
          </a:p>
        </p:txBody>
      </p:sp>
    </p:spTree>
    <p:extLst>
      <p:ext uri="{BB962C8B-B14F-4D97-AF65-F5344CB8AC3E}">
        <p14:creationId xmlns:p14="http://schemas.microsoft.com/office/powerpoint/2010/main" val="1547305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4" descr="data:image/jpeg;base64,/9j/4AAQSkZJRgABAQAAAQABAAD/2wCEAAkGBxQTEhQUExQUFBUVGBcXFhgWFRYWFhQVFBUWFhUUFxUYHCggGBwlHBQXITEhJSkrLi4uFx8zODMsNygtLisBCgoKDg0OGxAQGiweHBwtLCwsLCwsLCwsLCwsLCwsLCwsLCwsLCwsLCwsLCwsLCwsLCwsLCwsLCwsLCwsLCwsLP/AABEIANkA2QMBIgACEQEDEQH/xAAcAAACAwEBAQEAAAAAAAAAAAACBAEDBQYABwj/xABCEAABAwIDBQUGAwYFAwUAAAABAAIRAyExQVEEBRJhcSKBkbHwBhMyocHRI0JyFFJikuHxBxYzgrIVosJDU1ST4v/EABoBAAIDAQEAAAAAAAAAAAAAAAEDAAIEBQb/xAAlEQACAgICAQQDAQEAAAAAAAAAAQIRAxIhMQQTIkFRFDJhBZH/2gAMAwEAAhEDEQA/APsW8z+E/olttN1dt5/DeORSm11JvqnQRnmZu1nDql6hR7Y7DqPNUPKsxaBpO/EHRdBsbrLm2HthbuyVEtjIj2zO7dT/AG+Sb4lmbNU/Eqf7PIpwVFEg2Fu89j/c7/kVZtR7DuhS2wv7Pe7/AJFW7Q/sO/SfJGiJ8DFE9lvQeSGqbs6/QoKL+y3oPJBXfdn6ghQb4HCVSPjP6R5lFxqnj7f+36lBILYzKqoH4v1HyC97xVUH/F+o+QRoFl9Y9k9CopHsjoFXWf2XdD5IaT+yOgUoF8ilM/j958imd4nsFIsf+P3nyKZ3g/8ADKNC0+GNtNh0QT2j0HmUDalghFTtHoPMo0Gy2obFZVI9kd/mVoPqWKy6T+wO/wAymQRSTArG3gkaxTVV1klWKMiqFnoJUuUSlFzstrf2XD+E+RWa9/Zb+keQVtet2XdD5JF9Tst6DyVolpMX2s27x5qh5XtpfZVPcoyqB4u0Fp7PVWQXXTFOoll0zVoVu07nw+RTIrrEpVu0Uw2srRJZp7LXsep81ZVr9k9D5LIoVseqsfWseiuiprUq/ZHQIa9f4f1DzWbSr2Cp3ht7abC9xgNv4ZDmi2kics2dq3gymOJ72sGriBfQTieQXLbX/iJsjHmPePgRLW2mbXMar5r7Re0v7RULnmYs1oJ4WyMBHnndZO0DjbLZtkLLM8rvgesX2fXqf+JOzkgFlUAxchkCde1K6Dde+qNbiNKo195gEcQEC5biF+czTgkiZPqe9Pbt2xzKjXtJY9sw8GCDBvoQbqyyNdkliXwfourXsehQUq9h0XJezntINppw6BUaO0Bg4fvD6jJbDK9k9NMzu0+RgVfxvHyKv2yvLCsgVfxPWitr1bIIBrN2iw6Iff8Aa7h5lZorITWurkNR9dI06nZ9aql1dUsqWUvkDL6r0tVcpe9UvcqyZEVkr0oSbryUWNV9fFLe97I6LO/aygp7TZHZEbG677FAXJd9ZSKqGwAnG6t4kq96s94q2Gy5jrq4PSbX3wVoqIpkGKT8Ubn2SjKlzYojV5I7EG6b7BcH7eb1Ln+7nssxvEuIv5wuxFeG4YfRfH9p2s1qs6vJjOZNvJUySvgdhVs6TcG4mFgqPaJNwIsBkugG7qcQGhU7BZoHIWT5pc1luzckYm27hYQS2xXJ7XsTmOc0gwMD3r6BUa42CQ2mhPxBDZojijltw71NCsx9omH/AKXGHfdfW6VQFoIwIkcwvjm8tnDK3D+U3+X9F9P3BtBds9I/wj+i1YpcGLPGmPh3aRVXJYuMzCmpUOiZsZxkPUcaXbVOiE1DojugjLnoWPslnVCvUnlTcgy5yFxVTnFekoORESMUSAC6PhQQTPBXqbjfDFJji1KLgJ1VQaMdlep2A9RyCT90UXuzzUDoOcRyRNMDVJtplF7hSiaDUmRBsrZSIoo/co0HQZDiHY2j6mfoj94EqKRRigpRNCree0mnSc4XJIF9CYXBbh2Dh2ipIs0mJ5rvNu2WabrTFx/tM/Rc+yhwvtmL8jefNJyWmbMEVp/Sjb9s4D/qlmga3iJjUAJbde+qjnRxhwOTmcLvNbrqLIvY6i0JbZ930+IOF74kknulLNKjxZ7bd5GnaO0dTHikaW+nOBLmtI1Y8OhNb82MVKpnAYaWWf8A9Ca3tiGumZYTccxogq+QtWZu/jDg8YEW8R919D3GAzZ6QkSGNnwXCb62fj90MhM/L7hdp7PbO4bOziJJMkcmk9keEeKdi54MmeFqzRrVARj4dUJrDVQ6kqnUkxxMuhNF4Ax+aipUEgzYaaofcqPcoUHQI7SPQKKjVaO/qqjRRspKJB0LX1QfRRe95HwQspqz3atRNEC14knVWcY1KH3ajhUomiKA1GGq9tNF7tWohQGqQ1MimpFNQguGogEwKaIU1CC3CiDUz7tSKahBcNRBqY92iFNEgvwrA35sjaYa8cUl0XiBINhA6YrqCxcf7S79a93uKcGO0505tMQI+qrOG0X/AAvCVMwNq2vtdsw0RibdT4p3Z9tLIIgsxtgOdlTTaHAyAQRBGvcvBrWtgBtoAuWkCTmMcVlSOjdlW07wc9xhvZtfzV2zbZeDN8JS28dma+zC5gmSQ4k8Mkxe3ehIbTbbxNzGpKq0S6NXYdh9/Uj8uLjoAcF2YbFtEp7ObMG7OyCHcXbJBkS7Q4WAAtotItWuEdUc/JPZizgqyE0WqssRKC5CiFeWKOBAIuQiarSxSGKBBajlSGqeFEgC9CtDVPCiQpaUYVQKMFQoWBEEAKIFQAYCkBCCiDkSBQiCAFKbfvSnSHaN9M0Um+ERuh6pUa0S4hoGJJAA8Vj7R7RswpNdVOo7LP5isDeO9ve3gu0aRIblPDgM7nRZG27ZUNiccgcnTbhAjAjOeeC1w8Rv9hMsn0be9vad5Y9k0xPZhsyAcW8RIv3BcTuuuXbWRkGuGOF2xfuKc45kEFxn9NgTALwe1E5wVn7u/D2h0/mAjDwsqeXDTHUR3j8z5Oha/gdyPyKte1p0VboIuqKuzZglclOjpLgmo5rZM/NYm+qxNJ5wwwxjib9JTj6d73S23OB7OWJRjbkgTdRbZt+xPtE6kz3Z7TcQCYg42PPQBdlR9o6f/qNcznEt8Qvlm6AQSdDNpkXtYGStfYtqI4iXOdY3NmG9o4my4jku28Cmr6OQ5tdH1GjWa8cTHBwOYMj5IoXB7s3gGwWktOcDhB5OabZDTuXVbv3uyqBcA/I3y+Sy5PHnDkZDInwzQIQwplDKzjTxC8AolelQISJACplSyBtUoAVPEjZBIORByXDlbRpud8IJhCwUWh6njSpdFipa5SwUNioi40sxjjg0noCVZ7l+PC4AaggW1JViUIb83t7pvC09t3yGq4/aq7nuJLjFiLtF7zqTiMB3qN4bV7x7nGYLvL4R6170sXiDh32xAiQI0zK62DEoR/plnK2FxyHZQM4kWtdxk+GaGu7stzyxJwE/lAj+qEv+I4GIgER3AA+cqtrrRcif48OknVPKC9Z1w4CTpNzcEGw9ZRIXq1L3gkEcQuDbSYudNTOOCioLkRA6YAg4WnEpY1PduiYGRtAOfdqlTgpKmMi2uUbWwbVI4XWI1V9SvAjHRZzagOHKIF4OkZ4/VC+m4y7iJFzYgfOFycngyT9vRsj5SXaJr1Q0ElJsaTc/mjuGiYdSOJi2cg4yLfNVGs1osRExciZBvjiMO4pvj+I4u5Cc+Z5fauiXtDGz+bLPHlecdOisZIAgum95ueLIn8onIAdZSVGpxukmww/r4R4FOUxxGACegtA0GPrmulES1Q3QIjK/djzAjnEZ96vo7Q4Xm09c4xGHglvhkkG2HZMnQ9nFWUzYY+ed+eI1KZQs6/c2+pIY7AzBJFv6YreJXzWjWLTIOYkTOAw64f1xXb7q233lJrpvEHqFzPLxKPuRpxSb4NIlRxKn3ikOWFj0WyplVcYUGohZai8ORcaU98NQp9+NQpsgaidGoHO4QbroN37OWA6kpbdOzhjZeKTT/DlGriTJutKlVY4cQc0gWJBEA9e9aMcaVsTN80iPd8giayMLdFYXNAkkRrI81QN40Zj3tKf1t+6ZRQthZHtZtnutmeZu7sjnxYga281te9bE8TY14mnyK4D/ABL3kCWU2uBAaXEgjE2HyB8QrwjtJIDZyhqdnLXQXvJOQnvVNOpJ1AwsBGWBs3wJwUB3YiYnTKLxj4nQjmltmdc6xaD1yF/rPJdJMVQ+X3do7GeKATjjAJjIBUcMGAOkBrZ6yenReIh2AnKYIxxMukFe4xqADE/D0tYwrALnNk38rCMr2B6JOo0wQcLQDM4WN5H9k0Mv3cDgJ/lMm8YIXAYgfFHdlhA8CCg0ROjJdRLT2TbMX1g2ysJ71H7U9vxN646C/hHgn9opjlmcR3E3HkhfQLje8HDD8sXB7kvX6GqS+RF22POFpHSPi16lep0ySOIyZ+uXrys5ToOuezYyfkSMOSspUCTBtPIA4c401zU1+ybIqoC7RwgzM3xzx7vQTrG8IkX54i/5boKbAIi9jfQg3B08UZcI5zfCw8TkVdIW2ea4kxHOwwjkDMSmC63XXMDPhdf+6oo9T/2zJ1VdepAEiMTawvcQcNEQdstFXv8A6XjCcsMVu7j2siWAi/aym1nW6rmtnf6/vlPgm9g2jhrskiLX7yDyz+RWbyYOeNpDcb1lZ2TNpOZlZFbfMVnMc4gWjlYeu9dkPZoRJqW6f1XL+3PsmQ0Ppkl3K0lv1hcFwnrUv+nQ2htcQ5Op8VBJ1PiuS9nvaLhPuq1sp/d//PkutL26jxCySuLpmuNNWgCF5WAaI+BTYsZuy7NVrVIpNa8jtEVQXMAwkiRfALoG7oruDm1BTpNMQG0y9hxmR2gzLRcfX9o2sn3O0GmTjwh+WHwjmVmDfVSZO2E6cTX/AEbK2YfJilymZMmCUuqO7Z7GtJ/1hB/cY5oMfpeFot9k6dMgXfz/ABSO8ioQO9fNTv6p/wDMb4Vvshf7TVMP2gO6B48yFo/Ki/sT+NP7Pq1X2XpEYT+jh/8AJy+Xb8qN94RT+FpIExgCb215JjdftZWJ4GVXQQSQOK4A/Vz0WVthv44cyt3iPZORnywcHqyxl2zORxmLXg69M0rTqw/O9s8znPruV1I9iBBxw05WtzKUcLOM6m9sP0rbfIpGtVbfGIBzaL5W4SNF5ztS7hgQDxHPUD5KhgJIF4ub8WgN5MLwE30n935y5XsoM1KmBOAsBAthq3tKSXBuYNwQBNu6RmqqZPCevkP4Xcl503mCTra0WsR60UAG6DEDPLDUwAbz0XngAkiw54yDGg9aKuBpcDmbmLnHko47RZp7ItEmT3XQCS+pe3Ccce7DG6lxMWknskkSZ1EtA8/shpugi8CTmD0wdpdEHAQBGkiJOJvjHT+ygSxrrOGEawbd5MX5dULW9kQb53NzgfhA0UPqQBiTcGxz6Aa5aKXkRYmRGM3BjU+uoRsAQMNJnW2R53CR3g6Dw2yjDCJix1nFOcdiQL5gSIBN/hd81nb1d22Tf7RbzVZukWguRrZjAt9/nHK/3VdV/wCIMoEQMBibRirGWbPP5wSIPzxzSrMSb9cLYDtfZVly6DH5Ptfs5vum/ZaJqP4X8PC4FriZaS2ZaCLxPert4bTQdRLA8Ei7ew8doYYt6jvXwve9R/AxzHOEHhMOI5jA4481lftVf/3Kn87lxPJc1KUHVG7Dji0pKzr/AG39nwZ2ijZ4M1Gg4/xtGuozxxxs9j/ab3oFGsfxAOyT+cD6rhqj34ucT1JKopkgyCQRgRiIzWVY9o0x7lq7R9uhe4VzHsj7Se+ApVT+IBY/vgZ9V06yyWrpj07Vo+P/ALJz+Sn9i9WTgKkK/qSL+lET/YrjHPRH/wBP5n5fZNNxVkqPJIixxLtybEGl7puAAMM/7I9vxw9ElNbEQGAH8xJPl5JPeHxR609dV6TxU1hVnGztPK6+AGO6ZdO/wwQbU2xPKJnXAnTXLJA/DkY749fNLbTWLZi/25HuPgnSlQtI0PeS02AJEZaA6ck0LQ0Wkc85v8Op88EnTMtA1AvMAWPP5QmKYHEBbvDe+88vWCYmUaGS2HNvOeVp17K8HDiJvYzja4E2a7qgFS8HT5XORXo+KcbZEZYYevmiVJBkTMzlAFjGo5a5IHwD3t0GfJ3NDgGgRzIMcpxGiCcY1GpxccL5KBovLmiTckHUx3y71yU1H49Qec/zckDpPECD2hppF1LqgBbfK/KL4cPJQgVMjGBdv8Iv4+pVbzBJyOQiInC4REk2MzlY4TJ0AURBvJnHtG1su16kokDpvuSDY44RnqB6+eVtbZrAfui+FwTEjLALQqQJueG1rnQXus+h8bjzgToBB9ckufLSLwVDm0VYENxNh4XjTM/3QtHXHry7I+vNV0nkukCZ8ALSeWSsty5xJGObvoEV3ZHwi1zeJjm4yJFsxhjhcY5yVikrd2eJb/f5LE2lnC5zdCR4Fcj/AE8fuUvvg3eFLhxFtsPZSlHFMbaez3/dL7MbrHiXA3L2WklhDmkgi4IyK1/82bV+83wWe5tlT7lMcUxSk0aUqQoKkFc46h6bjqrSqdOqMlWq2gPizTr9lrRawCS2hxcJHxAzhFsxOv2R7xdLiBf6ckmHkL1MVS1OA+XZ6nWnu8VTtcEE/a4OKursB7TMc266kJWo6QfXclzl7aZePY7sp4g09APLVO+YGuFj/EsTdlWMdbLUFYkEZdcABGBTsU1KKZTJHkdfMsxsBFjzwlpnFRiTheIwxIAzi+KAN7JgXywnDmOeq899wT0xtaZwKaKJc6eAHkCOIYX0cvPbdwkxAjE4E53Q1qsh2fCZHnp6+aqqVJIcM8bzfwQsskW03YEZ2M301b3qSMRAm8QAbXwsgOYiBAItznIckHvJgiefQxy9fNSyUMOlw4hEttgJ8uSKzuuGuEj93vQMP8pnGMTlfrp914NAvY35HE+vV0QFT3lvjY252w0KyaD5e5uZcc8AtHaX68stNbLH2OpFR1sZWXJKpxHQXBs04wi0/wDHAW5q73o1wHKBzAyEjqsw7QcG278Mvv4pjZNmLjeThP07rQnRlfRVr7Htmvcfa30CQ3w2Kp5gHwHD/wCK2eIMbeJ07lz+8q3FUJwy8Fi/0q9NL+jvD/dsQ234e/7paibpja/h7/ulqa5mPo1Zex9rrL0lVU3I5TRI8V4FCSpBXNOrZPFHrmmG7M83DT4KzdmycbuIjstI8cR9FsPctmHx9kpPg53k+Z6ctYqyqls4JJOJknklKuygiAdPmLlNB5k6LxqA5a5c4Xoo04nKt3Zi16JF8M8rJTa2SOJoII+Ia8/CFv1G8j4Ai1vXRLSw92GFzoe9LyY9kOjkZjbDSkLSo0z09cuiQ2aqGP4csvFa1OrjB5dxx9QhgrXgtkbLnuAgjC4No00g5pdzyBebEzjh69BUvqk8sCI69VDWmZ1tNvHHmm2UUfsue69sD98raoaLbkRPK3rJep7OSDfDCycp0AHA6cvqikRySKGtNjrY279FApdogA35deSdFAd0+eOXeoLYJJAP1/7Vaimwr7s8EaQc9RrEQirEls4Xy7ufVNWE2joML+rpDaq4ayDzz17+qD4CuRXaasAz19D6pHZ9nc4nhbd2Zt4KBUL3gZThrmtpmz3GV/llAWZJZZX8Ic3oqK6OwtYBMuONpibHyIVxruiGt4QPliVfTpkRmOeQJkx11TTaQPImen8P2WhRroS5fZjkmZdc4dPFIbU08RMGJsYsfuujqbKI4repxGSte0OBBAIwjJYPNhukhuLP6buji9oFlQxq0tt2Ysc5umHTJZ5XNiqVGyUlJ2gmlWSqgiVypolE1smNUT6LhiEFOpBGNuRWKKtm+UuGdDs5DWwMkFaos9u2BRU2wLqp8HAcJN2xuk8kSMQY+qbpxA19f1WRumvxOe3Kx+/rktKhUiR6uujhlcUCca4LiDa335dUjt9C02nzWjjEn5ff1gltt2cOaQJnEHmmS6BF8nNVqQLiFfs9bhMPw1SjqTw/tSDzTQa42InpjCx4vtcGt9GvszWESPp671aKIGB+ZtfksFpLTIJB9QtDZd43HHOQm5mOc81rjNPsTKD7RrBlvnmef0XgZk2gTrCXZtbYxvGmXIk/JV7RtAdLRnz0M6kploVqxirtDRn5Ska+9G5etfv3Jd+wuJuScV5m6tSEtzl8IYowXbKK+8HHCfLusk3ku+Iz1Wy3dzR+YTpylTT2MOIAi/SyXLHOXYxTiujL2Og4uBGVydF0bWeoxn0VNHYQ0dlvGc5IAxhWnjGDMJOWnXL6JuOGiFTnsz3B6z+dvRUBpkpSptjm2LSOo6LPqb5IPC25PgDr8lJZIxXIFjbLH1i6q4A2Bv3ZLYoGBdc7u6uBjic9TmtQbYFzJTcnZaceaK9/0gQHDEWPQ+vmuaqC63tv2sOHDj6xWJXF1nl2acV68lYUqApVRppSoQuyUlYTewH0pzIPL7Kv3GHaKuKEYDoPJNUpV2KcI30MbsaA6Bnbx1XRbNuPaH0zVZSqPY0kS0YkYxr3Lnt2/wCrT/W3zX6cb68Sul4+VxxIweRFepR8Gq0qjGAvp1GSJ7THNjxCQpOc4z59MYX6E2nAes1x/t9/pM6haY+S5OqMzgkfLNtoBzIPdrN7hZIpPbhcad/9McVo7d8Z7vNyKl8A7/8AinuNuyRlSM07UPztPU+uigBhzg9fVkzvTP8AU5YR+L1okSyNOnyOir5H3bOcnj787ea8Kbx+YevNKBS3L1khYTQ46t+20a3w6Rghex5niqRr9FnNy6fZeP2+iLmwqI+Ghty+cNDPcTdae6q3EHOh0EwM7gSei52h8feV0O7sWdXeStiyNyopkj7RkbVMxgQROBM3mOoXv2vhN8RhGAy8hPee/Qpfl/UP+TU5suA9flKvlzuCuikMSk6MZu3cXd3zbnfDy8F6uw0i6fduBx7A+g6cl2XryRMx9cly8/8AotL9Ua8fiJvs+XDYasnhp1RJMdh2vRN0dybW4WpVCP0x5r6dRxC0ly4ebOf8NbwRR8oo+zu03mjU7wPOVY72S2p2FMDq9o8yvqDlWUZ+VOIPRifMP8m7X+43/wCxv3Rf5K2rSn/P/RfS3IVT8vIH0Yn/2Q=="/>
          <p:cNvSpPr>
            <a:spLocks noChangeAspect="1" noChangeArrowheads="1"/>
          </p:cNvSpPr>
          <p:nvPr/>
        </p:nvSpPr>
        <p:spPr bwMode="auto">
          <a:xfrm>
            <a:off x="10447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9" name="AutoShape 6" descr="data:image/jpeg;base64,/9j/4AAQSkZJRgABAQAAAQABAAD/2wCEAAkGBxQTEhQUExQUFBUVGBcXFhgWFRYWFhQVFBUWFhUUFxUYHCggGBwlHBQXITEhJSkrLi4uFx8zODMsNygtLisBCgoKDg0OGxAQGiweHBwtLCwsLCwsLCwsLCwsLCwsLCwsLCwsLCwsLCwsLCwsLCwsLCwsLCwsLCwsLCwsLCwsLP/AABEIANkA2QMBIgACEQEDEQH/xAAcAAACAwEBAQEAAAAAAAAAAAACBAEDBQYABwj/xABCEAABAwIDBQUGAwYFAwUAAAABAAIRAyExQVEEBRJhcSKBkbHwBhMyocHRI0JyFFJikuHxBxYzgrIVosJDU1ST4v/EABoBAAIDAQEAAAAAAAAAAAAAAAEDAAIEBQb/xAAlEQACAgICAQQDAQEAAAAAAAAAAQIRAxIhMQQTIkFRFDJhBZH/2gAMAwEAAhEDEQA/APsW8z+E/olttN1dt5/DeORSm11JvqnQRnmZu1nDql6hR7Y7DqPNUPKsxaBpO/EHRdBsbrLm2HthbuyVEtjIj2zO7dT/AG+Sb4lmbNU/Eqf7PIpwVFEg2Fu89j/c7/kVZtR7DuhS2wv7Pe7/AJFW7Q/sO/SfJGiJ8DFE9lvQeSGqbs6/QoKL+y3oPJBXfdn6ghQb4HCVSPjP6R5lFxqnj7f+36lBILYzKqoH4v1HyC97xVUH/F+o+QRoFl9Y9k9CopHsjoFXWf2XdD5IaT+yOgUoF8ilM/j958imd4nsFIsf+P3nyKZ3g/8ADKNC0+GNtNh0QT2j0HmUDalghFTtHoPMo0Gy2obFZVI9kd/mVoPqWKy6T+wO/wAymQRSTArG3gkaxTVV1klWKMiqFnoJUuUSlFzstrf2XD+E+RWa9/Zb+keQVtet2XdD5JF9Tst6DyVolpMX2s27x5qh5XtpfZVPcoyqB4u0Fp7PVWQXXTFOoll0zVoVu07nw+RTIrrEpVu0Uw2srRJZp7LXsep81ZVr9k9D5LIoVseqsfWseiuiprUq/ZHQIa9f4f1DzWbSr2Cp3ht7abC9xgNv4ZDmi2kics2dq3gymOJ72sGriBfQTieQXLbX/iJsjHmPePgRLW2mbXMar5r7Re0v7RULnmYs1oJ4WyMBHnndZO0DjbLZtkLLM8rvgesX2fXqf+JOzkgFlUAxchkCde1K6Dde+qNbiNKo195gEcQEC5biF+czTgkiZPqe9Pbt2xzKjXtJY9sw8GCDBvoQbqyyNdkliXwfourXsehQUq9h0XJezntINppw6BUaO0Bg4fvD6jJbDK9k9NMzu0+RgVfxvHyKv2yvLCsgVfxPWitr1bIIBrN2iw6Iff8Aa7h5lZorITWurkNR9dI06nZ9aql1dUsqWUvkDL6r0tVcpe9UvcqyZEVkr0oSbryUWNV9fFLe97I6LO/aygp7TZHZEbG677FAXJd9ZSKqGwAnG6t4kq96s94q2Gy5jrq4PSbX3wVoqIpkGKT8Ubn2SjKlzYojV5I7EG6b7BcH7eb1Ln+7nssxvEuIv5wuxFeG4YfRfH9p2s1qs6vJjOZNvJUySvgdhVs6TcG4mFgqPaJNwIsBkugG7qcQGhU7BZoHIWT5pc1luzckYm27hYQS2xXJ7XsTmOc0gwMD3r6BUa42CQ2mhPxBDZojijltw71NCsx9omH/AKXGHfdfW6VQFoIwIkcwvjm8tnDK3D+U3+X9F9P3BtBds9I/wj+i1YpcGLPGmPh3aRVXJYuMzCmpUOiZsZxkPUcaXbVOiE1DojugjLnoWPslnVCvUnlTcgy5yFxVTnFekoORESMUSAC6PhQQTPBXqbjfDFJji1KLgJ1VQaMdlep2A9RyCT90UXuzzUDoOcRyRNMDVJtplF7hSiaDUmRBsrZSIoo/co0HQZDiHY2j6mfoj94EqKRRigpRNCree0mnSc4XJIF9CYXBbh2Dh2ipIs0mJ5rvNu2WabrTFx/tM/Rc+yhwvtmL8jefNJyWmbMEVp/Sjb9s4D/qlmga3iJjUAJbde+qjnRxhwOTmcLvNbrqLIvY6i0JbZ930+IOF74kknulLNKjxZ7bd5GnaO0dTHikaW+nOBLmtI1Y8OhNb82MVKpnAYaWWf8A9Ca3tiGumZYTccxogq+QtWZu/jDg8YEW8R919D3GAzZ6QkSGNnwXCb62fj90MhM/L7hdp7PbO4bOziJJMkcmk9keEeKdi54MmeFqzRrVARj4dUJrDVQ6kqnUkxxMuhNF4Ax+aipUEgzYaaofcqPcoUHQI7SPQKKjVaO/qqjRRspKJB0LX1QfRRe95HwQspqz3atRNEC14knVWcY1KH3ajhUomiKA1GGq9tNF7tWohQGqQ1MimpFNQguGogEwKaIU1CC3CiDUz7tSKahBcNRBqY92iFNEgvwrA35sjaYa8cUl0XiBINhA6YrqCxcf7S79a93uKcGO0505tMQI+qrOG0X/AAvCVMwNq2vtdsw0RibdT4p3Z9tLIIgsxtgOdlTTaHAyAQRBGvcvBrWtgBtoAuWkCTmMcVlSOjdlW07wc9xhvZtfzV2zbZeDN8JS28dma+zC5gmSQ4k8Mkxe3ehIbTbbxNzGpKq0S6NXYdh9/Uj8uLjoAcF2YbFtEp7ObMG7OyCHcXbJBkS7Q4WAAtotItWuEdUc/JPZizgqyE0WqssRKC5CiFeWKOBAIuQiarSxSGKBBajlSGqeFEgC9CtDVPCiQpaUYVQKMFQoWBEEAKIFQAYCkBCCiDkSBQiCAFKbfvSnSHaN9M0Um+ERuh6pUa0S4hoGJJAA8Vj7R7RswpNdVOo7LP5isDeO9ve3gu0aRIblPDgM7nRZG27ZUNiccgcnTbhAjAjOeeC1w8Rv9hMsn0be9vad5Y9k0xPZhsyAcW8RIv3BcTuuuXbWRkGuGOF2xfuKc45kEFxn9NgTALwe1E5wVn7u/D2h0/mAjDwsqeXDTHUR3j8z5Oha/gdyPyKte1p0VboIuqKuzZglclOjpLgmo5rZM/NYm+qxNJ5wwwxjib9JTj6d73S23OB7OWJRjbkgTdRbZt+xPtE6kz3Z7TcQCYg42PPQBdlR9o6f/qNcznEt8Qvlm6AQSdDNpkXtYGStfYtqI4iXOdY3NmG9o4my4jku28Cmr6OQ5tdH1GjWa8cTHBwOYMj5IoXB7s3gGwWktOcDhB5OabZDTuXVbv3uyqBcA/I3y+Sy5PHnDkZDInwzQIQwplDKzjTxC8AolelQISJACplSyBtUoAVPEjZBIORByXDlbRpud8IJhCwUWh6njSpdFipa5SwUNioi40sxjjg0noCVZ7l+PC4AaggW1JViUIb83t7pvC09t3yGq4/aq7nuJLjFiLtF7zqTiMB3qN4bV7x7nGYLvL4R6170sXiDh32xAiQI0zK62DEoR/plnK2FxyHZQM4kWtdxk+GaGu7stzyxJwE/lAj+qEv+I4GIgER3AA+cqtrrRcif48OknVPKC9Z1w4CTpNzcEGw9ZRIXq1L3gkEcQuDbSYudNTOOCioLkRA6YAg4WnEpY1PduiYGRtAOfdqlTgpKmMi2uUbWwbVI4XWI1V9SvAjHRZzagOHKIF4OkZ4/VC+m4y7iJFzYgfOFycngyT9vRsj5SXaJr1Q0ElJsaTc/mjuGiYdSOJi2cg4yLfNVGs1osRExciZBvjiMO4pvj+I4u5Cc+Z5fauiXtDGz+bLPHlecdOisZIAgum95ueLIn8onIAdZSVGpxukmww/r4R4FOUxxGACegtA0GPrmulES1Q3QIjK/djzAjnEZ96vo7Q4Xm09c4xGHglvhkkG2HZMnQ9nFWUzYY+ed+eI1KZQs6/c2+pIY7AzBJFv6YreJXzWjWLTIOYkTOAw64f1xXb7q233lJrpvEHqFzPLxKPuRpxSb4NIlRxKn3ikOWFj0WyplVcYUGohZai8ORcaU98NQp9+NQpsgaidGoHO4QbroN37OWA6kpbdOzhjZeKTT/DlGriTJutKlVY4cQc0gWJBEA9e9aMcaVsTN80iPd8giayMLdFYXNAkkRrI81QN40Zj3tKf1t+6ZRQthZHtZtnutmeZu7sjnxYga281te9bE8TY14mnyK4D/ABL3kCWU2uBAaXEgjE2HyB8QrwjtJIDZyhqdnLXQXvJOQnvVNOpJ1AwsBGWBs3wJwUB3YiYnTKLxj4nQjmltmdc6xaD1yF/rPJdJMVQ+X3do7GeKATjjAJjIBUcMGAOkBrZ6yenReIh2AnKYIxxMukFe4xqADE/D0tYwrALnNk38rCMr2B6JOo0wQcLQDM4WN5H9k0Mv3cDgJ/lMm8YIXAYgfFHdlhA8CCg0ROjJdRLT2TbMX1g2ysJ71H7U9vxN646C/hHgn9opjlmcR3E3HkhfQLje8HDD8sXB7kvX6GqS+RF22POFpHSPi16lep0ySOIyZ+uXrys5ToOuezYyfkSMOSspUCTBtPIA4c401zU1+ybIqoC7RwgzM3xzx7vQTrG8IkX54i/5boKbAIi9jfQg3B08UZcI5zfCw8TkVdIW2ea4kxHOwwjkDMSmC63XXMDPhdf+6oo9T/2zJ1VdepAEiMTawvcQcNEQdstFXv8A6XjCcsMVu7j2siWAi/aym1nW6rmtnf6/vlPgm9g2jhrskiLX7yDyz+RWbyYOeNpDcb1lZ2TNpOZlZFbfMVnMc4gWjlYeu9dkPZoRJqW6f1XL+3PsmQ0Ppkl3K0lv1hcFwnrUv+nQ2htcQ5Op8VBJ1PiuS9nvaLhPuq1sp/d//PkutL26jxCySuLpmuNNWgCF5WAaI+BTYsZuy7NVrVIpNa8jtEVQXMAwkiRfALoG7oruDm1BTpNMQG0y9hxmR2gzLRcfX9o2sn3O0GmTjwh+WHwjmVmDfVSZO2E6cTX/AEbK2YfJilymZMmCUuqO7Z7GtJ/1hB/cY5oMfpeFot9k6dMgXfz/ABSO8ioQO9fNTv6p/wDMb4Vvshf7TVMP2gO6B48yFo/Ki/sT+NP7Pq1X2XpEYT+jh/8AJy+Xb8qN94RT+FpIExgCb215JjdftZWJ4GVXQQSQOK4A/Vz0WVthv44cyt3iPZORnywcHqyxl2zORxmLXg69M0rTqw/O9s8znPruV1I9iBBxw05WtzKUcLOM6m9sP0rbfIpGtVbfGIBzaL5W4SNF5ztS7hgQDxHPUD5KhgJIF4ub8WgN5MLwE30n935y5XsoM1KmBOAsBAthq3tKSXBuYNwQBNu6RmqqZPCevkP4Xcl503mCTra0WsR60UAG6DEDPLDUwAbz0XngAkiw54yDGg9aKuBpcDmbmLnHko47RZp7ItEmT3XQCS+pe3Ccce7DG6lxMWknskkSZ1EtA8/shpugi8CTmD0wdpdEHAQBGkiJOJvjHT+ygSxrrOGEawbd5MX5dULW9kQb53NzgfhA0UPqQBiTcGxz6Aa5aKXkRYmRGM3BjU+uoRsAQMNJnW2R53CR3g6Dw2yjDCJix1nFOcdiQL5gSIBN/hd81nb1d22Tf7RbzVZukWguRrZjAt9/nHK/3VdV/wCIMoEQMBibRirGWbPP5wSIPzxzSrMSb9cLYDtfZVly6DH5Ptfs5vum/ZaJqP4X8PC4FriZaS2ZaCLxPert4bTQdRLA8Ei7ew8doYYt6jvXwve9R/AxzHOEHhMOI5jA4481lftVf/3Kn87lxPJc1KUHVG7Dji0pKzr/AG39nwZ2ijZ4M1Gg4/xtGuozxxxs9j/ab3oFGsfxAOyT+cD6rhqj34ucT1JKopkgyCQRgRiIzWVY9o0x7lq7R9uhe4VzHsj7Se+ApVT+IBY/vgZ9V06yyWrpj07Vo+P/ALJz+Sn9i9WTgKkK/qSL+lET/YrjHPRH/wBP5n5fZNNxVkqPJIixxLtybEGl7puAAMM/7I9vxw9ElNbEQGAH8xJPl5JPeHxR609dV6TxU1hVnGztPK6+AGO6ZdO/wwQbU2xPKJnXAnTXLJA/DkY749fNLbTWLZi/25HuPgnSlQtI0PeS02AJEZaA6ck0LQ0Wkc85v8Op88EnTMtA1AvMAWPP5QmKYHEBbvDe+88vWCYmUaGS2HNvOeVp17K8HDiJvYzja4E2a7qgFS8HT5XORXo+KcbZEZYYevmiVJBkTMzlAFjGo5a5IHwD3t0GfJ3NDgGgRzIMcpxGiCcY1GpxccL5KBovLmiTckHUx3y71yU1H49Qec/zckDpPECD2hppF1LqgBbfK/KL4cPJQgVMjGBdv8Iv4+pVbzBJyOQiInC4REk2MzlY4TJ0AURBvJnHtG1su16kokDpvuSDY44RnqB6+eVtbZrAfui+FwTEjLALQqQJueG1rnQXus+h8bjzgToBB9ckufLSLwVDm0VYENxNh4XjTM/3QtHXHry7I+vNV0nkukCZ8ALSeWSsty5xJGObvoEV3ZHwi1zeJjm4yJFsxhjhcY5yVikrd2eJb/f5LE2lnC5zdCR4Fcj/AE8fuUvvg3eFLhxFtsPZSlHFMbaez3/dL7MbrHiXA3L2WklhDmkgi4IyK1/82bV+83wWe5tlT7lMcUxSk0aUqQoKkFc46h6bjqrSqdOqMlWq2gPizTr9lrRawCS2hxcJHxAzhFsxOv2R7xdLiBf6ckmHkL1MVS1OA+XZ6nWnu8VTtcEE/a4OKursB7TMc266kJWo6QfXclzl7aZePY7sp4g09APLVO+YGuFj/EsTdlWMdbLUFYkEZdcABGBTsU1KKZTJHkdfMsxsBFjzwlpnFRiTheIwxIAzi+KAN7JgXywnDmOeq899wT0xtaZwKaKJc6eAHkCOIYX0cvPbdwkxAjE4E53Q1qsh2fCZHnp6+aqqVJIcM8bzfwQsskW03YEZ2M301b3qSMRAm8QAbXwsgOYiBAItznIckHvJgiefQxy9fNSyUMOlw4hEttgJ8uSKzuuGuEj93vQMP8pnGMTlfrp914NAvY35HE+vV0QFT3lvjY252w0KyaD5e5uZcc8AtHaX68stNbLH2OpFR1sZWXJKpxHQXBs04wi0/wDHAW5q73o1wHKBzAyEjqsw7QcG278Mvv4pjZNmLjeThP07rQnRlfRVr7Htmvcfa30CQ3w2Kp5gHwHD/wCK2eIMbeJ07lz+8q3FUJwy8Fi/0q9NL+jvD/dsQ234e/7paibpja/h7/ulqa5mPo1Zex9rrL0lVU3I5TRI8V4FCSpBXNOrZPFHrmmG7M83DT4KzdmycbuIjstI8cR9FsPctmHx9kpPg53k+Z6ctYqyqls4JJOJknklKuygiAdPmLlNB5k6LxqA5a5c4Xoo04nKt3Zi16JF8M8rJTa2SOJoII+Ia8/CFv1G8j4Ai1vXRLSw92GFzoe9LyY9kOjkZjbDSkLSo0z09cuiQ2aqGP4csvFa1OrjB5dxx9QhgrXgtkbLnuAgjC4No00g5pdzyBebEzjh69BUvqk8sCI69VDWmZ1tNvHHmm2UUfsue69sD98raoaLbkRPK3rJep7OSDfDCycp0AHA6cvqikRySKGtNjrY279FApdogA35deSdFAd0+eOXeoLYJJAP1/7Vaimwr7s8EaQc9RrEQirEls4Xy7ufVNWE2joML+rpDaq4ayDzz17+qD4CuRXaasAz19D6pHZ9nc4nhbd2Zt4KBUL3gZThrmtpmz3GV/llAWZJZZX8Ic3oqK6OwtYBMuONpibHyIVxruiGt4QPliVfTpkRmOeQJkx11TTaQPImen8P2WhRroS5fZjkmZdc4dPFIbU08RMGJsYsfuujqbKI4repxGSte0OBBAIwjJYPNhukhuLP6buji9oFlQxq0tt2Ysc5umHTJZ5XNiqVGyUlJ2gmlWSqgiVypolE1smNUT6LhiEFOpBGNuRWKKtm+UuGdDs5DWwMkFaos9u2BRU2wLqp8HAcJN2xuk8kSMQY+qbpxA19f1WRumvxOe3Kx+/rktKhUiR6uujhlcUCca4LiDa335dUjt9C02nzWjjEn5ff1gltt2cOaQJnEHmmS6BF8nNVqQLiFfs9bhMPw1SjqTw/tSDzTQa42InpjCx4vtcGt9GvszWESPp671aKIGB+ZtfksFpLTIJB9QtDZd43HHOQm5mOc81rjNPsTKD7RrBlvnmef0XgZk2gTrCXZtbYxvGmXIk/JV7RtAdLRnz0M6kploVqxirtDRn5Ska+9G5etfv3Jd+wuJuScV5m6tSEtzl8IYowXbKK+8HHCfLusk3ku+Iz1Wy3dzR+YTpylTT2MOIAi/SyXLHOXYxTiujL2Og4uBGVydF0bWeoxn0VNHYQ0dlvGc5IAxhWnjGDMJOWnXL6JuOGiFTnsz3B6z+dvRUBpkpSptjm2LSOo6LPqb5IPC25PgDr8lJZIxXIFjbLH1i6q4A2Bv3ZLYoGBdc7u6uBjic9TmtQbYFzJTcnZaceaK9/0gQHDEWPQ+vmuaqC63tv2sOHDj6xWJXF1nl2acV68lYUqApVRppSoQuyUlYTewH0pzIPL7Kv3GHaKuKEYDoPJNUpV2KcI30MbsaA6Bnbx1XRbNuPaH0zVZSqPY0kS0YkYxr3Lnt2/wCrT/W3zX6cb68Sul4+VxxIweRFepR8Gq0qjGAvp1GSJ7THNjxCQpOc4z59MYX6E2nAes1x/t9/pM6haY+S5OqMzgkfLNtoBzIPdrN7hZIpPbhcad/9McVo7d8Z7vNyKl8A7/8AinuNuyRlSM07UPztPU+uigBhzg9fVkzvTP8AU5YR+L1okSyNOnyOir5H3bOcnj787ea8Kbx+YevNKBS3L1khYTQ46t+20a3w6Rghex5niqRr9FnNy6fZeP2+iLmwqI+Ghty+cNDPcTdae6q3EHOh0EwM7gSei52h8feV0O7sWdXeStiyNyopkj7RkbVMxgQROBM3mOoXv2vhN8RhGAy8hPee/Qpfl/UP+TU5suA9flKvlzuCuikMSk6MZu3cXd3zbnfDy8F6uw0i6fduBx7A+g6cl2XryRMx9cly8/8AotL9Ua8fiJvs+XDYasnhp1RJMdh2vRN0dybW4WpVCP0x5r6dRxC0ly4ebOf8NbwRR8oo+zu03mjU7wPOVY72S2p2FMDq9o8yvqDlWUZ+VOIPRifMP8m7X+43/wCxv3Rf5K2rSn/P/RfS3IVT8vIH0Yn/2Q=="/>
          <p:cNvSpPr>
            <a:spLocks noChangeAspect="1" noChangeArrowheads="1"/>
          </p:cNvSpPr>
          <p:nvPr/>
        </p:nvSpPr>
        <p:spPr bwMode="auto">
          <a:xfrm>
            <a:off x="10599738"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0" name="AutoShape 8" descr="data:image/jpeg;base64,/9j/4AAQSkZJRgABAQAAAQABAAD/2wCEAAkGBxQTEhQUExQUFBUVGBcXFhgWFRYWFhQVFBUWFhUUFxUYHCggGBwlHBQXITEhJSkrLi4uFx8zODMsNygtLisBCgoKDg0OGxAQGiweHBwtLCwsLCwsLCwsLCwsLCwsLCwsLCwsLCwsLCwsLCwsLCwsLCwsLCwsLCwsLCwsLCwsLP/AABEIANkA2QMBIgACEQEDEQH/xAAcAAACAwEBAQEAAAAAAAAAAAACBAEDBQYABwj/xABCEAABAwIDBQUGAwYFAwUAAAABAAIRAyExQVEEBRJhcSKBkbHwBhMyocHRI0JyFFJikuHxBxYzgrIVosJDU1ST4v/EABoBAAIDAQEAAAAAAAAAAAAAAAEDAAIEBQb/xAAlEQACAgICAQQDAQEAAAAAAAAAAQIRAxIhMQQTIkFRFDJhBZH/2gAMAwEAAhEDEQA/APsW8z+E/olttN1dt5/DeORSm11JvqnQRnmZu1nDql6hR7Y7DqPNUPKsxaBpO/EHRdBsbrLm2HthbuyVEtjIj2zO7dT/AG+Sb4lmbNU/Eqf7PIpwVFEg2Fu89j/c7/kVZtR7DuhS2wv7Pe7/AJFW7Q/sO/SfJGiJ8DFE9lvQeSGqbs6/QoKL+y3oPJBXfdn6ghQb4HCVSPjP6R5lFxqnj7f+36lBILYzKqoH4v1HyC97xVUH/F+o+QRoFl9Y9k9CopHsjoFXWf2XdD5IaT+yOgUoF8ilM/j958imd4nsFIsf+P3nyKZ3g/8ADKNC0+GNtNh0QT2j0HmUDalghFTtHoPMo0Gy2obFZVI9kd/mVoPqWKy6T+wO/wAymQRSTArG3gkaxTVV1klWKMiqFnoJUuUSlFzstrf2XD+E+RWa9/Zb+keQVtet2XdD5JF9Tst6DyVolpMX2s27x5qh5XtpfZVPcoyqB4u0Fp7PVWQXXTFOoll0zVoVu07nw+RTIrrEpVu0Uw2srRJZp7LXsep81ZVr9k9D5LIoVseqsfWseiuiprUq/ZHQIa9f4f1DzWbSr2Cp3ht7abC9xgNv4ZDmi2kics2dq3gymOJ72sGriBfQTieQXLbX/iJsjHmPePgRLW2mbXMar5r7Re0v7RULnmYs1oJ4WyMBHnndZO0DjbLZtkLLM8rvgesX2fXqf+JOzkgFlUAxchkCde1K6Dde+qNbiNKo195gEcQEC5biF+czTgkiZPqe9Pbt2xzKjXtJY9sw8GCDBvoQbqyyNdkliXwfourXsehQUq9h0XJezntINppw6BUaO0Bg4fvD6jJbDK9k9NMzu0+RgVfxvHyKv2yvLCsgVfxPWitr1bIIBrN2iw6Iff8Aa7h5lZorITWurkNR9dI06nZ9aql1dUsqWUvkDL6r0tVcpe9UvcqyZEVkr0oSbryUWNV9fFLe97I6LO/aygp7TZHZEbG677FAXJd9ZSKqGwAnG6t4kq96s94q2Gy5jrq4PSbX3wVoqIpkGKT8Ubn2SjKlzYojV5I7EG6b7BcH7eb1Ln+7nssxvEuIv5wuxFeG4YfRfH9p2s1qs6vJjOZNvJUySvgdhVs6TcG4mFgqPaJNwIsBkugG7qcQGhU7BZoHIWT5pc1luzckYm27hYQS2xXJ7XsTmOc0gwMD3r6BUa42CQ2mhPxBDZojijltw71NCsx9omH/AKXGHfdfW6VQFoIwIkcwvjm8tnDK3D+U3+X9F9P3BtBds9I/wj+i1YpcGLPGmPh3aRVXJYuMzCmpUOiZsZxkPUcaXbVOiE1DojugjLnoWPslnVCvUnlTcgy5yFxVTnFekoORESMUSAC6PhQQTPBXqbjfDFJji1KLgJ1VQaMdlep2A9RyCT90UXuzzUDoOcRyRNMDVJtplF7hSiaDUmRBsrZSIoo/co0HQZDiHY2j6mfoj94EqKRRigpRNCree0mnSc4XJIF9CYXBbh2Dh2ipIs0mJ5rvNu2WabrTFx/tM/Rc+yhwvtmL8jefNJyWmbMEVp/Sjb9s4D/qlmga3iJjUAJbde+qjnRxhwOTmcLvNbrqLIvY6i0JbZ930+IOF74kknulLNKjxZ7bd5GnaO0dTHikaW+nOBLmtI1Y8OhNb82MVKpnAYaWWf8A9Ca3tiGumZYTccxogq+QtWZu/jDg8YEW8R919D3GAzZ6QkSGNnwXCb62fj90MhM/L7hdp7PbO4bOziJJMkcmk9keEeKdi54MmeFqzRrVARj4dUJrDVQ6kqnUkxxMuhNF4Ax+aipUEgzYaaofcqPcoUHQI7SPQKKjVaO/qqjRRspKJB0LX1QfRRe95HwQspqz3atRNEC14knVWcY1KH3ajhUomiKA1GGq9tNF7tWohQGqQ1MimpFNQguGogEwKaIU1CC3CiDUz7tSKahBcNRBqY92iFNEgvwrA35sjaYa8cUl0XiBINhA6YrqCxcf7S79a93uKcGO0505tMQI+qrOG0X/AAvCVMwNq2vtdsw0RibdT4p3Z9tLIIgsxtgOdlTTaHAyAQRBGvcvBrWtgBtoAuWkCTmMcVlSOjdlW07wc9xhvZtfzV2zbZeDN8JS28dma+zC5gmSQ4k8Mkxe3ehIbTbbxNzGpKq0S6NXYdh9/Uj8uLjoAcF2YbFtEp7ObMG7OyCHcXbJBkS7Q4WAAtotItWuEdUc/JPZizgqyE0WqssRKC5CiFeWKOBAIuQiarSxSGKBBajlSGqeFEgC9CtDVPCiQpaUYVQKMFQoWBEEAKIFQAYCkBCCiDkSBQiCAFKbfvSnSHaN9M0Um+ERuh6pUa0S4hoGJJAA8Vj7R7RswpNdVOo7LP5isDeO9ve3gu0aRIblPDgM7nRZG27ZUNiccgcnTbhAjAjOeeC1w8Rv9hMsn0be9vad5Y9k0xPZhsyAcW8RIv3BcTuuuXbWRkGuGOF2xfuKc45kEFxn9NgTALwe1E5wVn7u/D2h0/mAjDwsqeXDTHUR3j8z5Oha/gdyPyKte1p0VboIuqKuzZglclOjpLgmo5rZM/NYm+qxNJ5wwwxjib9JTj6d73S23OB7OWJRjbkgTdRbZt+xPtE6kz3Z7TcQCYg42PPQBdlR9o6f/qNcznEt8Qvlm6AQSdDNpkXtYGStfYtqI4iXOdY3NmG9o4my4jku28Cmr6OQ5tdH1GjWa8cTHBwOYMj5IoXB7s3gGwWktOcDhB5OabZDTuXVbv3uyqBcA/I3y+Sy5PHnDkZDInwzQIQwplDKzjTxC8AolelQISJACplSyBtUoAVPEjZBIORByXDlbRpud8IJhCwUWh6njSpdFipa5SwUNioi40sxjjg0noCVZ7l+PC4AaggW1JViUIb83t7pvC09t3yGq4/aq7nuJLjFiLtF7zqTiMB3qN4bV7x7nGYLvL4R6170sXiDh32xAiQI0zK62DEoR/plnK2FxyHZQM4kWtdxk+GaGu7stzyxJwE/lAj+qEv+I4GIgER3AA+cqtrrRcif48OknVPKC9Z1w4CTpNzcEGw9ZRIXq1L3gkEcQuDbSYudNTOOCioLkRA6YAg4WnEpY1PduiYGRtAOfdqlTgpKmMi2uUbWwbVI4XWI1V9SvAjHRZzagOHKIF4OkZ4/VC+m4y7iJFzYgfOFycngyT9vRsj5SXaJr1Q0ElJsaTc/mjuGiYdSOJi2cg4yLfNVGs1osRExciZBvjiMO4pvj+I4u5Cc+Z5fauiXtDGz+bLPHlecdOisZIAgum95ueLIn8onIAdZSVGpxukmww/r4R4FOUxxGACegtA0GPrmulES1Q3QIjK/djzAjnEZ96vo7Q4Xm09c4xGHglvhkkG2HZMnQ9nFWUzYY+ed+eI1KZQs6/c2+pIY7AzBJFv6YreJXzWjWLTIOYkTOAw64f1xXb7q233lJrpvEHqFzPLxKPuRpxSb4NIlRxKn3ikOWFj0WyplVcYUGohZai8ORcaU98NQp9+NQpsgaidGoHO4QbroN37OWA6kpbdOzhjZeKTT/DlGriTJutKlVY4cQc0gWJBEA9e9aMcaVsTN80iPd8giayMLdFYXNAkkRrI81QN40Zj3tKf1t+6ZRQthZHtZtnutmeZu7sjnxYga281te9bE8TY14mnyK4D/ABL3kCWU2uBAaXEgjE2HyB8QrwjtJIDZyhqdnLXQXvJOQnvVNOpJ1AwsBGWBs3wJwUB3YiYnTKLxj4nQjmltmdc6xaD1yF/rPJdJMVQ+X3do7GeKATjjAJjIBUcMGAOkBrZ6yenReIh2AnKYIxxMukFe4xqADE/D0tYwrALnNk38rCMr2B6JOo0wQcLQDM4WN5H9k0Mv3cDgJ/lMm8YIXAYgfFHdlhA8CCg0ROjJdRLT2TbMX1g2ysJ71H7U9vxN646C/hHgn9opjlmcR3E3HkhfQLje8HDD8sXB7kvX6GqS+RF22POFpHSPi16lep0ySOIyZ+uXrys5ToOuezYyfkSMOSspUCTBtPIA4c401zU1+ybIqoC7RwgzM3xzx7vQTrG8IkX54i/5boKbAIi9jfQg3B08UZcI5zfCw8TkVdIW2ea4kxHOwwjkDMSmC63XXMDPhdf+6oo9T/2zJ1VdepAEiMTawvcQcNEQdstFXv8A6XjCcsMVu7j2siWAi/aym1nW6rmtnf6/vlPgm9g2jhrskiLX7yDyz+RWbyYOeNpDcb1lZ2TNpOZlZFbfMVnMc4gWjlYeu9dkPZoRJqW6f1XL+3PsmQ0Ppkl3K0lv1hcFwnrUv+nQ2htcQ5Op8VBJ1PiuS9nvaLhPuq1sp/d//PkutL26jxCySuLpmuNNWgCF5WAaI+BTYsZuy7NVrVIpNa8jtEVQXMAwkiRfALoG7oruDm1BTpNMQG0y9hxmR2gzLRcfX9o2sn3O0GmTjwh+WHwjmVmDfVSZO2E6cTX/AEbK2YfJilymZMmCUuqO7Z7GtJ/1hB/cY5oMfpeFot9k6dMgXfz/ABSO8ioQO9fNTv6p/wDMb4Vvshf7TVMP2gO6B48yFo/Ki/sT+NP7Pq1X2XpEYT+jh/8AJy+Xb8qN94RT+FpIExgCb215JjdftZWJ4GVXQQSQOK4A/Vz0WVthv44cyt3iPZORnywcHqyxl2zORxmLXg69M0rTqw/O9s8znPruV1I9iBBxw05WtzKUcLOM6m9sP0rbfIpGtVbfGIBzaL5W4SNF5ztS7hgQDxHPUD5KhgJIF4ub8WgN5MLwE30n935y5XsoM1KmBOAsBAthq3tKSXBuYNwQBNu6RmqqZPCevkP4Xcl503mCTra0WsR60UAG6DEDPLDUwAbz0XngAkiw54yDGg9aKuBpcDmbmLnHko47RZp7ItEmT3XQCS+pe3Ccce7DG6lxMWknskkSZ1EtA8/shpugi8CTmD0wdpdEHAQBGkiJOJvjHT+ygSxrrOGEawbd5MX5dULW9kQb53NzgfhA0UPqQBiTcGxz6Aa5aKXkRYmRGM3BjU+uoRsAQMNJnW2R53CR3g6Dw2yjDCJix1nFOcdiQL5gSIBN/hd81nb1d22Tf7RbzVZukWguRrZjAt9/nHK/3VdV/wCIMoEQMBibRirGWbPP5wSIPzxzSrMSb9cLYDtfZVly6DH5Ptfs5vum/ZaJqP4X8PC4FriZaS2ZaCLxPert4bTQdRLA8Ei7ew8doYYt6jvXwve9R/AxzHOEHhMOI5jA4481lftVf/3Kn87lxPJc1KUHVG7Dji0pKzr/AG39nwZ2ijZ4M1Gg4/xtGuozxxxs9j/ab3oFGsfxAOyT+cD6rhqj34ucT1JKopkgyCQRgRiIzWVY9o0x7lq7R9uhe4VzHsj7Se+ApVT+IBY/vgZ9V06yyWrpj07Vo+P/ALJz+Sn9i9WTgKkK/qSL+lET/YrjHPRH/wBP5n5fZNNxVkqPJIixxLtybEGl7puAAMM/7I9vxw9ElNbEQGAH8xJPl5JPeHxR609dV6TxU1hVnGztPK6+AGO6ZdO/wwQbU2xPKJnXAnTXLJA/DkY749fNLbTWLZi/25HuPgnSlQtI0PeS02AJEZaA6ck0LQ0Wkc85v8Op88EnTMtA1AvMAWPP5QmKYHEBbvDe+88vWCYmUaGS2HNvOeVp17K8HDiJvYzja4E2a7qgFS8HT5XORXo+KcbZEZYYevmiVJBkTMzlAFjGo5a5IHwD3t0GfJ3NDgGgRzIMcpxGiCcY1GpxccL5KBovLmiTckHUx3y71yU1H49Qec/zckDpPECD2hppF1LqgBbfK/KL4cPJQgVMjGBdv8Iv4+pVbzBJyOQiInC4REk2MzlY4TJ0AURBvJnHtG1su16kokDpvuSDY44RnqB6+eVtbZrAfui+FwTEjLALQqQJueG1rnQXus+h8bjzgToBB9ckufLSLwVDm0VYENxNh4XjTM/3QtHXHry7I+vNV0nkukCZ8ALSeWSsty5xJGObvoEV3ZHwi1zeJjm4yJFsxhjhcY5yVikrd2eJb/f5LE2lnC5zdCR4Fcj/AE8fuUvvg3eFLhxFtsPZSlHFMbaez3/dL7MbrHiXA3L2WklhDmkgi4IyK1/82bV+83wWe5tlT7lMcUxSk0aUqQoKkFc46h6bjqrSqdOqMlWq2gPizTr9lrRawCS2hxcJHxAzhFsxOv2R7xdLiBf6ckmHkL1MVS1OA+XZ6nWnu8VTtcEE/a4OKursB7TMc266kJWo6QfXclzl7aZePY7sp4g09APLVO+YGuFj/EsTdlWMdbLUFYkEZdcABGBTsU1KKZTJHkdfMsxsBFjzwlpnFRiTheIwxIAzi+KAN7JgXywnDmOeq899wT0xtaZwKaKJc6eAHkCOIYX0cvPbdwkxAjE4E53Q1qsh2fCZHnp6+aqqVJIcM8bzfwQsskW03YEZ2M301b3qSMRAm8QAbXwsgOYiBAItznIckHvJgiefQxy9fNSyUMOlw4hEttgJ8uSKzuuGuEj93vQMP8pnGMTlfrp914NAvY35HE+vV0QFT3lvjY252w0KyaD5e5uZcc8AtHaX68stNbLH2OpFR1sZWXJKpxHQXBs04wi0/wDHAW5q73o1wHKBzAyEjqsw7QcG278Mvv4pjZNmLjeThP07rQnRlfRVr7Htmvcfa30CQ3w2Kp5gHwHD/wCK2eIMbeJ07lz+8q3FUJwy8Fi/0q9NL+jvD/dsQ234e/7paibpja/h7/ulqa5mPo1Zex9rrL0lVU3I5TRI8V4FCSpBXNOrZPFHrmmG7M83DT4KzdmycbuIjstI8cR9FsPctmHx9kpPg53k+Z6ctYqyqls4JJOJknklKuygiAdPmLlNB5k6LxqA5a5c4Xoo04nKt3Zi16JF8M8rJTa2SOJoII+Ia8/CFv1G8j4Ai1vXRLSw92GFzoe9LyY9kOjkZjbDSkLSo0z09cuiQ2aqGP4csvFa1OrjB5dxx9QhgrXgtkbLnuAgjC4No00g5pdzyBebEzjh69BUvqk8sCI69VDWmZ1tNvHHmm2UUfsue69sD98raoaLbkRPK3rJep7OSDfDCycp0AHA6cvqikRySKGtNjrY279FApdogA35deSdFAd0+eOXeoLYJJAP1/7Vaimwr7s8EaQc9RrEQirEls4Xy7ufVNWE2joML+rpDaq4ayDzz17+qD4CuRXaasAz19D6pHZ9nc4nhbd2Zt4KBUL3gZThrmtpmz3GV/llAWZJZZX8Ic3oqK6OwtYBMuONpibHyIVxruiGt4QPliVfTpkRmOeQJkx11TTaQPImen8P2WhRroS5fZjkmZdc4dPFIbU08RMGJsYsfuujqbKI4repxGSte0OBBAIwjJYPNhukhuLP6buji9oFlQxq0tt2Ysc5umHTJZ5XNiqVGyUlJ2gmlWSqgiVypolE1smNUT6LhiEFOpBGNuRWKKtm+UuGdDs5DWwMkFaos9u2BRU2wLqp8HAcJN2xuk8kSMQY+qbpxA19f1WRumvxOe3Kx+/rktKhUiR6uujhlcUCca4LiDa335dUjt9C02nzWjjEn5ff1gltt2cOaQJnEHmmS6BF8nNVqQLiFfs9bhMPw1SjqTw/tSDzTQa42InpjCx4vtcGt9GvszWESPp671aKIGB+ZtfksFpLTIJB9QtDZd43HHOQm5mOc81rjNPsTKD7RrBlvnmef0XgZk2gTrCXZtbYxvGmXIk/JV7RtAdLRnz0M6kploVqxirtDRn5Ska+9G5etfv3Jd+wuJuScV5m6tSEtzl8IYowXbKK+8HHCfLusk3ku+Iz1Wy3dzR+YTpylTT2MOIAi/SyXLHOXYxTiujL2Og4uBGVydF0bWeoxn0VNHYQ0dlvGc5IAxhWnjGDMJOWnXL6JuOGiFTnsz3B6z+dvRUBpkpSptjm2LSOo6LPqb5IPC25PgDr8lJZIxXIFjbLH1i6q4A2Bv3ZLYoGBdc7u6uBjic9TmtQbYFzJTcnZaceaK9/0gQHDEWPQ+vmuaqC63tv2sOHDj6xWJXF1nl2acV68lYUqApVRppSoQuyUlYTewH0pzIPL7Kv3GHaKuKEYDoPJNUpV2KcI30MbsaA6Bnbx1XRbNuPaH0zVZSqPY0kS0YkYxr3Lnt2/wCrT/W3zX6cb68Sul4+VxxIweRFepR8Gq0qjGAvp1GSJ7THNjxCQpOc4z59MYX6E2nAes1x/t9/pM6haY+S5OqMzgkfLNtoBzIPdrN7hZIpPbhcad/9McVo7d8Z7vNyKl8A7/8AinuNuyRlSM07UPztPU+uigBhzg9fVkzvTP8AU5YR+L1okSyNOnyOir5H3bOcnj787ea8Kbx+YevNKBS3L1khYTQ46t+20a3w6Rghex5niqRr9FnNy6fZeP2+iLmwqI+Ghty+cNDPcTdae6q3EHOh0EwM7gSei52h8feV0O7sWdXeStiyNyopkj7RkbVMxgQROBM3mOoXv2vhN8RhGAy8hPee/Qpfl/UP+TU5suA9flKvlzuCuikMSk6MZu3cXd3zbnfDy8F6uw0i6fduBx7A+g6cl2XryRMx9cly8/8AotL9Ua8fiJvs+XDYasnhp1RJMdh2vRN0dybW4WpVCP0x5r6dRxC0ly4ebOf8NbwRR8oo+zu03mjU7wPOVY72S2p2FMDq9o8yvqDlWUZ+VOIPRifMP8m7X+43/wCxv3Rf5K2rSn/P/RfS3IVT8vIH0Yn/2Q=="/>
          <p:cNvSpPr>
            <a:spLocks noChangeAspect="1" noChangeArrowheads="1"/>
          </p:cNvSpPr>
          <p:nvPr/>
        </p:nvSpPr>
        <p:spPr bwMode="auto">
          <a:xfrm>
            <a:off x="12276138" y="160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3" name="AutoShape 12" descr="data:image/jpeg;base64,/9j/4AAQSkZJRgABAQAAAQABAAD/2wCEAAkGBxQTEhUUExQUFRUXFxgUFxgYFxcUFRUXFBUXFxcXFBcYHCggHBolHBUVITEhJSkrLi4uFx8zODMsNygtLisBCgoKDg0OGhAQGywkICQsLCwsLCwsLCwsLCwsLCwsLCwsLCwsLCwsLCwsLCwsLCwsLCwsLCwsLCwsLCwsLCwsLP/AABEIAPgAywMBIgACEQEDEQH/xAAcAAABBQEBAQAAAAAAAAAAAAABAAIEBQYDBwj/xAA9EAABAwIDBAgEBAYCAgMAAAABAAIRAyEEEjEFQVFhBiJxgZGhsfATMsHRFVLh8QcUI0JicoKiM8IkQ2P/xAAaAQADAQEBAQAAAAAAAAAAAAAAAQIEAwUG/8QAKhEAAgICAgEDAgYDAAAAAAAAAAECEQMxEiEEQVFxBTMTIkJhgdEyocH/2gAMAwEAAhEDEQA/APGIShWDtmn8w8Ehsw/mCVjor4ShWX4UfzBH8JdxCYUVkIwrI7JdxHmh+FO4t80AVwSVl+Eu4t80vwp/+PigCshD4asjhYtLT5qJVieKVhRwLBx9UixOKbmQAMqaQnArowTY6oA4EILsW7kHU0WFHJFO+GV3pYJztI8UxEcJ4Cmt2Y/8vmE78Of+XzCBkMBGFNGzqn5R4hI7OqflHiEAQoSUv8PfwHiEfw+pwHigCEipf4c/gPFL8PfwHigC1zISrXYGwnYrNkc1uWJmd/Z2Kzf0KqBzW/EZLpvBgZbpBaMw0roHLUHoPVBA+Iy5jQ2tKWM6FVKdNz/iMOUTEEeaAM01/NOlOxuHNNzGm5fpZQ62JyktgyLH9EuSLcJLaOmIrR7soD635nGOA+vuU3EV7AaE68uHvmq57tyViqjrXrzpYeq4wkB9h796rsKcHigdWR3NXMhXv8pLNP0UWjs0vJjQee6AjkhvGyri6e0rrWowY7lxIVXZFUSPhl2nr74oVqLmGHCCNRwXFpXV1YkAOMgWHLsQAWFH4pZBC5kaLo2O42/VIKLPB7U0zacVaCoDosk4EEhWWysZ/ae5MRfNqCIhA1BwXNvaiiwHQOCLgOC5lyWZKwoLW3ToCGdJOwo2PQKi1hqAEklrc0gAAgu042WnxI/qUjzcPFv6LL9CzFeoP8fQrU4gy6mf8/VpWvyccYZHGOjF4uSU4KUtnauLs/2+hXPbDf6FT/UoYisOrycPquG2scxlGrmMQ0+/fFZpbNb2eYdLcWG1KZvIE9sxoVQ4jHh1QvG8zdTOke0WVS2GubEgh2oVEYXNR6O8slt1o7V6pMnjf7LgwJ4NoQpC6ZGyVg6UknSAT9FcbPwfWBI3acoP0XDDYbK108cveCPoR4q/2SM7nFo6uk7pi5/RcZSNEIkihs9muUHfYW52XKvh5Lg0RuHKbkq9pthsC5Mwm0MNDNxnUmbkn0uuVmmlRgtpYA03NJ0LhPmq11CC4cyPsvQuk2BmlmAByw7wN57isri9ndYmnoesB3SRO/sXVSOE8Zncic2nNvBS61ODb9QjAtaw1+47V1TM7jRAZYwf2XXLv8f0XbE4eDxB0PL9gmmkQOWvb2Jk0ccQFGab2UqOaikQe9NCaNRsqt8SGyA7S5jzXSnWa4kAgxYwqro0A6tldoQfRdcA3J8Qw4jMQIaTMEjUBFdCvsswAllVcx9XI94YRklxkHqg8QdxUyhUJY0nUgHyQ1QJ2dSntpmFzCscMzqhIZoOiR/+W8cneoWrqj5eTx9Qs90dw7RWa8TLpm/G/wBFo6+mmj2+q9Dzfu/weV9PkpY+vcpek2JLKbXs1Y8SOI3jtssr0h24ytRc0SQ69rObxa9vvXvWq6TUHZS5oLgD1mxIINjIAJ0PBed7WNBzj8MPY+etTdeCdS2bxJNp8Fgns9X1M1WqE2JJA0JTvgWB3TE+ql1aTQZg++5KmQdB3NFu89iRVHOjh5iJnhCm1MCM2mn33eadhXhpAsNJJ3HcLbh7hT8FVa4kauIIB0AgQ0AeChlxOT2vc0gA5ZAB4xb9FptiUntpAPaBFgBbf6ldNnYMU6YaYMcucqSat5NgNPe8ri22aoxUSTRYdTvG7cleO7T1upOFbbtVhTw0/uhRL5JFM15ILXtlptxhZ9+EDS6nqAZYeXAz5raYnBKvxOEnjae7nKTQ+noxNbBDe21+0Eaj096wP5ZpMA6iCNCDr3xC0tfB1GvGbsJvDhx98VX9IdimPiMFxfn3K4yOU8bqzPT1ch1aZG/hPddE4gAButyCCdDcKM2s7MLnhw97vAKPiKkuJFrk+a7IyM7VKShYjWe7wUkVfl970yvT87jv/UEdyZI7Y2J+HWa7tHK45L1PokR8CkTeTUtEtJLzqV4/oV6h/DvaQfRZTvmp5gY0hxm43rrj2ccmiN0ugOxQNgaTNLXvA5rt0V2ZSq4Zr3i9xqRoYXTpA0GpimmL06bRabkGF26NYUtwzGnKSC6deO5TldFY1Y3H7HpNbLQdY1UVlBoEAkd6tMe3qHQS7h6quFI8vBZJTdmuEFRoNg/NT/2I8itFXHVd2g/9gs9sjVvJ8eZC0+KZ1He969nzvufwfO/S/tP5/wCI54iA10xqD5hY3+ImKpZWtLGufEtOjhO+QJH7rp09xhYxzTmDXAXaYc1w0Mb2my80qbUe8/1CXczcm0XO9YJs9lK2ItP9oEd48bwmO+IT8p7OX2UltZuoEczfwCYytc7p14xw7T9VBZGdTcNQRwWk6PYG+Y7vXl2fVRK2FL3CbRE7/wBzAWnwVKGLnP2NGFeoNoVnmG04neToO1dMN0eqVILqpDrxaRfsuPNWNDDCmJOupNzzUaptSqDlpUzH5zoOcC8WSTo6SjfYH9G6zB/54kxabDtkfVNw2z69N2ZtTMBukmPE6Kix2NxpqQalQjMLgAU8o+YRlnhBlaDBYjKCDUz9WdDrGnK57Lbk52hYqlao1ODxOZoDtfNOfUa111nfxYiNxi6hYraxc6J7O8gfVRyZfCiftrbAY6zJjwVO3bbXiHsyjSxnxV0x1OnqyTvzQB5p4xuFqjL/AEiTfKC0x3j1VIl2jz/auFa45mwN2ms6H3wVLjcNlMem/wBytlt7ZDGBxZMG8Tv7vsspWJcBMzpzVo4TXuV2XS/byj35Jz35gBvE+Zn1J8V2xWGLWh3FQwVZxOdUXWh6CYs08XTg2ecp7Cs/X17la9EmziqI/wAx3QZVx2iJeputv0ya1a+ho7h/dbgrHZAimR/k71ULbbSa9bSM1DffUaKdskdQ/wCzvUqPI2PDo57S+Udv3UGVN2loO37qGFjkbIEnAVnDEMBcYLhbvW5qVCS9u4NWGxNH4eKY3eHgHtst08DMdZLe5e/53cov9j5z6eqg1+5U9Kdj08TRc2oXNytzgtiZA5g8PJeFYhmV7g0lwBgHjG9fRNfDB7TOhZHkvCukOzDRxVWmbGcwtqHdYeS8+R66IuELnWJt5d6UHPb9oVjsYUxSdmaS/NltcxAI9CuGNADiGyLG5sbboOm5cr7O/D8tlrs4jqtiS43PK/0C1eEbpKyuyaUPBPAR2R63HmtJQqS6Fzls74tFtAd2J1J7RuKivqn5WrpTw5OskqTTGFo7Yh7HWDL9nFQ8RhSB1iAOA07yrKlgeUKs2pWAOUXjwQ7BJLRCw1HMT4Kt2jSyPbuv+yucCy6idIKUjNBsktjl/iWGy6rvma5pJs4OAztndNj5rO4vo89tUvNxugAEcTIvr3gHerXBHM0O0cBE8e3kpf8AOkiDcaaK1NpUcZYlL8zKfDNe5mWobglvaNxWXxNKHHtPkVuKpAuN/rxWR2kWtLid2naffmqiZ8pVYyvq3hbz/VV0Jzzr2pBq6Gc5VRdX3QWmTjKUCYMnkFT/AMsVrf4dVGU8ScxA6ojxurhtET0zS7UE4itp81GZ5DQc1L2Z8ve71KqdobRa7FVWgy0vpEERAMCVbbM+U9p9SufkbKwaOW0tB2/RQ2hTNo7u36LgwWWR7NkdD9t1T/OlxNi/MOyYW+ay8/4wvP8ApGyMSADbNY9631OrYDkPNfQebqHwfOeD+r5/sew9Xu+iynT/AKMfzVJtWmP61Np5FzdY5xfxK1VOnvXSjSmD2Lz2eozwHB13UahBGUyJBtBb6fqu+0WfEqZg0wTmOpgm5BK1f8TNhdU4ymINOqKdSJuHk5HHsIj/AJBcNkV2VqHUF4u23zb+wewuUlXZpxPmuJDoU98mTM7tNPVWGD1JTMfhwwtGYEkZuYv78FJwbbrlNnfHFrossOyyuMKA0Zjqq7Ci8Lq/EGSBfdZQmaW+qJWIxUAkmTw3BVdMNc46S64J7NPJKu6bJrKe/gqoaao6bLxIY8iowAiwBuD4Jm26gqD4bBLjcgRYcSnVGzYiSN+8KBi6OUGLCZPPtTol7O/R3DWc0wesR5D6+i6Y/CZTCgbLrlhJns/RaCtU+I0GBwPJSXF18GTxNUtMLG7VqF1Q8Lx9fqtht8w4LIFwguOsn6n7rpAw+RSdFY03Km4dwG88iL+IUUjeuwIhdDMh+IrEnWeeihiS61uxSKbC6Q0ZjBPhdT9gbCq4h7AxhJcbQNePoU4oUmdOjmFzVQS64c2OZK9E2aOp3n1KxeAomhiDScOtnbHAQAT4grbbP+XvPqVGZUViZG2hu71yZou20P7e/wCiaxtllZqiHbOzqkfEOWBBs65DoiFutn3pMP8AiPReQYva4e7NlLRYZZzCwWjwPT/4dNjPgk5Whs5huGq9vys8ciSTur9KPC8Xxp4221WvWz0KkLLphxYLDUP4hNi9F88iIXah/EKmB/4ak/8AGPVY2ze0XW2sKKuB2lTP5Wu0n5XEjsgheI4TD1KbiQ51MgTOmnHjZek4jp4z4OJaKL/6zS3d1e2/avPsdjGVQ0MBaQ2HTEOI33Np1uk+0ELQ/ZrqnxnGo4uJAMkzIm0HhcLY4BY3o9Q/qubNyy3DUFazZtbdv071wybN2DXZf4FvWKFWmRPuVzwz7yu73yZXM0WVGKxFRrrtHaL+q7UNo8YG7QhS3sm2oRGDpxMHjAMK4tM6Jx9RhxzeF+WiiY3EtOojdaF1fgWE2zDfcAqDjdmcTz4eiropqFDMGA5wDbq1wxILhuifOPqqrZOGazcCSdYurisIbO+FzkckZvpHE9g+ixFVu8kRmLQN9v3Wt2zWkEnefILDurE+ZHeZXXGujDnl2dYi2qa4EmBJ3RCu+i3R6piXAlrvh3lwjUcBPIrc7E6Msw7szqZNzcjNY/KbTuKuVpdI541GTpujP/w56NPrYkAt6oZUe4m2jTA8YW7/AIaBrKdBxYCcrjlIk/3bjGimdFdotwxrE03wadRvywSSZYB23ULo7WptpM+MSwta43Bde8DqjfxXXFfHs4ZkuTooNr02/wA5UJp3NVnXiQ2abdDKk0MQGCNbngNCqvateq7EEsBNIvzExfTneLBdsNiGhsOtrrzKz5FNyd/69jtj4pdHfE1w6D2/RMZiLbvEKPWxDARePS/7JDE0+IXFwfsd1JUUH8vZKnh+fkpEgiyNMrVRmsYzDxw8EmtM7vBdbpriig5Mj41hyOEwCOAWbo2cJ+61b2ZhBvO5VNfZrWXkxOh+6AuyZ0aA+OTvgzyuLLR43DFrs7RP5hx5hUPRtg+K4gyYAiIAG70W3YyWrPkdSNuGNwIOGxQcAVPpVJ97vYVDXw5Y85bA3UrBYozBFxu+3JI6X6MvqScaYK4McfqFKp0zHvcqiirONShFz70+6rcTTLjdW1cEA3t91AqVdx3IY0+iIWZTfs8Fx2jjJAaCmY7Ehovqsvtfa+UQ27zoNwB3lKMTjPJSIvSXHj5G9nYN/is6XLtWYdTcnUrgRdaEqMMnbs9H6EdMadCiKYw1QvmC4OGSL3uZm60eJ6XSTlovvzb+q876OurNAy0C8TrBV4ce7+7D1B3FXyZHFF5X6SzP9F+nEDvsoL9sSINJ0brhV7sc0/21B2tKZ/NN4x2ghHNhxRMqbVm3wyO8KLUxJJ+TzCa2o07x4oucOXilyY6Q3EVM2jO24UcB3D0UwAeylLfzDxCLYFFnO4lOFV3EqUzZWIOlJ3go+NpupGKgDTwJv4BdOBHIQrvG9NfjnDUqBWxpOlue9RgSTJup4lWWn4m4mGiSp79nVXgZ3NjWGtOvCTqo/RLDh+IAI0a4+ED6rbYnDZRO5cc2Ti6Rpw4lJWyi2Thsj+ZHfAWqwx0WboH+oCd/p7C0eHWaXZsx6oj7QoTdRxTDreHEHkrbECyryOtbWQkNo4s2jkOWpII0I0Kl/jTI+YdyfUwIqbuXqodbYQ3LomiHyJh2q0iJn3CqdpbXYwG8ngLnwG7mm4vYwESSZ5qrxFEFzWgWkWG9O0Tykug08FUrdaqS0G4a3WOZ3d3iqutRYK9MFhcwB5cGnK46Cc0G8kG/BayvYe9FR4anmrPPKB3kk+gSjJ3YTxqq9zMY/DBjy0EuG4kQSCJuATB3WO5RA2DI3XVxt9kVY4NH1KqnLWu4pmCSqTRq9jdN3U4bVpgt4iy2mzukNGuOoRPAmCvH0m2MiQeIMIcWI9vBBBMKJULeAPcF5ngeklemIzZhzV3g+mDDHxGOHEi45wp7QGufhB1cwb1riw4wuFTZrS7LkZrlmLTpqoOE6SUXtAz3D8w7DqPIKZS2kPi5pOTPm850U2M41NjsOtNm+8CDl1hcjsqmLGmwHsCm/iALXg23s77EeF09+0Wk9ZlNx3ukieZCVh2YLafTDFVrZ/ht4M6vi7VUJMmSZPE3PihCK0bIqgtTmhMC6AJoZa9F8WKWKpOOhdkPY/qjzI8F6VtalAheQ++C9N2HtX+aoNJPXaMr+ZA+bsIv4rN5ENSNPjS/SV9WnDmnn6q5wr1Ex9DqyNy6YJ9h771m9Datk+sbbyPMKupu63erJoVa9kOPvvCRRc4NwiDr7K7vF9FAoki+oU3E1YZPKVVE12VO1HRyWewozVZ3DTvUzaWJmSeNkNnYaBmOpunpCq2PxrrepVfsho6zzYEuMncGiPoT3rrtavAPvwVXtjFinQbRHzvHW5N3+Jt2ApwjfRGWaj37FHtHE/EqPf8AmMjkBYeQCikJxTVvqujzbvsahCcAiUgGQgnFCEANKk4XaVWn8riRwKjlCFDVjs0uz+kvxDlNNjTBMl+UHlpqrWltLMARRsf/ANW/ZYQhIFw0JjtU8EPkztqgAiAkRddiROCTSnwmFqbEOVjsParsPUDxcGz2/mH3G5VgTgk0mqY02naPWm1GVaedhzNcDBHoRuO5QMC0x5LE7D20/Dutdh+Zh9Rwd6radH8dTrBwab6xo4dyx5MTj8G/HmUvktqJXDEMvK7tEJ1Vk3C4HdM5B0N0UQ0nO1Jy8N6lCrGuibUxINmqkMpa1CajW857lPriBZLC0esXEfoqrbm2adOQDmd+Ubu07vVNJydIhyUFbK7auLDTJvFwOJ4fcrNV6pe4udckz+3knYnEOe7M4/Ydi4rbjhxR5+TJzYimolFoVnMQShEhFMQwppT0CEhjEE+ECEgGFBPITSlQHcJEJNRViA0pyYNV0CEBzLUgnlCEUAAn03kEFpII0IJBHMEaIIEJgXFDpLiW/wD2Zo/MAfE6nxU6n00rjVtI9zh/7LMIgqHji/QtZJLTNG/pdVP9lP8A7fdcndKq24U2/wDEn1KoZQS/Ch7D/Fn7k/GbZrVLOqGOAho/6696gJQjCpKtENt7AShCISKYgAJyCKAEgUUEAEpqcmlDAAQRhIJDAQm5U5ycClQDnDekCgDISYqEBycEnBAFMByRCSQQAkkkkAFJBJABSlBBABQKRKICAEmouSakAkUEEwEiECkkAkCiUHIABRIRhIoAYiSg1MKkZ2GqDdU4prtVQh6a1FN3oAekkkEwEUgihCACmp0IFqAAkSkQlCAE0IooFAASSASSAQShJFMAEJJBFADUt6IQ4pAFqRSTSUAMTg1Bg3pyQxSk5FJMQEnlJJAD0AkkmAQgikgApFJJAChJJJAACRSSQAiUAkkgAoJJIARRSSQAAmF1j2pJJMBxKYf3SSSGPCaSkkgR/9k="/>
          <p:cNvSpPr>
            <a:spLocks noChangeAspect="1" noChangeArrowheads="1"/>
          </p:cNvSpPr>
          <p:nvPr/>
        </p:nvSpPr>
        <p:spPr bwMode="auto">
          <a:xfrm>
            <a:off x="12428538" y="3127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4" name="AutoShape 14" descr="data:image/jpeg;base64,/9j/4AAQSkZJRgABAQAAAQABAAD/2wCEAAkGBxQTEhUUExQUFRUXFxgUFxgYFxcUFRUXFBUXFxcXFBcYHCggHBolHBUVITEhJSkrLi4uFx8zODMsNygtLisBCgoKDg0OGhAQGywkICQsLCwsLCwsLCwsLCwsLCwsLCwsLCwsLCwsLCwsLCwsLCwsLCwsLCwsLCwsLCwsLCwsLP/AABEIAPgAywMBIgACEQEDEQH/xAAcAAABBQEBAQAAAAAAAAAAAAABAAIEBQYDBwj/xAA9EAABAwIDBAgEBAYCAgMAAAABAAIRAyEEEjEFQVFhBiJxgZGhsfATMsHRFVLh8QcUI0JicoKiM8IkQ2P/xAAaAQADAQEBAQAAAAAAAAAAAAAAAQIEAwUG/8QAKhEAAgICAgEDAgYDAAAAAAAAAAECEQMxEiEEQVFxBTMTIkJhgdEyocH/2gAMAwEAAhEDEQA/APGIShWDtmn8w8Ehsw/mCVjor4ShWX4UfzBH8JdxCYUVkIwrI7JdxHmh+FO4t80AVwSVl+Eu4t80vwp/+PigCshD4asjhYtLT5qJVieKVhRwLBx9UixOKbmQAMqaQnArowTY6oA4EILsW7kHU0WFHJFO+GV3pYJztI8UxEcJ4Cmt2Y/8vmE78Of+XzCBkMBGFNGzqn5R4hI7OqflHiEAQoSUv8PfwHiEfw+pwHigCEipf4c/gPFL8PfwHigC1zISrXYGwnYrNkc1uWJmd/Z2Kzf0KqBzW/EZLpvBgZbpBaMw0roHLUHoPVBA+Iy5jQ2tKWM6FVKdNz/iMOUTEEeaAM01/NOlOxuHNNzGm5fpZQ62JyktgyLH9EuSLcJLaOmIrR7soD635nGOA+vuU3EV7AaE68uHvmq57tyViqjrXrzpYeq4wkB9h796rsKcHigdWR3NXMhXv8pLNP0UWjs0vJjQee6AjkhvGyri6e0rrWowY7lxIVXZFUSPhl2nr74oVqLmGHCCNRwXFpXV1YkAOMgWHLsQAWFH4pZBC5kaLo2O42/VIKLPB7U0zacVaCoDosk4EEhWWysZ/ae5MRfNqCIhA1BwXNvaiiwHQOCLgOC5lyWZKwoLW3ToCGdJOwo2PQKi1hqAEklrc0gAAgu042WnxI/qUjzcPFv6LL9CzFeoP8fQrU4gy6mf8/VpWvyccYZHGOjF4uSU4KUtnauLs/2+hXPbDf6FT/UoYisOrycPquG2scxlGrmMQ0+/fFZpbNb2eYdLcWG1KZvIE9sxoVQ4jHh1QvG8zdTOke0WVS2GubEgh2oVEYXNR6O8slt1o7V6pMnjf7LgwJ4NoQpC6ZGyVg6UknSAT9FcbPwfWBI3acoP0XDDYbK108cveCPoR4q/2SM7nFo6uk7pi5/RcZSNEIkihs9muUHfYW52XKvh5Lg0RuHKbkq9pthsC5Mwm0MNDNxnUmbkn0uuVmmlRgtpYA03NJ0LhPmq11CC4cyPsvQuk2BmlmAByw7wN57isri9ndYmnoesB3SRO/sXVSOE8Zncic2nNvBS61ODb9QjAtaw1+47V1TM7jRAZYwf2XXLv8f0XbE4eDxB0PL9gmmkQOWvb2Jk0ccQFGab2UqOaikQe9NCaNRsqt8SGyA7S5jzXSnWa4kAgxYwqro0A6tldoQfRdcA3J8Qw4jMQIaTMEjUBFdCvsswAllVcx9XI94YRklxkHqg8QdxUyhUJY0nUgHyQ1QJ2dSntpmFzCscMzqhIZoOiR/+W8cneoWrqj5eTx9Qs90dw7RWa8TLpm/G/wBFo6+mmj2+q9Dzfu/weV9PkpY+vcpek2JLKbXs1Y8SOI3jtssr0h24ytRc0SQ69rObxa9vvXvWq6TUHZS5oLgD1mxIINjIAJ0PBed7WNBzj8MPY+etTdeCdS2bxJNp8Fgns9X1M1WqE2JJA0JTvgWB3TE+ql1aTQZg++5KmQdB3NFu89iRVHOjh5iJnhCm1MCM2mn33eadhXhpAsNJJ3HcLbh7hT8FVa4kauIIB0AgQ0AeChlxOT2vc0gA5ZAB4xb9FptiUntpAPaBFgBbf6ldNnYMU6YaYMcucqSat5NgNPe8ri22aoxUSTRYdTvG7cleO7T1upOFbbtVhTw0/uhRL5JFM15ILXtlptxhZ9+EDS6nqAZYeXAz5raYnBKvxOEnjae7nKTQ+noxNbBDe21+0Eaj096wP5ZpMA6iCNCDr3xC0tfB1GvGbsJvDhx98VX9IdimPiMFxfn3K4yOU8bqzPT1ch1aZG/hPddE4gAButyCCdDcKM2s7MLnhw97vAKPiKkuJFrk+a7IyM7VKShYjWe7wUkVfl970yvT87jv/UEdyZI7Y2J+HWa7tHK45L1PokR8CkTeTUtEtJLzqV4/oV6h/DvaQfRZTvmp5gY0hxm43rrj2ccmiN0ugOxQNgaTNLXvA5rt0V2ZSq4Zr3i9xqRoYXTpA0GpimmL06bRabkGF26NYUtwzGnKSC6deO5TldFY1Y3H7HpNbLQdY1UVlBoEAkd6tMe3qHQS7h6quFI8vBZJTdmuEFRoNg/NT/2I8itFXHVd2g/9gs9sjVvJ8eZC0+KZ1He969nzvufwfO/S/tP5/wCI54iA10xqD5hY3+ImKpZWtLGufEtOjhO+QJH7rp09xhYxzTmDXAXaYc1w0Mb2my80qbUe8/1CXczcm0XO9YJs9lK2ItP9oEd48bwmO+IT8p7OX2UltZuoEczfwCYytc7p14xw7T9VBZGdTcNQRwWk6PYG+Y7vXl2fVRK2FL3CbRE7/wBzAWnwVKGLnP2NGFeoNoVnmG04neToO1dMN0eqVILqpDrxaRfsuPNWNDDCmJOupNzzUaptSqDlpUzH5zoOcC8WSTo6SjfYH9G6zB/54kxabDtkfVNw2z69N2ZtTMBukmPE6Kix2NxpqQalQjMLgAU8o+YRlnhBlaDBYjKCDUz9WdDrGnK57Lbk52hYqlao1ODxOZoDtfNOfUa111nfxYiNxi6hYraxc6J7O8gfVRyZfCiftrbAY6zJjwVO3bbXiHsyjSxnxV0x1OnqyTvzQB5p4xuFqjL/AEiTfKC0x3j1VIl2jz/auFa45mwN2ms6H3wVLjcNlMem/wBytlt7ZDGBxZMG8Tv7vsspWJcBMzpzVo4TXuV2XS/byj35Jz35gBvE+Zn1J8V2xWGLWh3FQwVZxOdUXWh6CYs08XTg2ecp7Cs/X17la9EmziqI/wAx3QZVx2iJeputv0ya1a+ho7h/dbgrHZAimR/k71ULbbSa9bSM1DffUaKdskdQ/wCzvUqPI2PDo57S+Udv3UGVN2loO37qGFjkbIEnAVnDEMBcYLhbvW5qVCS9u4NWGxNH4eKY3eHgHtst08DMdZLe5e/53cov9j5z6eqg1+5U9Kdj08TRc2oXNytzgtiZA5g8PJeFYhmV7g0lwBgHjG9fRNfDB7TOhZHkvCukOzDRxVWmbGcwtqHdYeS8+R66IuELnWJt5d6UHPb9oVjsYUxSdmaS/NltcxAI9CuGNADiGyLG5sbboOm5cr7O/D8tlrs4jqtiS43PK/0C1eEbpKyuyaUPBPAR2R63HmtJQqS6Fzls74tFtAd2J1J7RuKivqn5WrpTw5OskqTTGFo7Yh7HWDL9nFQ8RhSB1iAOA07yrKlgeUKs2pWAOUXjwQ7BJLRCw1HMT4Kt2jSyPbuv+yucCy6idIKUjNBsktjl/iWGy6rvma5pJs4OAztndNj5rO4vo89tUvNxugAEcTIvr3gHerXBHM0O0cBE8e3kpf8AOkiDcaaK1NpUcZYlL8zKfDNe5mWobglvaNxWXxNKHHtPkVuKpAuN/rxWR2kWtLid2naffmqiZ8pVYyvq3hbz/VV0Jzzr2pBq6Gc5VRdX3QWmTjKUCYMnkFT/AMsVrf4dVGU8ScxA6ojxurhtET0zS7UE4itp81GZ5DQc1L2Z8ve71KqdobRa7FVWgy0vpEERAMCVbbM+U9p9SufkbKwaOW0tB2/RQ2hTNo7u36LgwWWR7NkdD9t1T/OlxNi/MOyYW+ay8/4wvP8ApGyMSADbNY9631OrYDkPNfQebqHwfOeD+r5/sew9Xu+iynT/AKMfzVJtWmP61Np5FzdY5xfxK1VOnvXSjSmD2Lz2eozwHB13UahBGUyJBtBb6fqu+0WfEqZg0wTmOpgm5BK1f8TNhdU4ymINOqKdSJuHk5HHsIj/AJBcNkV2VqHUF4u23zb+wewuUlXZpxPmuJDoU98mTM7tNPVWGD1JTMfhwwtGYEkZuYv78FJwbbrlNnfHFrossOyyuMKA0Zjqq7Ci8Lq/EGSBfdZQmaW+qJWIxUAkmTw3BVdMNc46S64J7NPJKu6bJrKe/gqoaao6bLxIY8iowAiwBuD4Jm26gqD4bBLjcgRYcSnVGzYiSN+8KBi6OUGLCZPPtTol7O/R3DWc0wesR5D6+i6Y/CZTCgbLrlhJns/RaCtU+I0GBwPJSXF18GTxNUtMLG7VqF1Q8Lx9fqtht8w4LIFwguOsn6n7rpAw+RSdFY03Km4dwG88iL+IUUjeuwIhdDMh+IrEnWeeihiS61uxSKbC6Q0ZjBPhdT9gbCq4h7AxhJcbQNePoU4oUmdOjmFzVQS64c2OZK9E2aOp3n1KxeAomhiDScOtnbHAQAT4grbbP+XvPqVGZUViZG2hu71yZou20P7e/wCiaxtllZqiHbOzqkfEOWBBs65DoiFutn3pMP8AiPReQYva4e7NlLRYZZzCwWjwPT/4dNjPgk5Whs5huGq9vys8ciSTur9KPC8Xxp4221WvWz0KkLLphxYLDUP4hNi9F88iIXah/EKmB/4ak/8AGPVY2ze0XW2sKKuB2lTP5Wu0n5XEjsgheI4TD1KbiQ51MgTOmnHjZek4jp4z4OJaKL/6zS3d1e2/avPsdjGVQ0MBaQ2HTEOI33Np1uk+0ELQ/ZrqnxnGo4uJAMkzIm0HhcLY4BY3o9Q/qubNyy3DUFazZtbdv071wybN2DXZf4FvWKFWmRPuVzwz7yu73yZXM0WVGKxFRrrtHaL+q7UNo8YG7QhS3sm2oRGDpxMHjAMK4tM6Jx9RhxzeF+WiiY3EtOojdaF1fgWE2zDfcAqDjdmcTz4eiropqFDMGA5wDbq1wxILhuifOPqqrZOGazcCSdYurisIbO+FzkckZvpHE9g+ixFVu8kRmLQN9v3Wt2zWkEnefILDurE+ZHeZXXGujDnl2dYi2qa4EmBJ3RCu+i3R6piXAlrvh3lwjUcBPIrc7E6Msw7szqZNzcjNY/KbTuKuVpdI541GTpujP/w56NPrYkAt6oZUe4m2jTA8YW7/AIaBrKdBxYCcrjlIk/3bjGimdFdotwxrE03wadRvywSSZYB23ULo7WptpM+MSwta43Bde8DqjfxXXFfHs4ZkuTooNr02/wA5UJp3NVnXiQ2abdDKk0MQGCNbngNCqvateq7EEsBNIvzExfTneLBdsNiGhsOtrrzKz5FNyd/69jtj4pdHfE1w6D2/RMZiLbvEKPWxDARePS/7JDE0+IXFwfsd1JUUH8vZKnh+fkpEgiyNMrVRmsYzDxw8EmtM7vBdbpriig5Mj41hyOEwCOAWbo2cJ+61b2ZhBvO5VNfZrWXkxOh+6AuyZ0aA+OTvgzyuLLR43DFrs7RP5hx5hUPRtg+K4gyYAiIAG70W3YyWrPkdSNuGNwIOGxQcAVPpVJ97vYVDXw5Y85bA3UrBYozBFxu+3JI6X6MvqScaYK4McfqFKp0zHvcqiirONShFz70+6rcTTLjdW1cEA3t91AqVdx3IY0+iIWZTfs8Fx2jjJAaCmY7Ehovqsvtfa+UQ27zoNwB3lKMTjPJSIvSXHj5G9nYN/is6XLtWYdTcnUrgRdaEqMMnbs9H6EdMadCiKYw1QvmC4OGSL3uZm60eJ6XSTlovvzb+q876OurNAy0C8TrBV4ce7+7D1B3FXyZHFF5X6SzP9F+nEDvsoL9sSINJ0brhV7sc0/21B2tKZ/NN4x2ghHNhxRMqbVm3wyO8KLUxJJ+TzCa2o07x4oucOXilyY6Q3EVM2jO24UcB3D0UwAeylLfzDxCLYFFnO4lOFV3EqUzZWIOlJ3go+NpupGKgDTwJv4BdOBHIQrvG9NfjnDUqBWxpOlue9RgSTJup4lWWn4m4mGiSp79nVXgZ3NjWGtOvCTqo/RLDh+IAI0a4+ED6rbYnDZRO5cc2Ti6Rpw4lJWyi2Thsj+ZHfAWqwx0WboH+oCd/p7C0eHWaXZsx6oj7QoTdRxTDreHEHkrbECyryOtbWQkNo4s2jkOWpII0I0Kl/jTI+YdyfUwIqbuXqodbYQ3LomiHyJh2q0iJn3CqdpbXYwG8ngLnwG7mm4vYwESSZ5qrxFEFzWgWkWG9O0Tykug08FUrdaqS0G4a3WOZ3d3iqutRYK9MFhcwB5cGnK46Cc0G8kG/BayvYe9FR4anmrPPKB3kk+gSjJ3YTxqq9zMY/DBjy0EuG4kQSCJuATB3WO5RA2DI3XVxt9kVY4NH1KqnLWu4pmCSqTRq9jdN3U4bVpgt4iy2mzukNGuOoRPAmCvH0m2MiQeIMIcWI9vBBBMKJULeAPcF5ngeklemIzZhzV3g+mDDHxGOHEi45wp7QGufhB1cwb1riw4wuFTZrS7LkZrlmLTpqoOE6SUXtAz3D8w7DqPIKZS2kPi5pOTPm850U2M41NjsOtNm+8CDl1hcjsqmLGmwHsCm/iALXg23s77EeF09+0Wk9ZlNx3ukieZCVh2YLafTDFVrZ/ht4M6vi7VUJMmSZPE3PihCK0bIqgtTmhMC6AJoZa9F8WKWKpOOhdkPY/qjzI8F6VtalAheQ++C9N2HtX+aoNJPXaMr+ZA+bsIv4rN5ENSNPjS/SV9WnDmnn6q5wr1Ex9DqyNy6YJ9h771m9Datk+sbbyPMKupu63erJoVa9kOPvvCRRc4NwiDr7K7vF9FAoki+oU3E1YZPKVVE12VO1HRyWewozVZ3DTvUzaWJmSeNkNnYaBmOpunpCq2PxrrepVfsho6zzYEuMncGiPoT3rrtavAPvwVXtjFinQbRHzvHW5N3+Jt2ApwjfRGWaj37FHtHE/EqPf8AmMjkBYeQCikJxTVvqujzbvsahCcAiUgGQgnFCEANKk4XaVWn8riRwKjlCFDVjs0uz+kvxDlNNjTBMl+UHlpqrWltLMARRsf/ANW/ZYQhIFw0JjtU8EPkztqgAiAkRddiROCTSnwmFqbEOVjsParsPUDxcGz2/mH3G5VgTgk0mqY02naPWm1GVaedhzNcDBHoRuO5QMC0x5LE7D20/Dutdh+Zh9Rwd6radH8dTrBwab6xo4dyx5MTj8G/HmUvktqJXDEMvK7tEJ1Vk3C4HdM5B0N0UQ0nO1Jy8N6lCrGuibUxINmqkMpa1CajW857lPriBZLC0esXEfoqrbm2adOQDmd+Ubu07vVNJydIhyUFbK7auLDTJvFwOJ4fcrNV6pe4udckz+3knYnEOe7M4/Ydi4rbjhxR5+TJzYimolFoVnMQShEhFMQwppT0CEhjEE+ECEgGFBPITSlQHcJEJNRViA0pyYNV0CEBzLUgnlCEUAAn03kEFpII0IJBHMEaIIEJgXFDpLiW/wD2Zo/MAfE6nxU6n00rjVtI9zh/7LMIgqHji/QtZJLTNG/pdVP9lP8A7fdcndKq24U2/wDEn1KoZQS/Ch7D/Fn7k/GbZrVLOqGOAho/6696gJQjCpKtENt7AShCISKYgAJyCKAEgUUEAEpqcmlDAAQRhIJDAQm5U5ycClQDnDekCgDISYqEBycEnBAFMByRCSQQAkkkkAFJBJABSlBBABQKRKICAEmouSakAkUEEwEiECkkAkCiUHIABRIRhIoAYiSg1MKkZ2GqDdU4prtVQh6a1FN3oAekkkEwEUgihCACmp0IFqAAkSkQlCAE0IooFAASSASSAQShJFMAEJJBFADUt6IQ4pAFqRSTSUAMTg1Bg3pyQxSk5FJMQEnlJJAD0AkkmAQgikgApFJJAChJJJAACRSSQAiUAkkgAoJJIARRSSQAAmF1j2pJJMBxKYf3SSSGPCaSkkgR/9k="/>
          <p:cNvSpPr>
            <a:spLocks noChangeAspect="1" noChangeArrowheads="1"/>
          </p:cNvSpPr>
          <p:nvPr/>
        </p:nvSpPr>
        <p:spPr bwMode="auto">
          <a:xfrm>
            <a:off x="12580938" y="4651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6" name="AutoShape 16" descr="data:image/jpeg;base64,/9j/4AAQSkZJRgABAQAAAQABAAD/2wCEAAkGBxQTEhUUExQUFRUXFxgUFxgYFxcUFRUXFBUXFxcXFBcYHCggHBolHBUVITEhJSkrLi4uFx8zODMsNygtLisBCgoKDg0OGhAQGywkICQsLCwsLCwsLCwsLCwsLCwsLCwsLCwsLCwsLCwsLCwsLCwsLCwsLCwsLCwsLCwsLCwsLP/AABEIAPgAywMBIgACEQEDEQH/xAAcAAABBQEBAQAAAAAAAAAAAAABAAIEBQYDBwj/xAA9EAABAwIDBAgEBAYCAgMAAAABAAIRAyEEEjEFQVFhBiJxgZGhsfATMsHRFVLh8QcUI0JicoKiM8IkQ2P/xAAaAQADAQEBAQAAAAAAAAAAAAAAAQIEAwUG/8QAKhEAAgICAgEDAgYDAAAAAAAAAAECEQMxEiEEQVFxBTMTIkJhgdEyocH/2gAMAwEAAhEDEQA/APGIShWDtmn8w8Ehsw/mCVjor4ShWX4UfzBH8JdxCYUVkIwrI7JdxHmh+FO4t80AVwSVl+Eu4t80vwp/+PigCshD4asjhYtLT5qJVieKVhRwLBx9UixOKbmQAMqaQnArowTY6oA4EILsW7kHU0WFHJFO+GV3pYJztI8UxEcJ4Cmt2Y/8vmE78Of+XzCBkMBGFNGzqn5R4hI7OqflHiEAQoSUv8PfwHiEfw+pwHigCEipf4c/gPFL8PfwHigC1zISrXYGwnYrNkc1uWJmd/Z2Kzf0KqBzW/EZLpvBgZbpBaMw0roHLUHoPVBA+Iy5jQ2tKWM6FVKdNz/iMOUTEEeaAM01/NOlOxuHNNzGm5fpZQ62JyktgyLH9EuSLcJLaOmIrR7soD635nGOA+vuU3EV7AaE68uHvmq57tyViqjrXrzpYeq4wkB9h796rsKcHigdWR3NXMhXv8pLNP0UWjs0vJjQee6AjkhvGyri6e0rrWowY7lxIVXZFUSPhl2nr74oVqLmGHCCNRwXFpXV1YkAOMgWHLsQAWFH4pZBC5kaLo2O42/VIKLPB7U0zacVaCoDosk4EEhWWysZ/ae5MRfNqCIhA1BwXNvaiiwHQOCLgOC5lyWZKwoLW3ToCGdJOwo2PQKi1hqAEklrc0gAAgu042WnxI/qUjzcPFv6LL9CzFeoP8fQrU4gy6mf8/VpWvyccYZHGOjF4uSU4KUtnauLs/2+hXPbDf6FT/UoYisOrycPquG2scxlGrmMQ0+/fFZpbNb2eYdLcWG1KZvIE9sxoVQ4jHh1QvG8zdTOke0WVS2GubEgh2oVEYXNR6O8slt1o7V6pMnjf7LgwJ4NoQpC6ZGyVg6UknSAT9FcbPwfWBI3acoP0XDDYbK108cveCPoR4q/2SM7nFo6uk7pi5/RcZSNEIkihs9muUHfYW52XKvh5Lg0RuHKbkq9pthsC5Mwm0MNDNxnUmbkn0uuVmmlRgtpYA03NJ0LhPmq11CC4cyPsvQuk2BmlmAByw7wN57isri9ndYmnoesB3SRO/sXVSOE8Zncic2nNvBS61ODb9QjAtaw1+47V1TM7jRAZYwf2XXLv8f0XbE4eDxB0PL9gmmkQOWvb2Jk0ccQFGab2UqOaikQe9NCaNRsqt8SGyA7S5jzXSnWa4kAgxYwqro0A6tldoQfRdcA3J8Qw4jMQIaTMEjUBFdCvsswAllVcx9XI94YRklxkHqg8QdxUyhUJY0nUgHyQ1QJ2dSntpmFzCscMzqhIZoOiR/+W8cneoWrqj5eTx9Qs90dw7RWa8TLpm/G/wBFo6+mmj2+q9Dzfu/weV9PkpY+vcpek2JLKbXs1Y8SOI3jtssr0h24ytRc0SQ69rObxa9vvXvWq6TUHZS5oLgD1mxIINjIAJ0PBed7WNBzj8MPY+etTdeCdS2bxJNp8Fgns9X1M1WqE2JJA0JTvgWB3TE+ql1aTQZg++5KmQdB3NFu89iRVHOjh5iJnhCm1MCM2mn33eadhXhpAsNJJ3HcLbh7hT8FVa4kauIIB0AgQ0AeChlxOT2vc0gA5ZAB4xb9FptiUntpAPaBFgBbf6ldNnYMU6YaYMcucqSat5NgNPe8ri22aoxUSTRYdTvG7cleO7T1upOFbbtVhTw0/uhRL5JFM15ILXtlptxhZ9+EDS6nqAZYeXAz5raYnBKvxOEnjae7nKTQ+noxNbBDe21+0Eaj096wP5ZpMA6iCNCDr3xC0tfB1GvGbsJvDhx98VX9IdimPiMFxfn3K4yOU8bqzPT1ch1aZG/hPddE4gAButyCCdDcKM2s7MLnhw97vAKPiKkuJFrk+a7IyM7VKShYjWe7wUkVfl970yvT87jv/UEdyZI7Y2J+HWa7tHK45L1PokR8CkTeTUtEtJLzqV4/oV6h/DvaQfRZTvmp5gY0hxm43rrj2ccmiN0ugOxQNgaTNLXvA5rt0V2ZSq4Zr3i9xqRoYXTpA0GpimmL06bRabkGF26NYUtwzGnKSC6deO5TldFY1Y3H7HpNbLQdY1UVlBoEAkd6tMe3qHQS7h6quFI8vBZJTdmuEFRoNg/NT/2I8itFXHVd2g/9gs9sjVvJ8eZC0+KZ1He969nzvufwfO/S/tP5/wCI54iA10xqD5hY3+ImKpZWtLGufEtOjhO+QJH7rp09xhYxzTmDXAXaYc1w0Mb2my80qbUe8/1CXczcm0XO9YJs9lK2ItP9oEd48bwmO+IT8p7OX2UltZuoEczfwCYytc7p14xw7T9VBZGdTcNQRwWk6PYG+Y7vXl2fVRK2FL3CbRE7/wBzAWnwVKGLnP2NGFeoNoVnmG04neToO1dMN0eqVILqpDrxaRfsuPNWNDDCmJOupNzzUaptSqDlpUzH5zoOcC8WSTo6SjfYH9G6zB/54kxabDtkfVNw2z69N2ZtTMBukmPE6Kix2NxpqQalQjMLgAU8o+YRlnhBlaDBYjKCDUz9WdDrGnK57Lbk52hYqlao1ODxOZoDtfNOfUa111nfxYiNxi6hYraxc6J7O8gfVRyZfCiftrbAY6zJjwVO3bbXiHsyjSxnxV0x1OnqyTvzQB5p4xuFqjL/AEiTfKC0x3j1VIl2jz/auFa45mwN2ms6H3wVLjcNlMem/wBytlt7ZDGBxZMG8Tv7vsspWJcBMzpzVo4TXuV2XS/byj35Jz35gBvE+Zn1J8V2xWGLWh3FQwVZxOdUXWh6CYs08XTg2ecp7Cs/X17la9EmziqI/wAx3QZVx2iJeputv0ya1a+ho7h/dbgrHZAimR/k71ULbbSa9bSM1DffUaKdskdQ/wCzvUqPI2PDo57S+Udv3UGVN2loO37qGFjkbIEnAVnDEMBcYLhbvW5qVCS9u4NWGxNH4eKY3eHgHtst08DMdZLe5e/53cov9j5z6eqg1+5U9Kdj08TRc2oXNytzgtiZA5g8PJeFYhmV7g0lwBgHjG9fRNfDB7TOhZHkvCukOzDRxVWmbGcwtqHdYeS8+R66IuELnWJt5d6UHPb9oVjsYUxSdmaS/NltcxAI9CuGNADiGyLG5sbboOm5cr7O/D8tlrs4jqtiS43PK/0C1eEbpKyuyaUPBPAR2R63HmtJQqS6Fzls74tFtAd2J1J7RuKivqn5WrpTw5OskqTTGFo7Yh7HWDL9nFQ8RhSB1iAOA07yrKlgeUKs2pWAOUXjwQ7BJLRCw1HMT4Kt2jSyPbuv+yucCy6idIKUjNBsktjl/iWGy6rvma5pJs4OAztndNj5rO4vo89tUvNxugAEcTIvr3gHerXBHM0O0cBE8e3kpf8AOkiDcaaK1NpUcZYlL8zKfDNe5mWobglvaNxWXxNKHHtPkVuKpAuN/rxWR2kWtLid2naffmqiZ8pVYyvq3hbz/VV0Jzzr2pBq6Gc5VRdX3QWmTjKUCYMnkFT/AMsVrf4dVGU8ScxA6ojxurhtET0zS7UE4itp81GZ5DQc1L2Z8ve71KqdobRa7FVWgy0vpEERAMCVbbM+U9p9SufkbKwaOW0tB2/RQ2hTNo7u36LgwWWR7NkdD9t1T/OlxNi/MOyYW+ay8/4wvP8ApGyMSADbNY9631OrYDkPNfQebqHwfOeD+r5/sew9Xu+iynT/AKMfzVJtWmP61Np5FzdY5xfxK1VOnvXSjSmD2Lz2eozwHB13UahBGUyJBtBb6fqu+0WfEqZg0wTmOpgm5BK1f8TNhdU4ymINOqKdSJuHk5HHsIj/AJBcNkV2VqHUF4u23zb+wewuUlXZpxPmuJDoU98mTM7tNPVWGD1JTMfhwwtGYEkZuYv78FJwbbrlNnfHFrossOyyuMKA0Zjqq7Ci8Lq/EGSBfdZQmaW+qJWIxUAkmTw3BVdMNc46S64J7NPJKu6bJrKe/gqoaao6bLxIY8iowAiwBuD4Jm26gqD4bBLjcgRYcSnVGzYiSN+8KBi6OUGLCZPPtTol7O/R3DWc0wesR5D6+i6Y/CZTCgbLrlhJns/RaCtU+I0GBwPJSXF18GTxNUtMLG7VqF1Q8Lx9fqtht8w4LIFwguOsn6n7rpAw+RSdFY03Km4dwG88iL+IUUjeuwIhdDMh+IrEnWeeihiS61uxSKbC6Q0ZjBPhdT9gbCq4h7AxhJcbQNePoU4oUmdOjmFzVQS64c2OZK9E2aOp3n1KxeAomhiDScOtnbHAQAT4grbbP+XvPqVGZUViZG2hu71yZou20P7e/wCiaxtllZqiHbOzqkfEOWBBs65DoiFutn3pMP8AiPReQYva4e7NlLRYZZzCwWjwPT/4dNjPgk5Whs5huGq9vys8ciSTur9KPC8Xxp4221WvWz0KkLLphxYLDUP4hNi9F88iIXah/EKmB/4ak/8AGPVY2ze0XW2sKKuB2lTP5Wu0n5XEjsgheI4TD1KbiQ51MgTOmnHjZek4jp4z4OJaKL/6zS3d1e2/avPsdjGVQ0MBaQ2HTEOI33Np1uk+0ELQ/ZrqnxnGo4uJAMkzIm0HhcLY4BY3o9Q/qubNyy3DUFazZtbdv071wybN2DXZf4FvWKFWmRPuVzwz7yu73yZXM0WVGKxFRrrtHaL+q7UNo8YG7QhS3sm2oRGDpxMHjAMK4tM6Jx9RhxzeF+WiiY3EtOojdaF1fgWE2zDfcAqDjdmcTz4eiropqFDMGA5wDbq1wxILhuifOPqqrZOGazcCSdYurisIbO+FzkckZvpHE9g+ixFVu8kRmLQN9v3Wt2zWkEnefILDurE+ZHeZXXGujDnl2dYi2qa4EmBJ3RCu+i3R6piXAlrvh3lwjUcBPIrc7E6Msw7szqZNzcjNY/KbTuKuVpdI541GTpujP/w56NPrYkAt6oZUe4m2jTA8YW7/AIaBrKdBxYCcrjlIk/3bjGimdFdotwxrE03wadRvywSSZYB23ULo7WptpM+MSwta43Bde8DqjfxXXFfHs4ZkuTooNr02/wA5UJp3NVnXiQ2abdDKk0MQGCNbngNCqvateq7EEsBNIvzExfTneLBdsNiGhsOtrrzKz5FNyd/69jtj4pdHfE1w6D2/RMZiLbvEKPWxDARePS/7JDE0+IXFwfsd1JUUH8vZKnh+fkpEgiyNMrVRmsYzDxw8EmtM7vBdbpriig5Mj41hyOEwCOAWbo2cJ+61b2ZhBvO5VNfZrWXkxOh+6AuyZ0aA+OTvgzyuLLR43DFrs7RP5hx5hUPRtg+K4gyYAiIAG70W3YyWrPkdSNuGNwIOGxQcAVPpVJ97vYVDXw5Y85bA3UrBYozBFxu+3JI6X6MvqScaYK4McfqFKp0zHvcqiirONShFz70+6rcTTLjdW1cEA3t91AqVdx3IY0+iIWZTfs8Fx2jjJAaCmY7Ehovqsvtfa+UQ27zoNwB3lKMTjPJSIvSXHj5G9nYN/is6XLtWYdTcnUrgRdaEqMMnbs9H6EdMadCiKYw1QvmC4OGSL3uZm60eJ6XSTlovvzb+q876OurNAy0C8TrBV4ce7+7D1B3FXyZHFF5X6SzP9F+nEDvsoL9sSINJ0brhV7sc0/21B2tKZ/NN4x2ghHNhxRMqbVm3wyO8KLUxJJ+TzCa2o07x4oucOXilyY6Q3EVM2jO24UcB3D0UwAeylLfzDxCLYFFnO4lOFV3EqUzZWIOlJ3go+NpupGKgDTwJv4BdOBHIQrvG9NfjnDUqBWxpOlue9RgSTJup4lWWn4m4mGiSp79nVXgZ3NjWGtOvCTqo/RLDh+IAI0a4+ED6rbYnDZRO5cc2Ti6Rpw4lJWyi2Thsj+ZHfAWqwx0WboH+oCd/p7C0eHWaXZsx6oj7QoTdRxTDreHEHkrbECyryOtbWQkNo4s2jkOWpII0I0Kl/jTI+YdyfUwIqbuXqodbYQ3LomiHyJh2q0iJn3CqdpbXYwG8ngLnwG7mm4vYwESSZ5qrxFEFzWgWkWG9O0Tykug08FUrdaqS0G4a3WOZ3d3iqutRYK9MFhcwB5cGnK46Cc0G8kG/BayvYe9FR4anmrPPKB3kk+gSjJ3YTxqq9zMY/DBjy0EuG4kQSCJuATB3WO5RA2DI3XVxt9kVY4NH1KqnLWu4pmCSqTRq9jdN3U4bVpgt4iy2mzukNGuOoRPAmCvH0m2MiQeIMIcWI9vBBBMKJULeAPcF5ngeklemIzZhzV3g+mDDHxGOHEi45wp7QGufhB1cwb1riw4wuFTZrS7LkZrlmLTpqoOE6SUXtAz3D8w7DqPIKZS2kPi5pOTPm850U2M41NjsOtNm+8CDl1hcjsqmLGmwHsCm/iALXg23s77EeF09+0Wk9ZlNx3ukieZCVh2YLafTDFVrZ/ht4M6vi7VUJMmSZPE3PihCK0bIqgtTmhMC6AJoZa9F8WKWKpOOhdkPY/qjzI8F6VtalAheQ++C9N2HtX+aoNJPXaMr+ZA+bsIv4rN5ENSNPjS/SV9WnDmnn6q5wr1Ex9DqyNy6YJ9h771m9Datk+sbbyPMKupu63erJoVa9kOPvvCRRc4NwiDr7K7vF9FAoki+oU3E1YZPKVVE12VO1HRyWewozVZ3DTvUzaWJmSeNkNnYaBmOpunpCq2PxrrepVfsho6zzYEuMncGiPoT3rrtavAPvwVXtjFinQbRHzvHW5N3+Jt2ApwjfRGWaj37FHtHE/EqPf8AmMjkBYeQCikJxTVvqujzbvsahCcAiUgGQgnFCEANKk4XaVWn8riRwKjlCFDVjs0uz+kvxDlNNjTBMl+UHlpqrWltLMARRsf/ANW/ZYQhIFw0JjtU8EPkztqgAiAkRddiROCTSnwmFqbEOVjsParsPUDxcGz2/mH3G5VgTgk0mqY02naPWm1GVaedhzNcDBHoRuO5QMC0x5LE7D20/Dutdh+Zh9Rwd6radH8dTrBwab6xo4dyx5MTj8G/HmUvktqJXDEMvK7tEJ1Vk3C4HdM5B0N0UQ0nO1Jy8N6lCrGuibUxINmqkMpa1CajW857lPriBZLC0esXEfoqrbm2adOQDmd+Ubu07vVNJydIhyUFbK7auLDTJvFwOJ4fcrNV6pe4udckz+3knYnEOe7M4/Ydi4rbjhxR5+TJzYimolFoVnMQShEhFMQwppT0CEhjEE+ECEgGFBPITSlQHcJEJNRViA0pyYNV0CEBzLUgnlCEUAAn03kEFpII0IJBHMEaIIEJgXFDpLiW/wD2Zo/MAfE6nxU6n00rjVtI9zh/7LMIgqHji/QtZJLTNG/pdVP9lP8A7fdcndKq24U2/wDEn1KoZQS/Ch7D/Fn7k/GbZrVLOqGOAho/6696gJQjCpKtENt7AShCISKYgAJyCKAEgUUEAEpqcmlDAAQRhIJDAQm5U5ycClQDnDekCgDISYqEBycEnBAFMByRCSQQAkkkkAFJBJABSlBBABQKRKICAEmouSakAkUEEwEiECkkAkCiUHIABRIRhIoAYiSg1MKkZ2GqDdU4prtVQh6a1FN3oAekkkEwEUgihCACmp0IFqAAkSkQlCAE0IooFAASSASSAQShJFMAEJJBFADUt6IQ4pAFqRSTSUAMTg1Bg3pyQxSk5FJMQEnlJJAD0AkkmAQgikgApFJJAChJJJAACRSSQAiUAkkgAoJJIARRSSQAAmF1j2pJJMBxKYf3SSSGPCaSkkgR/9k="/>
          <p:cNvSpPr>
            <a:spLocks noChangeAspect="1" noChangeArrowheads="1"/>
          </p:cNvSpPr>
          <p:nvPr/>
        </p:nvSpPr>
        <p:spPr bwMode="auto">
          <a:xfrm>
            <a:off x="12733338" y="617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7" name="AutoShape 18" descr="data:image/jpeg;base64,/9j/4AAQSkZJRgABAQAAAQABAAD/2wCEAAkGBxQTEhUUExQUFRUXFxgUFxgYFxcUFRUXFBUXFxcXFBcYHCggHBolHBUVITEhJSkrLi4uFx8zODMsNygtLisBCgoKDg0OGhAQGywkICQsLCwsLCwsLCwsLCwsLCwsLCwsLCwsLCwsLCwsLCwsLCwsLCwsLCwsLCwsLCwsLCwsLP/AABEIAPgAywMBIgACEQEDEQH/xAAcAAABBQEBAQAAAAAAAAAAAAABAAIEBQYDBwj/xAA9EAABAwIDBAgEBAYCAgMAAAABAAIRAyEEEjEFQVFhBiJxgZGhsfATMsHRFVLh8QcUI0JicoKiM8IkQ2P/xAAaAQADAQEBAQAAAAAAAAAAAAAAAQIEAwUG/8QAKhEAAgICAgEDAgYDAAAAAAAAAAECEQMxEiEEQVFxBTMTIkJhgdEyocH/2gAMAwEAAhEDEQA/APGIShWDtmn8w8Ehsw/mCVjor4ShWX4UfzBH8JdxCYUVkIwrI7JdxHmh+FO4t80AVwSVl+Eu4t80vwp/+PigCshD4asjhYtLT5qJVieKVhRwLBx9UixOKbmQAMqaQnArowTY6oA4EILsW7kHU0WFHJFO+GV3pYJztI8UxEcJ4Cmt2Y/8vmE78Of+XzCBkMBGFNGzqn5R4hI7OqflHiEAQoSUv8PfwHiEfw+pwHigCEipf4c/gPFL8PfwHigC1zISrXYGwnYrNkc1uWJmd/Z2Kzf0KqBzW/EZLpvBgZbpBaMw0roHLUHoPVBA+Iy5jQ2tKWM6FVKdNz/iMOUTEEeaAM01/NOlOxuHNNzGm5fpZQ62JyktgyLH9EuSLcJLaOmIrR7soD635nGOA+vuU3EV7AaE68uHvmq57tyViqjrXrzpYeq4wkB9h796rsKcHigdWR3NXMhXv8pLNP0UWjs0vJjQee6AjkhvGyri6e0rrWowY7lxIVXZFUSPhl2nr74oVqLmGHCCNRwXFpXV1YkAOMgWHLsQAWFH4pZBC5kaLo2O42/VIKLPB7U0zacVaCoDosk4EEhWWysZ/ae5MRfNqCIhA1BwXNvaiiwHQOCLgOC5lyWZKwoLW3ToCGdJOwo2PQKi1hqAEklrc0gAAgu042WnxI/qUjzcPFv6LL9CzFeoP8fQrU4gy6mf8/VpWvyccYZHGOjF4uSU4KUtnauLs/2+hXPbDf6FT/UoYisOrycPquG2scxlGrmMQ0+/fFZpbNb2eYdLcWG1KZvIE9sxoVQ4jHh1QvG8zdTOke0WVS2GubEgh2oVEYXNR6O8slt1o7V6pMnjf7LgwJ4NoQpC6ZGyVg6UknSAT9FcbPwfWBI3acoP0XDDYbK108cveCPoR4q/2SM7nFo6uk7pi5/RcZSNEIkihs9muUHfYW52XKvh5Lg0RuHKbkq9pthsC5Mwm0MNDNxnUmbkn0uuVmmlRgtpYA03NJ0LhPmq11CC4cyPsvQuk2BmlmAByw7wN57isri9ndYmnoesB3SRO/sXVSOE8Zncic2nNvBS61ODb9QjAtaw1+47V1TM7jRAZYwf2XXLv8f0XbE4eDxB0PL9gmmkQOWvb2Jk0ccQFGab2UqOaikQe9NCaNRsqt8SGyA7S5jzXSnWa4kAgxYwqro0A6tldoQfRdcA3J8Qw4jMQIaTMEjUBFdCvsswAllVcx9XI94YRklxkHqg8QdxUyhUJY0nUgHyQ1QJ2dSntpmFzCscMzqhIZoOiR/+W8cneoWrqj5eTx9Qs90dw7RWa8TLpm/G/wBFo6+mmj2+q9Dzfu/weV9PkpY+vcpek2JLKbXs1Y8SOI3jtssr0h24ytRc0SQ69rObxa9vvXvWq6TUHZS5oLgD1mxIINjIAJ0PBed7WNBzj8MPY+etTdeCdS2bxJNp8Fgns9X1M1WqE2JJA0JTvgWB3TE+ql1aTQZg++5KmQdB3NFu89iRVHOjh5iJnhCm1MCM2mn33eadhXhpAsNJJ3HcLbh7hT8FVa4kauIIB0AgQ0AeChlxOT2vc0gA5ZAB4xb9FptiUntpAPaBFgBbf6ldNnYMU6YaYMcucqSat5NgNPe8ri22aoxUSTRYdTvG7cleO7T1upOFbbtVhTw0/uhRL5JFM15ILXtlptxhZ9+EDS6nqAZYeXAz5raYnBKvxOEnjae7nKTQ+noxNbBDe21+0Eaj096wP5ZpMA6iCNCDr3xC0tfB1GvGbsJvDhx98VX9IdimPiMFxfn3K4yOU8bqzPT1ch1aZG/hPddE4gAButyCCdDcKM2s7MLnhw97vAKPiKkuJFrk+a7IyM7VKShYjWe7wUkVfl970yvT87jv/UEdyZI7Y2J+HWa7tHK45L1PokR8CkTeTUtEtJLzqV4/oV6h/DvaQfRZTvmp5gY0hxm43rrj2ccmiN0ugOxQNgaTNLXvA5rt0V2ZSq4Zr3i9xqRoYXTpA0GpimmL06bRabkGF26NYUtwzGnKSC6deO5TldFY1Y3H7HpNbLQdY1UVlBoEAkd6tMe3qHQS7h6quFI8vBZJTdmuEFRoNg/NT/2I8itFXHVd2g/9gs9sjVvJ8eZC0+KZ1He969nzvufwfO/S/tP5/wCI54iA10xqD5hY3+ImKpZWtLGufEtOjhO+QJH7rp09xhYxzTmDXAXaYc1w0Mb2my80qbUe8/1CXczcm0XO9YJs9lK2ItP9oEd48bwmO+IT8p7OX2UltZuoEczfwCYytc7p14xw7T9VBZGdTcNQRwWk6PYG+Y7vXl2fVRK2FL3CbRE7/wBzAWnwVKGLnP2NGFeoNoVnmG04neToO1dMN0eqVILqpDrxaRfsuPNWNDDCmJOupNzzUaptSqDlpUzH5zoOcC8WSTo6SjfYH9G6zB/54kxabDtkfVNw2z69N2ZtTMBukmPE6Kix2NxpqQalQjMLgAU8o+YRlnhBlaDBYjKCDUz9WdDrGnK57Lbk52hYqlao1ODxOZoDtfNOfUa111nfxYiNxi6hYraxc6J7O8gfVRyZfCiftrbAY6zJjwVO3bbXiHsyjSxnxV0x1OnqyTvzQB5p4xuFqjL/AEiTfKC0x3j1VIl2jz/auFa45mwN2ms6H3wVLjcNlMem/wBytlt7ZDGBxZMG8Tv7vsspWJcBMzpzVo4TXuV2XS/byj35Jz35gBvE+Zn1J8V2xWGLWh3FQwVZxOdUXWh6CYs08XTg2ecp7Cs/X17la9EmziqI/wAx3QZVx2iJeputv0ya1a+ho7h/dbgrHZAimR/k71ULbbSa9bSM1DffUaKdskdQ/wCzvUqPI2PDo57S+Udv3UGVN2loO37qGFjkbIEnAVnDEMBcYLhbvW5qVCS9u4NWGxNH4eKY3eHgHtst08DMdZLe5e/53cov9j5z6eqg1+5U9Kdj08TRc2oXNytzgtiZA5g8PJeFYhmV7g0lwBgHjG9fRNfDB7TOhZHkvCukOzDRxVWmbGcwtqHdYeS8+R66IuELnWJt5d6UHPb9oVjsYUxSdmaS/NltcxAI9CuGNADiGyLG5sbboOm5cr7O/D8tlrs4jqtiS43PK/0C1eEbpKyuyaUPBPAR2R63HmtJQqS6Fzls74tFtAd2J1J7RuKivqn5WrpTw5OskqTTGFo7Yh7HWDL9nFQ8RhSB1iAOA07yrKlgeUKs2pWAOUXjwQ7BJLRCw1HMT4Kt2jSyPbuv+yucCy6idIKUjNBsktjl/iWGy6rvma5pJs4OAztndNj5rO4vo89tUvNxugAEcTIvr3gHerXBHM0O0cBE8e3kpf8AOkiDcaaK1NpUcZYlL8zKfDNe5mWobglvaNxWXxNKHHtPkVuKpAuN/rxWR2kWtLid2naffmqiZ8pVYyvq3hbz/VV0Jzzr2pBq6Gc5VRdX3QWmTjKUCYMnkFT/AMsVrf4dVGU8ScxA6ojxurhtET0zS7UE4itp81GZ5DQc1L2Z8ve71KqdobRa7FVWgy0vpEERAMCVbbM+U9p9SufkbKwaOW0tB2/RQ2hTNo7u36LgwWWR7NkdD9t1T/OlxNi/MOyYW+ay8/4wvP8ApGyMSADbNY9631OrYDkPNfQebqHwfOeD+r5/sew9Xu+iynT/AKMfzVJtWmP61Np5FzdY5xfxK1VOnvXSjSmD2Lz2eozwHB13UahBGUyJBtBb6fqu+0WfEqZg0wTmOpgm5BK1f8TNhdU4ymINOqKdSJuHk5HHsIj/AJBcNkV2VqHUF4u23zb+wewuUlXZpxPmuJDoU98mTM7tNPVWGD1JTMfhwwtGYEkZuYv78FJwbbrlNnfHFrossOyyuMKA0Zjqq7Ci8Lq/EGSBfdZQmaW+qJWIxUAkmTw3BVdMNc46S64J7NPJKu6bJrKe/gqoaao6bLxIY8iowAiwBuD4Jm26gqD4bBLjcgRYcSnVGzYiSN+8KBi6OUGLCZPPtTol7O/R3DWc0wesR5D6+i6Y/CZTCgbLrlhJns/RaCtU+I0GBwPJSXF18GTxNUtMLG7VqF1Q8Lx9fqtht8w4LIFwguOsn6n7rpAw+RSdFY03Km4dwG88iL+IUUjeuwIhdDMh+IrEnWeeihiS61uxSKbC6Q0ZjBPhdT9gbCq4h7AxhJcbQNePoU4oUmdOjmFzVQS64c2OZK9E2aOp3n1KxeAomhiDScOtnbHAQAT4grbbP+XvPqVGZUViZG2hu71yZou20P7e/wCiaxtllZqiHbOzqkfEOWBBs65DoiFutn3pMP8AiPReQYva4e7NlLRYZZzCwWjwPT/4dNjPgk5Whs5huGq9vys8ciSTur9KPC8Xxp4221WvWz0KkLLphxYLDUP4hNi9F88iIXah/EKmB/4ak/8AGPVY2ze0XW2sKKuB2lTP5Wu0n5XEjsgheI4TD1KbiQ51MgTOmnHjZek4jp4z4OJaKL/6zS3d1e2/avPsdjGVQ0MBaQ2HTEOI33Np1uk+0ELQ/ZrqnxnGo4uJAMkzIm0HhcLY4BY3o9Q/qubNyy3DUFazZtbdv071wybN2DXZf4FvWKFWmRPuVzwz7yu73yZXM0WVGKxFRrrtHaL+q7UNo8YG7QhS3sm2oRGDpxMHjAMK4tM6Jx9RhxzeF+WiiY3EtOojdaF1fgWE2zDfcAqDjdmcTz4eiropqFDMGA5wDbq1wxILhuifOPqqrZOGazcCSdYurisIbO+FzkckZvpHE9g+ixFVu8kRmLQN9v3Wt2zWkEnefILDurE+ZHeZXXGujDnl2dYi2qa4EmBJ3RCu+i3R6piXAlrvh3lwjUcBPIrc7E6Msw7szqZNzcjNY/KbTuKuVpdI541GTpujP/w56NPrYkAt6oZUe4m2jTA8YW7/AIaBrKdBxYCcrjlIk/3bjGimdFdotwxrE03wadRvywSSZYB23ULo7WptpM+MSwta43Bde8DqjfxXXFfHs4ZkuTooNr02/wA5UJp3NVnXiQ2abdDKk0MQGCNbngNCqvateq7EEsBNIvzExfTneLBdsNiGhsOtrrzKz5FNyd/69jtj4pdHfE1w6D2/RMZiLbvEKPWxDARePS/7JDE0+IXFwfsd1JUUH8vZKnh+fkpEgiyNMrVRmsYzDxw8EmtM7vBdbpriig5Mj41hyOEwCOAWbo2cJ+61b2ZhBvO5VNfZrWXkxOh+6AuyZ0aA+OTvgzyuLLR43DFrs7RP5hx5hUPRtg+K4gyYAiIAG70W3YyWrPkdSNuGNwIOGxQcAVPpVJ97vYVDXw5Y85bA3UrBYozBFxu+3JI6X6MvqScaYK4McfqFKp0zHvcqiirONShFz70+6rcTTLjdW1cEA3t91AqVdx3IY0+iIWZTfs8Fx2jjJAaCmY7Ehovqsvtfa+UQ27zoNwB3lKMTjPJSIvSXHj5G9nYN/is6XLtWYdTcnUrgRdaEqMMnbs9H6EdMadCiKYw1QvmC4OGSL3uZm60eJ6XSTlovvzb+q876OurNAy0C8TrBV4ce7+7D1B3FXyZHFF5X6SzP9F+nEDvsoL9sSINJ0brhV7sc0/21B2tKZ/NN4x2ghHNhxRMqbVm3wyO8KLUxJJ+TzCa2o07x4oucOXilyY6Q3EVM2jO24UcB3D0UwAeylLfzDxCLYFFnO4lOFV3EqUzZWIOlJ3go+NpupGKgDTwJv4BdOBHIQrvG9NfjnDUqBWxpOlue9RgSTJup4lWWn4m4mGiSp79nVXgZ3NjWGtOvCTqo/RLDh+IAI0a4+ED6rbYnDZRO5cc2Ti6Rpw4lJWyi2Thsj+ZHfAWqwx0WboH+oCd/p7C0eHWaXZsx6oj7QoTdRxTDreHEHkrbECyryOtbWQkNo4s2jkOWpII0I0Kl/jTI+YdyfUwIqbuXqodbYQ3LomiHyJh2q0iJn3CqdpbXYwG8ngLnwG7mm4vYwESSZ5qrxFEFzWgWkWG9O0Tykug08FUrdaqS0G4a3WOZ3d3iqutRYK9MFhcwB5cGnK46Cc0G8kG/BayvYe9FR4anmrPPKB3kk+gSjJ3YTxqq9zMY/DBjy0EuG4kQSCJuATB3WO5RA2DI3XVxt9kVY4NH1KqnLWu4pmCSqTRq9jdN3U4bVpgt4iy2mzukNGuOoRPAmCvH0m2MiQeIMIcWI9vBBBMKJULeAPcF5ngeklemIzZhzV3g+mDDHxGOHEi45wp7QGufhB1cwb1riw4wuFTZrS7LkZrlmLTpqoOE6SUXtAz3D8w7DqPIKZS2kPi5pOTPm850U2M41NjsOtNm+8CDl1hcjsqmLGmwHsCm/iALXg23s77EeF09+0Wk9ZlNx3ukieZCVh2YLafTDFVrZ/ht4M6vi7VUJMmSZPE3PihCK0bIqgtTmhMC6AJoZa9F8WKWKpOOhdkPY/qjzI8F6VtalAheQ++C9N2HtX+aoNJPXaMr+ZA+bsIv4rN5ENSNPjS/SV9WnDmnn6q5wr1Ex9DqyNy6YJ9h771m9Datk+sbbyPMKupu63erJoVa9kOPvvCRRc4NwiDr7K7vF9FAoki+oU3E1YZPKVVE12VO1HRyWewozVZ3DTvUzaWJmSeNkNnYaBmOpunpCq2PxrrepVfsho6zzYEuMncGiPoT3rrtavAPvwVXtjFinQbRHzvHW5N3+Jt2ApwjfRGWaj37FHtHE/EqPf8AmMjkBYeQCikJxTVvqujzbvsahCcAiUgGQgnFCEANKk4XaVWn8riRwKjlCFDVjs0uz+kvxDlNNjTBMl+UHlpqrWltLMARRsf/ANW/ZYQhIFw0JjtU8EPkztqgAiAkRddiROCTSnwmFqbEOVjsParsPUDxcGz2/mH3G5VgTgk0mqY02naPWm1GVaedhzNcDBHoRuO5QMC0x5LE7D20/Dutdh+Zh9Rwd6radH8dTrBwab6xo4dyx5MTj8G/HmUvktqJXDEMvK7tEJ1Vk3C4HdM5B0N0UQ0nO1Jy8N6lCrGuibUxINmqkMpa1CajW857lPriBZLC0esXEfoqrbm2adOQDmd+Ubu07vVNJydIhyUFbK7auLDTJvFwOJ4fcrNV6pe4udckz+3knYnEOe7M4/Ydi4rbjhxR5+TJzYimolFoVnMQShEhFMQwppT0CEhjEE+ECEgGFBPITSlQHcJEJNRViA0pyYNV0CEBzLUgnlCEUAAn03kEFpII0IJBHMEaIIEJgXFDpLiW/wD2Zo/MAfE6nxU6n00rjVtI9zh/7LMIgqHji/QtZJLTNG/pdVP9lP8A7fdcndKq24U2/wDEn1KoZQS/Ch7D/Fn7k/GbZrVLOqGOAho/6696gJQjCpKtENt7AShCISKYgAJyCKAEgUUEAEpqcmlDAAQRhIJDAQm5U5ycClQDnDekCgDISYqEBycEnBAFMByRCSQQAkkkkAFJBJABSlBBABQKRKICAEmouSakAkUEEwEiECkkAkCiUHIABRIRhIoAYiSg1MKkZ2GqDdU4prtVQh6a1FN3oAekkkEwEUgihCACmp0IFqAAkSkQlCAE0IooFAASSASSAQShJFMAEJJBFADUt6IQ4pAFqRSTSUAMTg1Bg3pyQxSk5FJMQEnlJJAD0AkkmAQgikgApFJJAChJJJAACRSSQAiUAkkgAoJJIARRSSQAAmF1j2pJJMBxKYf3SSSGPCaSkkgR/9k="/>
          <p:cNvSpPr>
            <a:spLocks noChangeAspect="1" noChangeArrowheads="1"/>
          </p:cNvSpPr>
          <p:nvPr/>
        </p:nvSpPr>
        <p:spPr bwMode="auto">
          <a:xfrm>
            <a:off x="12885738" y="769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8" name="AutoShape 21" descr="Displaying Nir_cut.jpg"/>
          <p:cNvSpPr>
            <a:spLocks noChangeAspect="1" noChangeArrowheads="1"/>
          </p:cNvSpPr>
          <p:nvPr/>
        </p:nvSpPr>
        <p:spPr bwMode="auto">
          <a:xfrm>
            <a:off x="13038138" y="922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5" name="TextBox 14"/>
          <p:cNvSpPr txBox="1"/>
          <p:nvPr/>
        </p:nvSpPr>
        <p:spPr>
          <a:xfrm>
            <a:off x="2202634" y="4818493"/>
            <a:ext cx="2088232" cy="461665"/>
          </a:xfrm>
          <a:prstGeom prst="rect">
            <a:avLst/>
          </a:prstGeom>
          <a:noFill/>
        </p:spPr>
        <p:txBody>
          <a:bodyPr wrap="square" rtlCol="0">
            <a:spAutoFit/>
          </a:bodyPr>
          <a:lstStyle/>
          <a:p>
            <a:pPr algn="l" rtl="0"/>
            <a:r>
              <a:rPr lang="en-US" sz="2400" dirty="0"/>
              <a:t>Funding:</a:t>
            </a:r>
          </a:p>
        </p:txBody>
      </p:sp>
      <p:pic>
        <p:nvPicPr>
          <p:cNvPr id="34" name="Picture 33">
            <a:extLst>
              <a:ext uri="{FF2B5EF4-FFF2-40B4-BE49-F238E27FC236}">
                <a16:creationId xmlns:a16="http://schemas.microsoft.com/office/drawing/2014/main" id="{AC6093B5-6E85-254E-AE06-13E75B603FDC}"/>
              </a:ext>
            </a:extLst>
          </p:cNvPr>
          <p:cNvPicPr>
            <a:picLocks noChangeAspect="1"/>
          </p:cNvPicPr>
          <p:nvPr/>
        </p:nvPicPr>
        <p:blipFill>
          <a:blip r:embed="rId3"/>
          <a:stretch>
            <a:fillRect/>
          </a:stretch>
        </p:blipFill>
        <p:spPr>
          <a:xfrm>
            <a:off x="2869218" y="5336993"/>
            <a:ext cx="3251200" cy="622300"/>
          </a:xfrm>
          <a:prstGeom prst="rect">
            <a:avLst/>
          </a:prstGeom>
        </p:spPr>
      </p:pic>
      <p:grpSp>
        <p:nvGrpSpPr>
          <p:cNvPr id="24" name="Group 23"/>
          <p:cNvGrpSpPr/>
          <p:nvPr/>
        </p:nvGrpSpPr>
        <p:grpSpPr>
          <a:xfrm>
            <a:off x="8310817" y="1344039"/>
            <a:ext cx="3971498" cy="2425733"/>
            <a:chOff x="3413151" y="2420007"/>
            <a:chExt cx="3971498" cy="2425733"/>
          </a:xfrm>
        </p:grpSpPr>
        <p:grpSp>
          <p:nvGrpSpPr>
            <p:cNvPr id="28" name="Group 27"/>
            <p:cNvGrpSpPr/>
            <p:nvPr/>
          </p:nvGrpSpPr>
          <p:grpSpPr>
            <a:xfrm>
              <a:off x="4611642" y="2787851"/>
              <a:ext cx="1574961" cy="2057889"/>
              <a:chOff x="4749423" y="4374551"/>
              <a:chExt cx="1574961" cy="2057889"/>
            </a:xfrm>
          </p:grpSpPr>
          <p:sp>
            <p:nvSpPr>
              <p:cNvPr id="20" name="TextBox 19"/>
              <p:cNvSpPr txBox="1"/>
              <p:nvPr/>
            </p:nvSpPr>
            <p:spPr>
              <a:xfrm>
                <a:off x="4761911" y="6090521"/>
                <a:ext cx="1562473" cy="341919"/>
              </a:xfrm>
              <a:prstGeom prst="rect">
                <a:avLst/>
              </a:prstGeom>
              <a:noFill/>
            </p:spPr>
            <p:txBody>
              <a:bodyPr wrap="none" lIns="64291" tIns="32146" rIns="64291" bIns="32146" rtlCol="0">
                <a:spAutoFit/>
              </a:bodyPr>
              <a:lstStyle/>
              <a:p>
                <a:pPr algn="ctr" rtl="0"/>
                <a:r>
                  <a:rPr lang="en-US" dirty="0">
                    <a:solidFill>
                      <a:srgbClr val="FD55D9"/>
                    </a:solidFill>
                  </a:rPr>
                  <a:t>Rachel Kolodny</a:t>
                </a:r>
              </a:p>
            </p:txBody>
          </p:sp>
          <p:pic>
            <p:nvPicPr>
              <p:cNvPr id="21" name="Picture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49423" y="4374551"/>
                <a:ext cx="1528550" cy="1734914"/>
              </a:xfrm>
              <a:prstGeom prst="rect">
                <a:avLst/>
              </a:prstGeom>
            </p:spPr>
          </p:pic>
        </p:grpSp>
        <p:sp>
          <p:nvSpPr>
            <p:cNvPr id="37" name="TextBox 36"/>
            <p:cNvSpPr txBox="1"/>
            <p:nvPr/>
          </p:nvSpPr>
          <p:spPr>
            <a:xfrm>
              <a:off x="3413151" y="2420007"/>
              <a:ext cx="3971498" cy="461665"/>
            </a:xfrm>
            <a:prstGeom prst="rect">
              <a:avLst/>
            </a:prstGeom>
            <a:noFill/>
          </p:spPr>
          <p:txBody>
            <a:bodyPr wrap="square" rtlCol="0">
              <a:spAutoFit/>
            </a:bodyPr>
            <a:lstStyle/>
            <a:p>
              <a:pPr algn="ctr"/>
              <a:r>
                <a:rPr lang="en-US" sz="2400" dirty="0">
                  <a:solidFill>
                    <a:srgbClr val="FD55D9"/>
                  </a:solidFill>
                </a:rPr>
                <a:t>University of Haifa</a:t>
              </a:r>
            </a:p>
          </p:txBody>
        </p:sp>
      </p:grpSp>
      <p:pic>
        <p:nvPicPr>
          <p:cNvPr id="43" name="Picture 4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98349" y="5088794"/>
            <a:ext cx="978318" cy="983234"/>
          </a:xfrm>
          <a:prstGeom prst="rect">
            <a:avLst/>
          </a:prstGeom>
        </p:spPr>
      </p:pic>
      <p:pic>
        <p:nvPicPr>
          <p:cNvPr id="44" name="Picture 43">
            <a:extLst>
              <a:ext uri="{FF2B5EF4-FFF2-40B4-BE49-F238E27FC236}">
                <a16:creationId xmlns:a16="http://schemas.microsoft.com/office/drawing/2014/main" id="{994CAD9D-5339-CF41-AD15-898E3E760A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28971" y="5088794"/>
            <a:ext cx="1989550" cy="929100"/>
          </a:xfrm>
          <a:prstGeom prst="rect">
            <a:avLst/>
          </a:prstGeom>
        </p:spPr>
      </p:pic>
      <p:grpSp>
        <p:nvGrpSpPr>
          <p:cNvPr id="36" name="Group 35"/>
          <p:cNvGrpSpPr/>
          <p:nvPr/>
        </p:nvGrpSpPr>
        <p:grpSpPr>
          <a:xfrm>
            <a:off x="147843" y="1428255"/>
            <a:ext cx="6333953" cy="2825901"/>
            <a:chOff x="147843" y="50875"/>
            <a:chExt cx="6333953" cy="2825901"/>
          </a:xfrm>
        </p:grpSpPr>
        <p:grpSp>
          <p:nvGrpSpPr>
            <p:cNvPr id="7" name="Group 6"/>
            <p:cNvGrpSpPr/>
            <p:nvPr/>
          </p:nvGrpSpPr>
          <p:grpSpPr>
            <a:xfrm>
              <a:off x="4511643" y="698681"/>
              <a:ext cx="1336222" cy="2169532"/>
              <a:chOff x="395536" y="3717032"/>
              <a:chExt cx="1336222" cy="2169532"/>
            </a:xfrm>
          </p:grpSpPr>
          <p:pic>
            <p:nvPicPr>
              <p:cNvPr id="27" name="Picture 2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5536" y="3717032"/>
                <a:ext cx="1336222" cy="1715536"/>
              </a:xfrm>
              <a:prstGeom prst="rect">
                <a:avLst/>
              </a:prstGeom>
            </p:spPr>
          </p:pic>
          <p:sp>
            <p:nvSpPr>
              <p:cNvPr id="3" name="TextBox 2"/>
              <p:cNvSpPr txBox="1"/>
              <p:nvPr/>
            </p:nvSpPr>
            <p:spPr>
              <a:xfrm>
                <a:off x="395536" y="5517232"/>
                <a:ext cx="1223984" cy="369332"/>
              </a:xfrm>
              <a:prstGeom prst="rect">
                <a:avLst/>
              </a:prstGeom>
              <a:noFill/>
            </p:spPr>
            <p:txBody>
              <a:bodyPr wrap="square" rtlCol="0">
                <a:spAutoFit/>
              </a:bodyPr>
              <a:lstStyle/>
              <a:p>
                <a:pPr algn="ctr" rtl="0"/>
                <a:r>
                  <a:rPr lang="en-US" dirty="0"/>
                  <a:t>Ron Solan</a:t>
                </a:r>
              </a:p>
            </p:txBody>
          </p:sp>
        </p:grpSp>
        <p:sp>
          <p:nvSpPr>
            <p:cNvPr id="12" name="TextBox 11"/>
            <p:cNvSpPr txBox="1"/>
            <p:nvPr/>
          </p:nvSpPr>
          <p:spPr>
            <a:xfrm>
              <a:off x="662511" y="50875"/>
              <a:ext cx="5819285" cy="461665"/>
            </a:xfrm>
            <a:prstGeom prst="rect">
              <a:avLst/>
            </a:prstGeom>
            <a:noFill/>
          </p:spPr>
          <p:txBody>
            <a:bodyPr wrap="none" rtlCol="0">
              <a:spAutoFit/>
            </a:bodyPr>
            <a:lstStyle/>
            <a:p>
              <a:pPr algn="l" rtl="0"/>
              <a:r>
                <a:rPr lang="en-US" sz="2400" dirty="0"/>
                <a:t>The Ben-Tal lab: </a:t>
              </a:r>
              <a:r>
                <a:rPr lang="en-US" sz="2400" dirty="0">
                  <a:hlinkClick r:id="rId8"/>
                </a:rPr>
                <a:t>https://www.bentalab.com/</a:t>
              </a:r>
              <a:r>
                <a:rPr lang="en-US" sz="2400" dirty="0"/>
                <a:t> </a:t>
              </a:r>
              <a:endParaRPr lang="en-US" dirty="0"/>
            </a:p>
          </p:txBody>
        </p:sp>
        <p:grpSp>
          <p:nvGrpSpPr>
            <p:cNvPr id="23" name="Group 22"/>
            <p:cNvGrpSpPr/>
            <p:nvPr/>
          </p:nvGrpSpPr>
          <p:grpSpPr>
            <a:xfrm>
              <a:off x="2420071" y="915021"/>
              <a:ext cx="1745571" cy="1951317"/>
              <a:chOff x="2420071" y="915021"/>
              <a:chExt cx="1745571" cy="1951317"/>
            </a:xfrm>
          </p:grpSpPr>
          <p:sp>
            <p:nvSpPr>
              <p:cNvPr id="42" name="TextBox 41"/>
              <p:cNvSpPr txBox="1"/>
              <p:nvPr/>
            </p:nvSpPr>
            <p:spPr>
              <a:xfrm>
                <a:off x="2499706" y="2497006"/>
                <a:ext cx="1466068" cy="369332"/>
              </a:xfrm>
              <a:prstGeom prst="rect">
                <a:avLst/>
              </a:prstGeom>
              <a:noFill/>
            </p:spPr>
            <p:txBody>
              <a:bodyPr wrap="square" rtlCol="0">
                <a:spAutoFit/>
              </a:bodyPr>
              <a:lstStyle/>
              <a:p>
                <a:pPr algn="ctr" rtl="0"/>
                <a:r>
                  <a:rPr lang="en-US" dirty="0"/>
                  <a:t>Amit Kessel</a:t>
                </a:r>
              </a:p>
            </p:txBody>
          </p:sp>
          <p:pic>
            <p:nvPicPr>
              <p:cNvPr id="6" name="Picture 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420071" y="915021"/>
                <a:ext cx="1745571" cy="1164300"/>
              </a:xfrm>
              <a:prstGeom prst="rect">
                <a:avLst/>
              </a:prstGeom>
            </p:spPr>
          </p:pic>
        </p:grpSp>
        <p:grpSp>
          <p:nvGrpSpPr>
            <p:cNvPr id="41" name="Group 40"/>
            <p:cNvGrpSpPr/>
            <p:nvPr/>
          </p:nvGrpSpPr>
          <p:grpSpPr>
            <a:xfrm>
              <a:off x="147843" y="744978"/>
              <a:ext cx="2254091" cy="2131798"/>
              <a:chOff x="2467948" y="744978"/>
              <a:chExt cx="2254091" cy="2131798"/>
            </a:xfrm>
          </p:grpSpPr>
          <p:sp>
            <p:nvSpPr>
              <p:cNvPr id="39" name="TextBox 38"/>
              <p:cNvSpPr txBox="1"/>
              <p:nvPr/>
            </p:nvSpPr>
            <p:spPr>
              <a:xfrm>
                <a:off x="2467948" y="2507444"/>
                <a:ext cx="2254091" cy="369332"/>
              </a:xfrm>
              <a:prstGeom prst="rect">
                <a:avLst/>
              </a:prstGeom>
              <a:noFill/>
            </p:spPr>
            <p:txBody>
              <a:bodyPr wrap="square" rtlCol="0">
                <a:spAutoFit/>
              </a:bodyPr>
              <a:lstStyle/>
              <a:p>
                <a:pPr algn="ctr"/>
                <a:r>
                  <a:rPr lang="en-US" dirty="0"/>
                  <a:t>Kilicali Isildayancan</a:t>
                </a:r>
              </a:p>
            </p:txBody>
          </p:sp>
          <p:pic>
            <p:nvPicPr>
              <p:cNvPr id="40" name="Picture 39"/>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789406" y="744978"/>
                <a:ext cx="1637686" cy="1637686"/>
              </a:xfrm>
              <a:prstGeom prst="rect">
                <a:avLst/>
              </a:prstGeom>
            </p:spPr>
          </p:pic>
        </p:grpSp>
      </p:grpSp>
      <p:sp>
        <p:nvSpPr>
          <p:cNvPr id="45" name="Text Box 7"/>
          <p:cNvSpPr txBox="1">
            <a:spLocks noChangeArrowheads="1"/>
          </p:cNvSpPr>
          <p:nvPr/>
        </p:nvSpPr>
        <p:spPr bwMode="auto">
          <a:xfrm>
            <a:off x="187892" y="150289"/>
            <a:ext cx="120041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a:spcBef>
                <a:spcPct val="50000"/>
              </a:spcBef>
              <a:buNone/>
            </a:pPr>
            <a:r>
              <a:rPr lang="en-US" altLang="en-US" sz="4000" dirty="0">
                <a:solidFill>
                  <a:srgbClr val="3333CC"/>
                </a:solidFill>
                <a:latin typeface="+mn-lt"/>
                <a:cs typeface="Times New Roman (Hebrew)" panose="02020603050405020304" pitchFamily="18" charset="0"/>
              </a:rPr>
              <a:t>Acknowledgments</a:t>
            </a:r>
          </a:p>
        </p:txBody>
      </p:sp>
    </p:spTree>
    <p:extLst>
      <p:ext uri="{BB962C8B-B14F-4D97-AF65-F5344CB8AC3E}">
        <p14:creationId xmlns:p14="http://schemas.microsoft.com/office/powerpoint/2010/main" val="1483302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6032279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14837" t="6274" r="13791" b="4902"/>
          <a:stretch/>
        </p:blipFill>
        <p:spPr>
          <a:xfrm>
            <a:off x="3550022" y="707886"/>
            <a:ext cx="4894730" cy="6091518"/>
          </a:xfrm>
          <a:prstGeom prst="rect">
            <a:avLst/>
          </a:prstGeom>
        </p:spPr>
      </p:pic>
      <p:cxnSp>
        <p:nvCxnSpPr>
          <p:cNvPr id="8" name="Straight Arrow Connector 7"/>
          <p:cNvCxnSpPr/>
          <p:nvPr/>
        </p:nvCxnSpPr>
        <p:spPr>
          <a:xfrm flipH="1" flipV="1">
            <a:off x="7799295" y="4504765"/>
            <a:ext cx="2003611" cy="26894"/>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2780217" y="4494533"/>
            <a:ext cx="2745550" cy="18835"/>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081424" y="4206499"/>
            <a:ext cx="1680268" cy="504305"/>
          </a:xfrm>
          <a:prstGeom prst="rect">
            <a:avLst/>
          </a:prstGeom>
        </p:spPr>
        <p:txBody>
          <a:bodyPr wrap="none">
            <a:spAutoFit/>
          </a:bodyPr>
          <a:lstStyle/>
          <a:p>
            <a:pPr>
              <a:lnSpc>
                <a:spcPct val="150000"/>
              </a:lnSpc>
            </a:pPr>
            <a:r>
              <a:rPr lang="en-US" sz="2000" dirty="0">
                <a:solidFill>
                  <a:srgbClr val="0A0A0A"/>
                </a:solidFill>
                <a:latin typeface="Lato"/>
              </a:rPr>
              <a:t>TM domain 2</a:t>
            </a:r>
            <a:endParaRPr lang="en-US" sz="2000" dirty="0"/>
          </a:p>
        </p:txBody>
      </p:sp>
      <p:sp>
        <p:nvSpPr>
          <p:cNvPr id="13" name="Rectangle 12"/>
          <p:cNvSpPr/>
          <p:nvPr/>
        </p:nvSpPr>
        <p:spPr>
          <a:xfrm>
            <a:off x="9802906" y="4204069"/>
            <a:ext cx="1680268" cy="504305"/>
          </a:xfrm>
          <a:prstGeom prst="rect">
            <a:avLst/>
          </a:prstGeom>
        </p:spPr>
        <p:txBody>
          <a:bodyPr wrap="none">
            <a:spAutoFit/>
          </a:bodyPr>
          <a:lstStyle/>
          <a:p>
            <a:pPr>
              <a:lnSpc>
                <a:spcPct val="150000"/>
              </a:lnSpc>
            </a:pPr>
            <a:r>
              <a:rPr lang="en-US" sz="2000" dirty="0">
                <a:solidFill>
                  <a:srgbClr val="0A0A0A"/>
                </a:solidFill>
                <a:latin typeface="Lato"/>
              </a:rPr>
              <a:t>TM domain 1</a:t>
            </a:r>
            <a:endParaRPr lang="en-US" sz="2000" dirty="0"/>
          </a:p>
        </p:txBody>
      </p:sp>
      <p:cxnSp>
        <p:nvCxnSpPr>
          <p:cNvPr id="14" name="Straight Arrow Connector 13"/>
          <p:cNvCxnSpPr/>
          <p:nvPr/>
        </p:nvCxnSpPr>
        <p:spPr>
          <a:xfrm flipV="1">
            <a:off x="3201332" y="4911498"/>
            <a:ext cx="1366965" cy="751249"/>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2346009" y="5331596"/>
            <a:ext cx="883575" cy="504305"/>
          </a:xfrm>
          <a:prstGeom prst="rect">
            <a:avLst/>
          </a:prstGeom>
        </p:spPr>
        <p:txBody>
          <a:bodyPr wrap="none">
            <a:spAutoFit/>
          </a:bodyPr>
          <a:lstStyle/>
          <a:p>
            <a:pPr>
              <a:lnSpc>
                <a:spcPct val="150000"/>
              </a:lnSpc>
            </a:pPr>
            <a:r>
              <a:rPr lang="en-US" sz="2000" dirty="0">
                <a:solidFill>
                  <a:srgbClr val="0A0A0A"/>
                </a:solidFill>
                <a:latin typeface="Lato"/>
              </a:rPr>
              <a:t>Linker</a:t>
            </a:r>
            <a:endParaRPr lang="en-US" sz="2000" dirty="0"/>
          </a:p>
        </p:txBody>
      </p:sp>
      <p:cxnSp>
        <p:nvCxnSpPr>
          <p:cNvPr id="16" name="Straight Arrow Connector 15"/>
          <p:cNvCxnSpPr/>
          <p:nvPr/>
        </p:nvCxnSpPr>
        <p:spPr>
          <a:xfrm flipH="1" flipV="1">
            <a:off x="7789405" y="3259265"/>
            <a:ext cx="1052036" cy="315213"/>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4630051" y="1333786"/>
            <a:ext cx="1667444" cy="504305"/>
          </a:xfrm>
          <a:prstGeom prst="rect">
            <a:avLst/>
          </a:prstGeom>
        </p:spPr>
        <p:txBody>
          <a:bodyPr wrap="none">
            <a:spAutoFit/>
          </a:bodyPr>
          <a:lstStyle/>
          <a:p>
            <a:pPr>
              <a:lnSpc>
                <a:spcPct val="150000"/>
              </a:lnSpc>
            </a:pPr>
            <a:r>
              <a:rPr lang="en-US" sz="2000" dirty="0">
                <a:solidFill>
                  <a:srgbClr val="0A0A0A"/>
                </a:solidFill>
                <a:latin typeface="Lato"/>
              </a:rPr>
              <a:t>EC domain 2</a:t>
            </a:r>
            <a:endParaRPr lang="en-US" sz="2000" dirty="0"/>
          </a:p>
        </p:txBody>
      </p:sp>
      <p:sp>
        <p:nvSpPr>
          <p:cNvPr id="19" name="Rectangle 18"/>
          <p:cNvSpPr/>
          <p:nvPr/>
        </p:nvSpPr>
        <p:spPr>
          <a:xfrm>
            <a:off x="6862268" y="1176828"/>
            <a:ext cx="1667444" cy="504305"/>
          </a:xfrm>
          <a:prstGeom prst="rect">
            <a:avLst/>
          </a:prstGeom>
        </p:spPr>
        <p:txBody>
          <a:bodyPr wrap="none">
            <a:spAutoFit/>
          </a:bodyPr>
          <a:lstStyle/>
          <a:p>
            <a:pPr>
              <a:lnSpc>
                <a:spcPct val="150000"/>
              </a:lnSpc>
            </a:pPr>
            <a:r>
              <a:rPr lang="en-US" sz="2000" dirty="0">
                <a:solidFill>
                  <a:srgbClr val="0A0A0A"/>
                </a:solidFill>
                <a:latin typeface="Lato"/>
              </a:rPr>
              <a:t>EC domain 1</a:t>
            </a:r>
            <a:endParaRPr lang="en-US" sz="2000" dirty="0"/>
          </a:p>
        </p:txBody>
      </p:sp>
      <p:sp>
        <p:nvSpPr>
          <p:cNvPr id="20" name="Rectangle 19"/>
          <p:cNvSpPr/>
          <p:nvPr/>
        </p:nvSpPr>
        <p:spPr>
          <a:xfrm>
            <a:off x="8831592" y="3297479"/>
            <a:ext cx="1851789" cy="553998"/>
          </a:xfrm>
          <a:prstGeom prst="rect">
            <a:avLst/>
          </a:prstGeom>
        </p:spPr>
        <p:txBody>
          <a:bodyPr wrap="none">
            <a:spAutoFit/>
          </a:bodyPr>
          <a:lstStyle/>
          <a:p>
            <a:pPr>
              <a:lnSpc>
                <a:spcPct val="150000"/>
              </a:lnSpc>
            </a:pPr>
            <a:r>
              <a:rPr lang="en-US" sz="2000" dirty="0">
                <a:solidFill>
                  <a:srgbClr val="0A0A0A"/>
                </a:solidFill>
                <a:latin typeface="Lato"/>
              </a:rPr>
              <a:t>GPS domain 1</a:t>
            </a:r>
            <a:endParaRPr lang="en-US" sz="2000" dirty="0"/>
          </a:p>
        </p:txBody>
      </p:sp>
      <p:cxnSp>
        <p:nvCxnSpPr>
          <p:cNvPr id="21" name="Straight Arrow Connector 20"/>
          <p:cNvCxnSpPr/>
          <p:nvPr/>
        </p:nvCxnSpPr>
        <p:spPr>
          <a:xfrm flipV="1">
            <a:off x="3201332" y="3179850"/>
            <a:ext cx="1543740" cy="419729"/>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1412900" y="3289875"/>
            <a:ext cx="1851789" cy="504305"/>
          </a:xfrm>
          <a:prstGeom prst="rect">
            <a:avLst/>
          </a:prstGeom>
        </p:spPr>
        <p:txBody>
          <a:bodyPr wrap="none">
            <a:spAutoFit/>
          </a:bodyPr>
          <a:lstStyle/>
          <a:p>
            <a:pPr>
              <a:lnSpc>
                <a:spcPct val="150000"/>
              </a:lnSpc>
            </a:pPr>
            <a:r>
              <a:rPr lang="en-US" sz="2000" dirty="0">
                <a:solidFill>
                  <a:srgbClr val="0A0A0A"/>
                </a:solidFill>
                <a:latin typeface="Lato"/>
              </a:rPr>
              <a:t>GPS domain 2</a:t>
            </a:r>
            <a:endParaRPr lang="en-US" sz="2000" dirty="0"/>
          </a:p>
        </p:txBody>
      </p:sp>
      <p:sp>
        <p:nvSpPr>
          <p:cNvPr id="28" name="TextBox 27"/>
          <p:cNvSpPr txBox="1"/>
          <p:nvPr/>
        </p:nvSpPr>
        <p:spPr>
          <a:xfrm>
            <a:off x="1940083" y="0"/>
            <a:ext cx="8735405" cy="707886"/>
          </a:xfrm>
          <a:prstGeom prst="rect">
            <a:avLst/>
          </a:prstGeom>
          <a:noFill/>
        </p:spPr>
        <p:txBody>
          <a:bodyPr wrap="none" rtlCol="0">
            <a:spAutoFit/>
          </a:bodyPr>
          <a:lstStyle/>
          <a:p>
            <a:r>
              <a:rPr lang="en-US" sz="4000" dirty="0"/>
              <a:t>Adhesion GPCR F4 from Rhesus Macaque</a:t>
            </a:r>
            <a:endParaRPr lang="en-US" dirty="0"/>
          </a:p>
        </p:txBody>
      </p:sp>
      <p:sp>
        <p:nvSpPr>
          <p:cNvPr id="29" name="Rectangle 28"/>
          <p:cNvSpPr/>
          <p:nvPr/>
        </p:nvSpPr>
        <p:spPr>
          <a:xfrm>
            <a:off x="116010" y="1127984"/>
            <a:ext cx="2893997" cy="965970"/>
          </a:xfrm>
          <a:prstGeom prst="rect">
            <a:avLst/>
          </a:prstGeom>
        </p:spPr>
        <p:txBody>
          <a:bodyPr wrap="none">
            <a:spAutoFit/>
          </a:bodyPr>
          <a:lstStyle/>
          <a:p>
            <a:pPr>
              <a:lnSpc>
                <a:spcPct val="150000"/>
              </a:lnSpc>
            </a:pPr>
            <a:r>
              <a:rPr lang="en-US" sz="2000" b="0" i="0" u="sng" dirty="0">
                <a:solidFill>
                  <a:srgbClr val="0A0A0A"/>
                </a:solidFill>
                <a:effectLst/>
                <a:latin typeface="Lato"/>
              </a:rPr>
              <a:t>Gene</a:t>
            </a:r>
            <a:r>
              <a:rPr lang="en-US" sz="2000" b="0" i="0" dirty="0">
                <a:solidFill>
                  <a:srgbClr val="0A0A0A"/>
                </a:solidFill>
                <a:effectLst/>
                <a:latin typeface="Lato"/>
              </a:rPr>
              <a:t>: ADGRF4</a:t>
            </a:r>
          </a:p>
          <a:p>
            <a:pPr>
              <a:lnSpc>
                <a:spcPct val="150000"/>
              </a:lnSpc>
            </a:pPr>
            <a:r>
              <a:rPr lang="en-US" sz="2000" u="sng" dirty="0" err="1">
                <a:solidFill>
                  <a:srgbClr val="0A0A0A"/>
                </a:solidFill>
                <a:latin typeface="Lato"/>
              </a:rPr>
              <a:t>UniProt</a:t>
            </a:r>
            <a:r>
              <a:rPr lang="en-US" sz="2000" dirty="0">
                <a:solidFill>
                  <a:srgbClr val="0A0A0A"/>
                </a:solidFill>
                <a:latin typeface="Lato"/>
              </a:rPr>
              <a:t>: A0A1D5QNK2 </a:t>
            </a:r>
            <a:endParaRPr lang="en-US" sz="2000" dirty="0"/>
          </a:p>
        </p:txBody>
      </p:sp>
      <p:pic>
        <p:nvPicPr>
          <p:cNvPr id="1028" name="Picture 4" descr="Rhesus macaque - Wikipedi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1471" y="633671"/>
            <a:ext cx="1432363" cy="2148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416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p:cNvSpPr txBox="1"/>
          <p:nvPr/>
        </p:nvSpPr>
        <p:spPr>
          <a:xfrm>
            <a:off x="1940083" y="0"/>
            <a:ext cx="8735405" cy="707886"/>
          </a:xfrm>
          <a:prstGeom prst="rect">
            <a:avLst/>
          </a:prstGeom>
          <a:noFill/>
        </p:spPr>
        <p:txBody>
          <a:bodyPr wrap="none" rtlCol="0">
            <a:spAutoFit/>
          </a:bodyPr>
          <a:lstStyle/>
          <a:p>
            <a:r>
              <a:rPr lang="en-US" sz="4000" dirty="0"/>
              <a:t>Adhesion GPCR F4 from Rhesus Macaque</a:t>
            </a:r>
            <a:endParaRPr lang="en-US" dirty="0"/>
          </a:p>
        </p:txBody>
      </p:sp>
      <p:pic>
        <p:nvPicPr>
          <p:cNvPr id="23" name="Picture 22"/>
          <p:cNvPicPr/>
          <p:nvPr/>
        </p:nvPicPr>
        <p:blipFill rotWithShape="1">
          <a:blip r:embed="rId3" cstate="print">
            <a:extLst>
              <a:ext uri="{28A0092B-C50C-407E-A947-70E740481C1C}">
                <a14:useLocalDpi xmlns:a14="http://schemas.microsoft.com/office/drawing/2010/main" val="0"/>
              </a:ext>
            </a:extLst>
          </a:blip>
          <a:srcRect l="66369"/>
          <a:stretch/>
        </p:blipFill>
        <p:spPr>
          <a:xfrm>
            <a:off x="8713693" y="2505790"/>
            <a:ext cx="2940475" cy="2551848"/>
          </a:xfrm>
          <a:prstGeom prst="rect">
            <a:avLst/>
          </a:prstGeom>
          <a:ln>
            <a:noFill/>
          </a:ln>
        </p:spPr>
      </p:pic>
      <p:grpSp>
        <p:nvGrpSpPr>
          <p:cNvPr id="3" name="Group 2"/>
          <p:cNvGrpSpPr/>
          <p:nvPr/>
        </p:nvGrpSpPr>
        <p:grpSpPr>
          <a:xfrm>
            <a:off x="134474" y="1216416"/>
            <a:ext cx="5405749" cy="5130595"/>
            <a:chOff x="331693" y="1216416"/>
            <a:chExt cx="5405749" cy="5130595"/>
          </a:xfrm>
        </p:grpSpPr>
        <p:pic>
          <p:nvPicPr>
            <p:cNvPr id="18" name="Picture 17"/>
            <p:cNvPicPr/>
            <p:nvPr/>
          </p:nvPicPr>
          <p:blipFill rotWithShape="1">
            <a:blip r:embed="rId4"/>
            <a:srcRect l="2638" r="40654"/>
            <a:stretch/>
          </p:blipFill>
          <p:spPr>
            <a:xfrm>
              <a:off x="376518" y="1216417"/>
              <a:ext cx="3926541" cy="5130594"/>
            </a:xfrm>
            <a:prstGeom prst="rect">
              <a:avLst/>
            </a:prstGeom>
          </p:spPr>
        </p:pic>
        <p:sp>
          <p:nvSpPr>
            <p:cNvPr id="2" name="Rectangle 1"/>
            <p:cNvSpPr/>
            <p:nvPr/>
          </p:nvSpPr>
          <p:spPr>
            <a:xfrm>
              <a:off x="3585882" y="4436474"/>
              <a:ext cx="717177" cy="19105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p:cNvPicPr/>
            <p:nvPr/>
          </p:nvPicPr>
          <p:blipFill rotWithShape="1">
            <a:blip r:embed="rId4"/>
            <a:srcRect l="78508"/>
            <a:stretch/>
          </p:blipFill>
          <p:spPr>
            <a:xfrm>
              <a:off x="4249301" y="1216417"/>
              <a:ext cx="1488141" cy="5130594"/>
            </a:xfrm>
            <a:prstGeom prst="rect">
              <a:avLst/>
            </a:prstGeom>
          </p:spPr>
        </p:pic>
        <p:sp>
          <p:nvSpPr>
            <p:cNvPr id="25" name="Rectangle 24"/>
            <p:cNvSpPr/>
            <p:nvPr/>
          </p:nvSpPr>
          <p:spPr>
            <a:xfrm>
              <a:off x="4249301" y="4522166"/>
              <a:ext cx="170357" cy="112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331693" y="1216416"/>
              <a:ext cx="564777" cy="3675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Rectangle 4"/>
          <p:cNvSpPr/>
          <p:nvPr/>
        </p:nvSpPr>
        <p:spPr>
          <a:xfrm>
            <a:off x="35858" y="6327302"/>
            <a:ext cx="6096000" cy="369332"/>
          </a:xfrm>
          <a:prstGeom prst="rect">
            <a:avLst/>
          </a:prstGeom>
        </p:spPr>
        <p:txBody>
          <a:bodyPr>
            <a:spAutoFit/>
          </a:bodyPr>
          <a:lstStyle/>
          <a:p>
            <a:r>
              <a:rPr lang="en-US" dirty="0" err="1">
                <a:latin typeface="Calibri" panose="020F0502020204030204" pitchFamily="34" charset="0"/>
                <a:ea typeface="Calibri" panose="020F0502020204030204" pitchFamily="34" charset="0"/>
                <a:cs typeface="Arial" panose="020B0604020202020204" pitchFamily="34" charset="0"/>
              </a:rPr>
              <a:t>Vizurraga</a:t>
            </a:r>
            <a:r>
              <a:rPr lang="en-US" dirty="0">
                <a:latin typeface="Calibri" panose="020F0502020204030204" pitchFamily="34" charset="0"/>
                <a:ea typeface="Calibri" panose="020F0502020204030204" pitchFamily="34" charset="0"/>
                <a:cs typeface="Arial" panose="020B0604020202020204" pitchFamily="34" charset="0"/>
              </a:rPr>
              <a:t>, A.</a:t>
            </a:r>
            <a:r>
              <a:rPr lang="en-US" i="1" dirty="0">
                <a:latin typeface="Calibri" panose="020F0502020204030204" pitchFamily="34" charset="0"/>
                <a:ea typeface="Calibri" panose="020F0502020204030204" pitchFamily="34" charset="0"/>
                <a:cs typeface="Arial" panose="020B0604020202020204" pitchFamily="34" charset="0"/>
              </a:rPr>
              <a:t> et al.</a:t>
            </a:r>
            <a:r>
              <a:rPr lang="en-US" dirty="0">
                <a:latin typeface="Calibri" panose="020F0502020204030204" pitchFamily="34" charset="0"/>
                <a:ea typeface="Calibri" panose="020F0502020204030204" pitchFamily="34" charset="0"/>
                <a:cs typeface="Arial" panose="020B0604020202020204" pitchFamily="34" charset="0"/>
              </a:rPr>
              <a:t> (2020) </a:t>
            </a:r>
            <a:r>
              <a:rPr lang="en-US" i="1" dirty="0">
                <a:latin typeface="Calibri" panose="020F0502020204030204" pitchFamily="34" charset="0"/>
                <a:ea typeface="Calibri" panose="020F0502020204030204" pitchFamily="34" charset="0"/>
                <a:cs typeface="Arial" panose="020B0604020202020204" pitchFamily="34" charset="0"/>
              </a:rPr>
              <a:t>J </a:t>
            </a:r>
            <a:r>
              <a:rPr lang="en-US" i="1" dirty="0" err="1">
                <a:latin typeface="Calibri" panose="020F0502020204030204" pitchFamily="34" charset="0"/>
                <a:ea typeface="Calibri" panose="020F0502020204030204" pitchFamily="34" charset="0"/>
                <a:cs typeface="Arial" panose="020B0604020202020204" pitchFamily="34" charset="0"/>
              </a:rPr>
              <a:t>Biol</a:t>
            </a:r>
            <a:r>
              <a:rPr lang="en-US" i="1" dirty="0">
                <a:latin typeface="Calibri" panose="020F0502020204030204" pitchFamily="34" charset="0"/>
                <a:ea typeface="Calibri" panose="020F0502020204030204" pitchFamily="34" charset="0"/>
                <a:cs typeface="Arial" panose="020B0604020202020204" pitchFamily="34" charset="0"/>
              </a:rPr>
              <a:t> Chem</a:t>
            </a:r>
            <a:r>
              <a:rPr lang="en-US" dirty="0">
                <a:latin typeface="Calibri" panose="020F0502020204030204" pitchFamily="34" charset="0"/>
                <a:ea typeface="Calibri" panose="020F0502020204030204" pitchFamily="34" charset="0"/>
                <a:cs typeface="Arial" panose="020B0604020202020204" pitchFamily="34" charset="0"/>
              </a:rPr>
              <a:t>. </a:t>
            </a:r>
            <a:r>
              <a:rPr lang="en-US" b="1" dirty="0">
                <a:latin typeface="Calibri" panose="020F0502020204030204" pitchFamily="34" charset="0"/>
                <a:ea typeface="Calibri" panose="020F0502020204030204" pitchFamily="34" charset="0"/>
                <a:cs typeface="Arial" panose="020B0604020202020204" pitchFamily="34" charset="0"/>
              </a:rPr>
              <a:t>295</a:t>
            </a:r>
            <a:r>
              <a:rPr lang="en-US" dirty="0">
                <a:latin typeface="Calibri" panose="020F0502020204030204" pitchFamily="34" charset="0"/>
                <a:ea typeface="Calibri" panose="020F0502020204030204" pitchFamily="34" charset="0"/>
                <a:cs typeface="Arial" panose="020B0604020202020204" pitchFamily="34" charset="0"/>
              </a:rPr>
              <a:t>: 14065-14083</a:t>
            </a:r>
            <a:endParaRPr lang="en-US" dirty="0"/>
          </a:p>
        </p:txBody>
      </p:sp>
      <p:sp>
        <p:nvSpPr>
          <p:cNvPr id="27" name="Rectangle 26"/>
          <p:cNvSpPr/>
          <p:nvPr/>
        </p:nvSpPr>
        <p:spPr>
          <a:xfrm>
            <a:off x="9895677" y="1478696"/>
            <a:ext cx="1972204" cy="461665"/>
          </a:xfrm>
          <a:prstGeom prst="rect">
            <a:avLst/>
          </a:prstGeom>
        </p:spPr>
        <p:txBody>
          <a:bodyPr wrap="square">
            <a:spAutoFit/>
          </a:bodyPr>
          <a:lstStyle/>
          <a:p>
            <a:pPr algn="ctr"/>
            <a:r>
              <a:rPr lang="en-US" sz="2400" i="1" dirty="0">
                <a:latin typeface="Calibri" panose="020F0502020204030204" pitchFamily="34" charset="0"/>
                <a:ea typeface="Calibri" panose="020F0502020204030204" pitchFamily="34" charset="0"/>
                <a:cs typeface="Arial" panose="020B0604020202020204" pitchFamily="34" charset="0"/>
              </a:rPr>
              <a:t>HLS/T</a:t>
            </a:r>
            <a:r>
              <a:rPr lang="en-US" sz="2400" dirty="0">
                <a:latin typeface="Calibri" panose="020F0502020204030204" pitchFamily="34" charset="0"/>
                <a:ea typeface="Calibri" panose="020F0502020204030204" pitchFamily="34" charset="0"/>
                <a:cs typeface="Arial" panose="020B0604020202020204" pitchFamily="34" charset="0"/>
              </a:rPr>
              <a:t> motif</a:t>
            </a:r>
            <a:endParaRPr lang="en-US" sz="2400" dirty="0"/>
          </a:p>
        </p:txBody>
      </p:sp>
      <p:sp>
        <p:nvSpPr>
          <p:cNvPr id="6" name="Right Brace 5"/>
          <p:cNvSpPr/>
          <p:nvPr/>
        </p:nvSpPr>
        <p:spPr>
          <a:xfrm rot="16200000">
            <a:off x="10694665" y="1729935"/>
            <a:ext cx="374230" cy="1006835"/>
          </a:xfrm>
          <a:prstGeom prst="rightBrace">
            <a:avLst>
              <a:gd name="adj1" fmla="val 243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0" name="Rectangle 29"/>
          <p:cNvSpPr/>
          <p:nvPr/>
        </p:nvSpPr>
        <p:spPr>
          <a:xfrm>
            <a:off x="6382904" y="2472215"/>
            <a:ext cx="2115678" cy="461665"/>
          </a:xfrm>
          <a:prstGeom prst="rect">
            <a:avLst/>
          </a:prstGeom>
        </p:spPr>
        <p:txBody>
          <a:bodyPr wrap="square">
            <a:spAutoFit/>
          </a:bodyPr>
          <a:lstStyle/>
          <a:p>
            <a:r>
              <a:rPr lang="en-US" sz="2400" dirty="0">
                <a:latin typeface="Calibri" panose="020F0502020204030204" pitchFamily="34" charset="0"/>
                <a:ea typeface="Calibri" panose="020F0502020204030204" pitchFamily="34" charset="0"/>
                <a:cs typeface="Arial" panose="020B0604020202020204" pitchFamily="34" charset="0"/>
              </a:rPr>
              <a:t>Human AGRF3</a:t>
            </a:r>
            <a:endParaRPr lang="en-US" sz="2400" dirty="0"/>
          </a:p>
        </p:txBody>
      </p:sp>
      <p:sp>
        <p:nvSpPr>
          <p:cNvPr id="31" name="Rectangle 30"/>
          <p:cNvSpPr/>
          <p:nvPr/>
        </p:nvSpPr>
        <p:spPr>
          <a:xfrm>
            <a:off x="6373943" y="2893550"/>
            <a:ext cx="2115678" cy="461665"/>
          </a:xfrm>
          <a:prstGeom prst="rect">
            <a:avLst/>
          </a:prstGeom>
        </p:spPr>
        <p:txBody>
          <a:bodyPr wrap="square">
            <a:spAutoFit/>
          </a:bodyPr>
          <a:lstStyle/>
          <a:p>
            <a:r>
              <a:rPr lang="en-US" sz="2400" dirty="0">
                <a:latin typeface="Calibri" panose="020F0502020204030204" pitchFamily="34" charset="0"/>
                <a:ea typeface="Calibri" panose="020F0502020204030204" pitchFamily="34" charset="0"/>
                <a:cs typeface="Arial" panose="020B0604020202020204" pitchFamily="34" charset="0"/>
              </a:rPr>
              <a:t>Human AGRF4</a:t>
            </a:r>
            <a:endParaRPr lang="en-US" sz="2400" dirty="0"/>
          </a:p>
        </p:txBody>
      </p:sp>
      <p:sp>
        <p:nvSpPr>
          <p:cNvPr id="32" name="Rectangle 31"/>
          <p:cNvSpPr/>
          <p:nvPr/>
        </p:nvSpPr>
        <p:spPr>
          <a:xfrm>
            <a:off x="6373942" y="3323846"/>
            <a:ext cx="2339787" cy="461665"/>
          </a:xfrm>
          <a:prstGeom prst="rect">
            <a:avLst/>
          </a:prstGeom>
        </p:spPr>
        <p:txBody>
          <a:bodyPr wrap="square">
            <a:spAutoFit/>
          </a:bodyPr>
          <a:lstStyle/>
          <a:p>
            <a:r>
              <a:rPr lang="en-US" sz="2400" dirty="0">
                <a:latin typeface="Calibri" panose="020F0502020204030204" pitchFamily="34" charset="0"/>
                <a:ea typeface="Calibri" panose="020F0502020204030204" pitchFamily="34" charset="0"/>
                <a:cs typeface="Arial" panose="020B0604020202020204" pitchFamily="34" charset="0"/>
              </a:rPr>
              <a:t>A0A1D5QNK2_1</a:t>
            </a:r>
            <a:endParaRPr lang="en-US" sz="2400" dirty="0"/>
          </a:p>
        </p:txBody>
      </p:sp>
      <p:sp>
        <p:nvSpPr>
          <p:cNvPr id="33" name="Rectangle 32"/>
          <p:cNvSpPr/>
          <p:nvPr/>
        </p:nvSpPr>
        <p:spPr>
          <a:xfrm>
            <a:off x="6364981" y="3709323"/>
            <a:ext cx="2348747" cy="461665"/>
          </a:xfrm>
          <a:prstGeom prst="rect">
            <a:avLst/>
          </a:prstGeom>
        </p:spPr>
        <p:txBody>
          <a:bodyPr wrap="square">
            <a:spAutoFit/>
          </a:bodyPr>
          <a:lstStyle/>
          <a:p>
            <a:r>
              <a:rPr lang="en-US" sz="2400" dirty="0">
                <a:latin typeface="Calibri" panose="020F0502020204030204" pitchFamily="34" charset="0"/>
                <a:ea typeface="Calibri" panose="020F0502020204030204" pitchFamily="34" charset="0"/>
                <a:cs typeface="Arial" panose="020B0604020202020204" pitchFamily="34" charset="0"/>
              </a:rPr>
              <a:t>A0A1D5QNK2_2</a:t>
            </a:r>
            <a:endParaRPr lang="en-US" sz="2400" dirty="0"/>
          </a:p>
        </p:txBody>
      </p:sp>
      <p:sp>
        <p:nvSpPr>
          <p:cNvPr id="34" name="Rectangle 33"/>
          <p:cNvSpPr/>
          <p:nvPr/>
        </p:nvSpPr>
        <p:spPr>
          <a:xfrm>
            <a:off x="6364981" y="4157548"/>
            <a:ext cx="2339787" cy="461665"/>
          </a:xfrm>
          <a:prstGeom prst="rect">
            <a:avLst/>
          </a:prstGeom>
        </p:spPr>
        <p:txBody>
          <a:bodyPr wrap="square">
            <a:spAutoFit/>
          </a:bodyPr>
          <a:lstStyle/>
          <a:p>
            <a:r>
              <a:rPr lang="en-US" sz="2400" dirty="0">
                <a:latin typeface="Calibri" panose="020F0502020204030204" pitchFamily="34" charset="0"/>
                <a:ea typeface="Calibri" panose="020F0502020204030204" pitchFamily="34" charset="0"/>
                <a:cs typeface="Arial" panose="020B0604020202020204" pitchFamily="34" charset="0"/>
              </a:rPr>
              <a:t>F7ELW9_1</a:t>
            </a:r>
            <a:endParaRPr lang="en-US" sz="2400" dirty="0"/>
          </a:p>
        </p:txBody>
      </p:sp>
      <p:sp>
        <p:nvSpPr>
          <p:cNvPr id="35" name="Rectangle 34"/>
          <p:cNvSpPr/>
          <p:nvPr/>
        </p:nvSpPr>
        <p:spPr>
          <a:xfrm>
            <a:off x="6356020" y="4543025"/>
            <a:ext cx="2348747" cy="461665"/>
          </a:xfrm>
          <a:prstGeom prst="rect">
            <a:avLst/>
          </a:prstGeom>
        </p:spPr>
        <p:txBody>
          <a:bodyPr wrap="square">
            <a:spAutoFit/>
          </a:bodyPr>
          <a:lstStyle/>
          <a:p>
            <a:r>
              <a:rPr lang="en-US" sz="2400" dirty="0">
                <a:latin typeface="Calibri" panose="020F0502020204030204" pitchFamily="34" charset="0"/>
                <a:ea typeface="Calibri" panose="020F0502020204030204" pitchFamily="34" charset="0"/>
                <a:cs typeface="Arial" panose="020B0604020202020204" pitchFamily="34" charset="0"/>
              </a:rPr>
              <a:t>F7ELW9_2</a:t>
            </a:r>
            <a:endParaRPr lang="en-US" sz="2400" dirty="0"/>
          </a:p>
        </p:txBody>
      </p:sp>
      <p:sp>
        <p:nvSpPr>
          <p:cNvPr id="7" name="Rectangle 6"/>
          <p:cNvSpPr/>
          <p:nvPr/>
        </p:nvSpPr>
        <p:spPr>
          <a:xfrm>
            <a:off x="6356020" y="2505790"/>
            <a:ext cx="5298149" cy="25518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8251921" y="2434425"/>
            <a:ext cx="439544" cy="707886"/>
          </a:xfrm>
          <a:prstGeom prst="rect">
            <a:avLst/>
          </a:prstGeom>
          <a:noFill/>
        </p:spPr>
        <p:txBody>
          <a:bodyPr wrap="none" rtlCol="0">
            <a:spAutoFit/>
          </a:bodyPr>
          <a:lstStyle/>
          <a:p>
            <a:r>
              <a:rPr lang="en-US" sz="4000" dirty="0">
                <a:solidFill>
                  <a:srgbClr val="FF0000"/>
                </a:solidFill>
              </a:rPr>
              <a:t>*</a:t>
            </a:r>
          </a:p>
        </p:txBody>
      </p:sp>
      <p:sp>
        <p:nvSpPr>
          <p:cNvPr id="36" name="TextBox 35"/>
          <p:cNvSpPr txBox="1"/>
          <p:nvPr/>
        </p:nvSpPr>
        <p:spPr>
          <a:xfrm>
            <a:off x="6440779" y="5089172"/>
            <a:ext cx="439544" cy="707886"/>
          </a:xfrm>
          <a:prstGeom prst="rect">
            <a:avLst/>
          </a:prstGeom>
          <a:noFill/>
        </p:spPr>
        <p:txBody>
          <a:bodyPr wrap="none" rtlCol="0">
            <a:spAutoFit/>
          </a:bodyPr>
          <a:lstStyle/>
          <a:p>
            <a:r>
              <a:rPr lang="en-US" sz="4000" dirty="0">
                <a:solidFill>
                  <a:srgbClr val="FF0000"/>
                </a:solidFill>
              </a:rPr>
              <a:t>*</a:t>
            </a:r>
          </a:p>
        </p:txBody>
      </p:sp>
      <p:sp>
        <p:nvSpPr>
          <p:cNvPr id="37" name="Rectangle 36"/>
          <p:cNvSpPr/>
          <p:nvPr/>
        </p:nvSpPr>
        <p:spPr>
          <a:xfrm>
            <a:off x="6777375" y="5113077"/>
            <a:ext cx="2456272" cy="461665"/>
          </a:xfrm>
          <a:prstGeom prst="rect">
            <a:avLst/>
          </a:prstGeom>
        </p:spPr>
        <p:txBody>
          <a:bodyPr wrap="square">
            <a:spAutoFit/>
          </a:bodyPr>
          <a:lstStyle/>
          <a:p>
            <a:r>
              <a:rPr lang="en-US" sz="2400" dirty="0">
                <a:latin typeface="Calibri" panose="020F0502020204030204" pitchFamily="34" charset="0"/>
                <a:ea typeface="Calibri" panose="020F0502020204030204" pitchFamily="34" charset="0"/>
                <a:cs typeface="Arial" panose="020B0604020202020204" pitchFamily="34" charset="0"/>
              </a:rPr>
              <a:t>Auto-</a:t>
            </a:r>
            <a:r>
              <a:rPr lang="en-US" sz="2400" dirty="0" err="1">
                <a:latin typeface="Calibri" panose="020F0502020204030204" pitchFamily="34" charset="0"/>
                <a:ea typeface="Calibri" panose="020F0502020204030204" pitchFamily="34" charset="0"/>
                <a:cs typeface="Arial" panose="020B0604020202020204" pitchFamily="34" charset="0"/>
              </a:rPr>
              <a:t>proteolysed</a:t>
            </a:r>
            <a:endParaRPr lang="en-US" sz="2400" dirty="0"/>
          </a:p>
        </p:txBody>
      </p:sp>
    </p:spTree>
    <p:extLst>
      <p:ext uri="{BB962C8B-B14F-4D97-AF65-F5344CB8AC3E}">
        <p14:creationId xmlns:p14="http://schemas.microsoft.com/office/powerpoint/2010/main" val="17855106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8905"/>
            <a:ext cx="10515600" cy="1486827"/>
          </a:xfrm>
        </p:spPr>
        <p:txBody>
          <a:bodyPr>
            <a:normAutofit fontScale="90000"/>
          </a:bodyPr>
          <a:lstStyle/>
          <a:p>
            <a:pPr algn="ctr"/>
            <a:r>
              <a:rPr lang="en-US" dirty="0">
                <a:latin typeface="+mn-lt"/>
              </a:rPr>
              <a:t>Distribution of the number of residues in the linker regions between the different GPCR domains in the same chain</a:t>
            </a:r>
          </a:p>
        </p:txBody>
      </p:sp>
      <p:pic>
        <p:nvPicPr>
          <p:cNvPr id="5" name="Picture 4" descr="Chart, histogram&#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10057" y="1689907"/>
            <a:ext cx="5738250" cy="4433103"/>
          </a:xfrm>
          <a:prstGeom prst="rect">
            <a:avLst/>
          </a:prstGeom>
        </p:spPr>
      </p:pic>
      <p:sp>
        <p:nvSpPr>
          <p:cNvPr id="7" name="TextBox 6"/>
          <p:cNvSpPr txBox="1"/>
          <p:nvPr/>
        </p:nvSpPr>
        <p:spPr>
          <a:xfrm>
            <a:off x="5397061" y="6179853"/>
            <a:ext cx="6604693" cy="461665"/>
          </a:xfrm>
          <a:prstGeom prst="rect">
            <a:avLst/>
          </a:prstGeom>
          <a:noFill/>
        </p:spPr>
        <p:txBody>
          <a:bodyPr wrap="none" rtlCol="0">
            <a:spAutoFit/>
          </a:bodyPr>
          <a:lstStyle/>
          <a:p>
            <a:r>
              <a:rPr lang="en-US" sz="2400" dirty="0"/>
              <a:t>Isildayancan, Kessel, Solan, </a:t>
            </a:r>
            <a:r>
              <a:rPr lang="en-US" sz="2400" dirty="0" err="1"/>
              <a:t>Kolody</a:t>
            </a:r>
            <a:r>
              <a:rPr lang="en-US" sz="2400" dirty="0"/>
              <a:t>, Ben-Tal. </a:t>
            </a:r>
            <a:r>
              <a:rPr lang="en-US" sz="2400" i="1" dirty="0" err="1"/>
              <a:t>BioRxiv</a:t>
            </a:r>
            <a:r>
              <a:rPr lang="en-US" sz="2400" i="1" dirty="0"/>
              <a:t>.</a:t>
            </a:r>
            <a:endParaRPr lang="en-US" sz="2400" dirty="0"/>
          </a:p>
        </p:txBody>
      </p:sp>
    </p:spTree>
    <p:extLst>
      <p:ext uri="{BB962C8B-B14F-4D97-AF65-F5344CB8AC3E}">
        <p14:creationId xmlns:p14="http://schemas.microsoft.com/office/powerpoint/2010/main" val="1528977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98905"/>
            <a:ext cx="12170005" cy="1079261"/>
          </a:xfrm>
        </p:spPr>
        <p:txBody>
          <a:bodyPr>
            <a:normAutofit fontScale="90000"/>
          </a:bodyPr>
          <a:lstStyle/>
          <a:p>
            <a:pPr algn="ctr"/>
            <a:r>
              <a:rPr lang="en-US" dirty="0">
                <a:latin typeface="+mn-lt"/>
              </a:rPr>
              <a:t>Distribution of sequence identify/similarity among the different GPCR domains within the same chain</a:t>
            </a:r>
          </a:p>
        </p:txBody>
      </p:sp>
      <p:pic>
        <p:nvPicPr>
          <p:cNvPr id="7" name="Picture 6" descr="Chart, histogram&#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37681" y="1275761"/>
            <a:ext cx="6054433" cy="4904091"/>
          </a:xfrm>
          <a:prstGeom prst="rect">
            <a:avLst/>
          </a:prstGeom>
        </p:spPr>
      </p:pic>
      <p:sp>
        <p:nvSpPr>
          <p:cNvPr id="5" name="TextBox 4"/>
          <p:cNvSpPr txBox="1"/>
          <p:nvPr/>
        </p:nvSpPr>
        <p:spPr>
          <a:xfrm>
            <a:off x="5397061" y="6179853"/>
            <a:ext cx="6604693" cy="461665"/>
          </a:xfrm>
          <a:prstGeom prst="rect">
            <a:avLst/>
          </a:prstGeom>
          <a:noFill/>
        </p:spPr>
        <p:txBody>
          <a:bodyPr wrap="none" rtlCol="0">
            <a:spAutoFit/>
          </a:bodyPr>
          <a:lstStyle/>
          <a:p>
            <a:r>
              <a:rPr lang="en-US" sz="2400" dirty="0"/>
              <a:t>Isildayancan, Kessel, Solan, </a:t>
            </a:r>
            <a:r>
              <a:rPr lang="en-US" sz="2400" dirty="0" err="1"/>
              <a:t>Kolody</a:t>
            </a:r>
            <a:r>
              <a:rPr lang="en-US" sz="2400" dirty="0"/>
              <a:t>, Ben-Tal. </a:t>
            </a:r>
            <a:r>
              <a:rPr lang="en-US" sz="2400" i="1" dirty="0" err="1"/>
              <a:t>BioRxiv</a:t>
            </a:r>
            <a:r>
              <a:rPr lang="en-US" sz="2400" i="1" dirty="0"/>
              <a:t>.</a:t>
            </a:r>
            <a:endParaRPr lang="en-US" sz="2400" dirty="0"/>
          </a:p>
        </p:txBody>
      </p:sp>
    </p:spTree>
    <p:extLst>
      <p:ext uri="{BB962C8B-B14F-4D97-AF65-F5344CB8AC3E}">
        <p14:creationId xmlns:p14="http://schemas.microsoft.com/office/powerpoint/2010/main" val="40062827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4402</TotalTime>
  <Words>4395</Words>
  <Application>Microsoft Office PowerPoint</Application>
  <PresentationFormat>Widescreen</PresentationFormat>
  <Paragraphs>194</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Calibri Light</vt:lpstr>
      <vt:lpstr>Lato</vt:lpstr>
      <vt:lpstr>Roboto</vt:lpstr>
      <vt:lpstr>Times New Roman</vt:lpstr>
      <vt:lpstr>Office Theme</vt:lpstr>
      <vt:lpstr>Proteins with multiple G protein-coupled receptor domains</vt:lpstr>
      <vt:lpstr>PowerPoint Presentation</vt:lpstr>
      <vt:lpstr>PowerPoint Presentation</vt:lpstr>
      <vt:lpstr>PowerPoint Presentation</vt:lpstr>
      <vt:lpstr>Finding proteins with multi-GPCR domains</vt:lpstr>
      <vt:lpstr>The number of ECOD GPCR HMMs aligned to each position in the sixteen clusters</vt:lpstr>
      <vt:lpstr>UPI0010FAD569 was filtered out because it has only one full GPCR domain</vt:lpstr>
      <vt:lpstr>AlphaFold predicted pairwise aligned errors for the 57 multi-GPCR proteins</vt:lpstr>
      <vt:lpstr>Tree of life distribution of homologues of the 57 multi-GPCR proteins</vt:lpstr>
      <vt:lpstr>PowerPoint Presentation</vt:lpstr>
      <vt:lpstr>The A0A6B0S3N8 bi-GPCR from Bos mutus (Wild Yak): A chemokine receptor?</vt:lpstr>
      <vt:lpstr>Tentative complex of A0A6B0S3N8 with chemokine ligands</vt:lpstr>
      <vt:lpstr>The two chemokine receptors are near one another in the Cow genome</vt:lpstr>
      <vt:lpstr>The two chemokine receptors are near one another in the Human genome</vt:lpstr>
      <vt:lpstr>CCR2 and CCR5 co-express in the human immune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Distribution of the number of residues in the linker regions between the different GPCR domains in the same chain</vt:lpstr>
      <vt:lpstr>Distribution of sequence identify/similarity among the different GPCR domains within the same chain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Gram-negative outer membrane proteins with multiple β-barrel domains</dc:title>
  <dc:creator>Ron Solan</dc:creator>
  <cp:lastModifiedBy>Nir Ben-Tal</cp:lastModifiedBy>
  <cp:revision>253</cp:revision>
  <dcterms:created xsi:type="dcterms:W3CDTF">2021-02-21T20:47:14Z</dcterms:created>
  <dcterms:modified xsi:type="dcterms:W3CDTF">2023-06-13T16:36:54Z</dcterms:modified>
</cp:coreProperties>
</file>